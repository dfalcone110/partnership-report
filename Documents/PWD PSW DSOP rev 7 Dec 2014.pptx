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drawings/drawing1.xml" ContentType="application/vnd.openxmlformats-officedocument.drawingml.chartshapes+xml"/>
  <Override PartName="/ppt/notesSlides/notesSlide13.xml" ContentType="application/vnd.openxmlformats-officedocument.presentationml.notesSlide+xml"/>
  <Override PartName="/ppt/charts/chart2.xml" ContentType="application/vnd.openxmlformats-officedocument.drawingml.chart+xml"/>
  <Override PartName="/ppt/drawings/drawing2.xml" ContentType="application/vnd.openxmlformats-officedocument.drawingml.chartshape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notesMasterIdLst>
    <p:notesMasterId r:id="rId68"/>
  </p:notesMasterIdLst>
  <p:handoutMasterIdLst>
    <p:handoutMasterId r:id="rId69"/>
  </p:handoutMasterIdLst>
  <p:sldIdLst>
    <p:sldId id="256" r:id="rId5"/>
    <p:sldId id="284" r:id="rId6"/>
    <p:sldId id="335" r:id="rId7"/>
    <p:sldId id="258" r:id="rId8"/>
    <p:sldId id="265" r:id="rId9"/>
    <p:sldId id="260" r:id="rId10"/>
    <p:sldId id="261" r:id="rId11"/>
    <p:sldId id="262" r:id="rId12"/>
    <p:sldId id="278" r:id="rId13"/>
    <p:sldId id="314" r:id="rId14"/>
    <p:sldId id="279" r:id="rId15"/>
    <p:sldId id="267" r:id="rId16"/>
    <p:sldId id="280" r:id="rId17"/>
    <p:sldId id="285" r:id="rId18"/>
    <p:sldId id="277" r:id="rId19"/>
    <p:sldId id="281" r:id="rId20"/>
    <p:sldId id="282" r:id="rId21"/>
    <p:sldId id="268" r:id="rId22"/>
    <p:sldId id="283" r:id="rId23"/>
    <p:sldId id="287" r:id="rId24"/>
    <p:sldId id="274" r:id="rId25"/>
    <p:sldId id="273" r:id="rId26"/>
    <p:sldId id="286" r:id="rId27"/>
    <p:sldId id="275" r:id="rId28"/>
    <p:sldId id="276" r:id="rId29"/>
    <p:sldId id="315" r:id="rId30"/>
    <p:sldId id="288" r:id="rId31"/>
    <p:sldId id="289" r:id="rId32"/>
    <p:sldId id="290" r:id="rId33"/>
    <p:sldId id="291" r:id="rId34"/>
    <p:sldId id="316"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22" r:id="rId50"/>
    <p:sldId id="317" r:id="rId51"/>
    <p:sldId id="318" r:id="rId52"/>
    <p:sldId id="272" r:id="rId53"/>
    <p:sldId id="319" r:id="rId54"/>
    <p:sldId id="320" r:id="rId55"/>
    <p:sldId id="321" r:id="rId56"/>
    <p:sldId id="327" r:id="rId57"/>
    <p:sldId id="328" r:id="rId58"/>
    <p:sldId id="329" r:id="rId59"/>
    <p:sldId id="330" r:id="rId60"/>
    <p:sldId id="331" r:id="rId61"/>
    <p:sldId id="332" r:id="rId62"/>
    <p:sldId id="333" r:id="rId63"/>
    <p:sldId id="323" r:id="rId64"/>
    <p:sldId id="324" r:id="rId65"/>
    <p:sldId id="325" r:id="rId66"/>
    <p:sldId id="326" r:id="rId67"/>
  </p:sldIdLst>
  <p:sldSz cx="9144000" cy="6858000" type="screen4x3"/>
  <p:notesSz cx="6934200" cy="9220200"/>
  <p:defaultTextStyle>
    <a:defPPr>
      <a:defRPr lang="en-US"/>
    </a:defPPr>
    <a:lvl1pPr algn="l" rtl="0" fontAlgn="base">
      <a:spcBef>
        <a:spcPct val="0"/>
      </a:spcBef>
      <a:spcAft>
        <a:spcPct val="0"/>
      </a:spcAft>
      <a:defRPr kern="1200">
        <a:solidFill>
          <a:schemeClr val="tx1"/>
        </a:solidFill>
        <a:latin typeface="Garamond" pitchFamily="18" charset="0"/>
        <a:ea typeface="+mn-ea"/>
        <a:cs typeface="Arial" charset="0"/>
      </a:defRPr>
    </a:lvl1pPr>
    <a:lvl2pPr marL="457200" algn="l" rtl="0" fontAlgn="base">
      <a:spcBef>
        <a:spcPct val="0"/>
      </a:spcBef>
      <a:spcAft>
        <a:spcPct val="0"/>
      </a:spcAft>
      <a:defRPr kern="1200">
        <a:solidFill>
          <a:schemeClr val="tx1"/>
        </a:solidFill>
        <a:latin typeface="Garamond" pitchFamily="18" charset="0"/>
        <a:ea typeface="+mn-ea"/>
        <a:cs typeface="Arial" charset="0"/>
      </a:defRPr>
    </a:lvl2pPr>
    <a:lvl3pPr marL="914400" algn="l" rtl="0" fontAlgn="base">
      <a:spcBef>
        <a:spcPct val="0"/>
      </a:spcBef>
      <a:spcAft>
        <a:spcPct val="0"/>
      </a:spcAft>
      <a:defRPr kern="1200">
        <a:solidFill>
          <a:schemeClr val="tx1"/>
        </a:solidFill>
        <a:latin typeface="Garamond" pitchFamily="18" charset="0"/>
        <a:ea typeface="+mn-ea"/>
        <a:cs typeface="Arial" charset="0"/>
      </a:defRPr>
    </a:lvl3pPr>
    <a:lvl4pPr marL="1371600" algn="l" rtl="0" fontAlgn="base">
      <a:spcBef>
        <a:spcPct val="0"/>
      </a:spcBef>
      <a:spcAft>
        <a:spcPct val="0"/>
      </a:spcAft>
      <a:defRPr kern="1200">
        <a:solidFill>
          <a:schemeClr val="tx1"/>
        </a:solidFill>
        <a:latin typeface="Garamond" pitchFamily="18" charset="0"/>
        <a:ea typeface="+mn-ea"/>
        <a:cs typeface="Arial" charset="0"/>
      </a:defRPr>
    </a:lvl4pPr>
    <a:lvl5pPr marL="1828800" algn="l" rtl="0" fontAlgn="base">
      <a:spcBef>
        <a:spcPct val="0"/>
      </a:spcBef>
      <a:spcAft>
        <a:spcPct val="0"/>
      </a:spcAft>
      <a:defRPr kern="1200">
        <a:solidFill>
          <a:schemeClr val="tx1"/>
        </a:solidFill>
        <a:latin typeface="Garamond" pitchFamily="18" charset="0"/>
        <a:ea typeface="+mn-ea"/>
        <a:cs typeface="Arial" charset="0"/>
      </a:defRPr>
    </a:lvl5pPr>
    <a:lvl6pPr marL="2286000" algn="l" defTabSz="914400" rtl="0" eaLnBrk="1" latinLnBrk="0" hangingPunct="1">
      <a:defRPr kern="1200">
        <a:solidFill>
          <a:schemeClr val="tx1"/>
        </a:solidFill>
        <a:latin typeface="Garamond" pitchFamily="18" charset="0"/>
        <a:ea typeface="+mn-ea"/>
        <a:cs typeface="Arial" charset="0"/>
      </a:defRPr>
    </a:lvl6pPr>
    <a:lvl7pPr marL="2743200" algn="l" defTabSz="914400" rtl="0" eaLnBrk="1" latinLnBrk="0" hangingPunct="1">
      <a:defRPr kern="1200">
        <a:solidFill>
          <a:schemeClr val="tx1"/>
        </a:solidFill>
        <a:latin typeface="Garamond" pitchFamily="18" charset="0"/>
        <a:ea typeface="+mn-ea"/>
        <a:cs typeface="Arial" charset="0"/>
      </a:defRPr>
    </a:lvl7pPr>
    <a:lvl8pPr marL="3200400" algn="l" defTabSz="914400" rtl="0" eaLnBrk="1" latinLnBrk="0" hangingPunct="1">
      <a:defRPr kern="1200">
        <a:solidFill>
          <a:schemeClr val="tx1"/>
        </a:solidFill>
        <a:latin typeface="Garamond" pitchFamily="18" charset="0"/>
        <a:ea typeface="+mn-ea"/>
        <a:cs typeface="Arial" charset="0"/>
      </a:defRPr>
    </a:lvl8pPr>
    <a:lvl9pPr marL="3657600" algn="l" defTabSz="914400" rtl="0" eaLnBrk="1" latinLnBrk="0" hangingPunct="1">
      <a:defRPr kern="1200">
        <a:solidFill>
          <a:schemeClr val="tx1"/>
        </a:solidFill>
        <a:latin typeface="Garamond"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8971" autoAdjust="0"/>
  </p:normalViewPr>
  <p:slideViewPr>
    <p:cSldViewPr>
      <p:cViewPr varScale="1">
        <p:scale>
          <a:sx n="87" d="100"/>
          <a:sy n="87" d="100"/>
        </p:scale>
        <p:origin x="230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850" b="0" i="0" u="none" strike="noStrike" baseline="0">
                <a:solidFill>
                  <a:srgbClr val="000000"/>
                </a:solidFill>
                <a:latin typeface="Arial"/>
                <a:ea typeface="Arial"/>
                <a:cs typeface="Arial"/>
              </a:defRPr>
            </a:pPr>
            <a:r>
              <a:rPr lang="en-US" sz="1400" b="0" i="0" u="none" strike="noStrike" baseline="0">
                <a:solidFill>
                  <a:srgbClr val="000000"/>
                </a:solidFill>
                <a:latin typeface="Arial"/>
                <a:cs typeface="Arial"/>
              </a:rPr>
              <a:t>Philadelphia Water Department</a:t>
            </a:r>
          </a:p>
          <a:p>
            <a:pPr>
              <a:defRPr sz="850" b="0" i="0" u="none" strike="noStrike" baseline="0">
                <a:solidFill>
                  <a:srgbClr val="000000"/>
                </a:solidFill>
                <a:latin typeface="Arial"/>
                <a:ea typeface="Arial"/>
                <a:cs typeface="Arial"/>
              </a:defRPr>
            </a:pPr>
            <a:r>
              <a:rPr lang="en-US" sz="1400" b="0" i="0" u="none" strike="noStrike" baseline="0">
                <a:solidFill>
                  <a:srgbClr val="000000"/>
                </a:solidFill>
                <a:latin typeface="Arial"/>
                <a:cs typeface="Arial"/>
              </a:rPr>
              <a:t>Water Main Break History - 5 Yr. Average </a:t>
            </a:r>
            <a:endParaRPr lang="en-US" sz="1400"/>
          </a:p>
        </c:rich>
      </c:tx>
      <c:layout>
        <c:manualLayout>
          <c:xMode val="edge"/>
          <c:yMode val="edge"/>
          <c:x val="0.28891038299119248"/>
          <c:y val="1.1319148367139077E-2"/>
        </c:manualLayout>
      </c:layout>
      <c:overlay val="0"/>
      <c:spPr>
        <a:noFill/>
        <a:ln w="25400">
          <a:noFill/>
        </a:ln>
      </c:spPr>
    </c:title>
    <c:autoTitleDeleted val="0"/>
    <c:plotArea>
      <c:layout>
        <c:manualLayout>
          <c:layoutTarget val="inner"/>
          <c:xMode val="edge"/>
          <c:yMode val="edge"/>
          <c:x val="7.6993025448930719E-2"/>
          <c:y val="0.13962264150943396"/>
          <c:w val="0.91145944935913126"/>
          <c:h val="0.66631349776060755"/>
        </c:manualLayout>
      </c:layout>
      <c:lineChart>
        <c:grouping val="standard"/>
        <c:varyColors val="0"/>
        <c:ser>
          <c:idx val="0"/>
          <c:order val="0"/>
          <c:tx>
            <c:v>5-year moving Average</c:v>
          </c:tx>
          <c:spPr>
            <a:ln w="12700">
              <a:solidFill>
                <a:srgbClr val="000080"/>
              </a:solidFill>
              <a:prstDash val="sysDash"/>
            </a:ln>
          </c:spPr>
          <c:marker>
            <c:symbol val="diamond"/>
            <c:size val="5"/>
            <c:spPr>
              <a:solidFill>
                <a:srgbClr val="000080"/>
              </a:solidFill>
              <a:ln>
                <a:solidFill>
                  <a:srgbClr val="000080"/>
                </a:solidFill>
                <a:prstDash val="solid"/>
              </a:ln>
            </c:spPr>
          </c:marker>
          <c:cat>
            <c:numRef>
              <c:f>'2013'!$A$68:$A$86</c:f>
              <c:numCache>
                <c:formatCode>General</c:formatCode>
                <c:ptCount val="19"/>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numCache>
            </c:numRef>
          </c:cat>
          <c:val>
            <c:numRef>
              <c:f>'2013'!$C$68:$C$86</c:f>
              <c:numCache>
                <c:formatCode>0</c:formatCode>
                <c:ptCount val="19"/>
                <c:pt idx="0">
                  <c:v>25.52</c:v>
                </c:pt>
                <c:pt idx="1">
                  <c:v>26.32</c:v>
                </c:pt>
                <c:pt idx="2">
                  <c:v>26.119999999999997</c:v>
                </c:pt>
                <c:pt idx="3">
                  <c:v>24.72</c:v>
                </c:pt>
                <c:pt idx="4">
                  <c:v>20.399999999999999</c:v>
                </c:pt>
                <c:pt idx="5">
                  <c:v>20</c:v>
                </c:pt>
                <c:pt idx="6">
                  <c:v>19.2</c:v>
                </c:pt>
                <c:pt idx="7">
                  <c:v>20.2</c:v>
                </c:pt>
                <c:pt idx="8">
                  <c:v>22.6</c:v>
                </c:pt>
                <c:pt idx="9">
                  <c:v>23.6</c:v>
                </c:pt>
                <c:pt idx="10">
                  <c:v>23.2</c:v>
                </c:pt>
                <c:pt idx="11">
                  <c:v>22.8</c:v>
                </c:pt>
                <c:pt idx="12">
                  <c:v>23.8</c:v>
                </c:pt>
                <c:pt idx="13">
                  <c:v>22.4</c:v>
                </c:pt>
                <c:pt idx="14">
                  <c:v>21.8</c:v>
                </c:pt>
                <c:pt idx="15">
                  <c:v>21.2</c:v>
                </c:pt>
                <c:pt idx="16">
                  <c:v>24</c:v>
                </c:pt>
                <c:pt idx="17">
                  <c:v>22.2</c:v>
                </c:pt>
                <c:pt idx="18">
                  <c:v>24.4</c:v>
                </c:pt>
              </c:numCache>
            </c:numRef>
          </c:val>
          <c:smooth val="0"/>
          <c:extLst>
            <c:ext xmlns:c16="http://schemas.microsoft.com/office/drawing/2014/chart" uri="{C3380CC4-5D6E-409C-BE32-E72D297353CC}">
              <c16:uniqueId val="{00000000-4805-4460-8300-55ECC656D503}"/>
            </c:ext>
          </c:extLst>
        </c:ser>
        <c:ser>
          <c:idx val="1"/>
          <c:order val="1"/>
          <c:tx>
            <c:v>Breaks</c:v>
          </c:tx>
          <c:spPr>
            <a:ln w="12700">
              <a:solidFill>
                <a:srgbClr val="000000"/>
              </a:solidFill>
              <a:prstDash val="solid"/>
            </a:ln>
          </c:spPr>
          <c:marker>
            <c:symbol val="none"/>
          </c:marker>
          <c:cat>
            <c:numRef>
              <c:f>'2013'!$A$68:$A$86</c:f>
              <c:numCache>
                <c:formatCode>General</c:formatCode>
                <c:ptCount val="19"/>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numCache>
            </c:numRef>
          </c:cat>
          <c:val>
            <c:numRef>
              <c:f>'2013'!$B$68:$B$86</c:f>
              <c:numCache>
                <c:formatCode>General</c:formatCode>
                <c:ptCount val="19"/>
                <c:pt idx="0">
                  <c:v>29</c:v>
                </c:pt>
                <c:pt idx="1">
                  <c:v>23</c:v>
                </c:pt>
                <c:pt idx="2">
                  <c:v>16</c:v>
                </c:pt>
                <c:pt idx="3">
                  <c:v>14</c:v>
                </c:pt>
                <c:pt idx="4">
                  <c:v>20</c:v>
                </c:pt>
                <c:pt idx="5">
                  <c:v>27</c:v>
                </c:pt>
                <c:pt idx="6">
                  <c:v>19</c:v>
                </c:pt>
                <c:pt idx="7">
                  <c:v>21</c:v>
                </c:pt>
                <c:pt idx="8">
                  <c:v>26</c:v>
                </c:pt>
                <c:pt idx="9">
                  <c:v>25</c:v>
                </c:pt>
                <c:pt idx="10">
                  <c:v>25</c:v>
                </c:pt>
                <c:pt idx="11">
                  <c:v>17</c:v>
                </c:pt>
                <c:pt idx="12">
                  <c:v>26</c:v>
                </c:pt>
                <c:pt idx="13">
                  <c:v>19</c:v>
                </c:pt>
                <c:pt idx="14">
                  <c:v>22</c:v>
                </c:pt>
                <c:pt idx="15">
                  <c:v>22</c:v>
                </c:pt>
                <c:pt idx="16">
                  <c:v>31</c:v>
                </c:pt>
                <c:pt idx="17">
                  <c:v>17</c:v>
                </c:pt>
                <c:pt idx="18">
                  <c:v>30</c:v>
                </c:pt>
              </c:numCache>
            </c:numRef>
          </c:val>
          <c:smooth val="0"/>
          <c:extLst>
            <c:ext xmlns:c16="http://schemas.microsoft.com/office/drawing/2014/chart" uri="{C3380CC4-5D6E-409C-BE32-E72D297353CC}">
              <c16:uniqueId val="{00000001-4805-4460-8300-55ECC656D503}"/>
            </c:ext>
          </c:extLst>
        </c:ser>
        <c:dLbls>
          <c:showLegendKey val="0"/>
          <c:showVal val="0"/>
          <c:showCatName val="0"/>
          <c:showSerName val="0"/>
          <c:showPercent val="0"/>
          <c:showBubbleSize val="0"/>
        </c:dLbls>
        <c:marker val="1"/>
        <c:smooth val="0"/>
        <c:axId val="24557440"/>
        <c:axId val="24559616"/>
      </c:lineChart>
      <c:catAx>
        <c:axId val="24557440"/>
        <c:scaling>
          <c:orientation val="minMax"/>
        </c:scaling>
        <c:delete val="0"/>
        <c:axPos val="b"/>
        <c:title>
          <c:tx>
            <c:rich>
              <a:bodyPr/>
              <a:lstStyle/>
              <a:p>
                <a:pPr>
                  <a:defRPr sz="1100" b="0" i="0" u="none" strike="noStrike" baseline="0">
                    <a:solidFill>
                      <a:srgbClr val="000000"/>
                    </a:solidFill>
                    <a:latin typeface="Calibri"/>
                    <a:ea typeface="Calibri"/>
                    <a:cs typeface="Calibri"/>
                  </a:defRPr>
                </a:pPr>
                <a:r>
                  <a:rPr lang="en-US" sz="1000" b="1" i="0" u="none" strike="noStrike" baseline="0">
                    <a:solidFill>
                      <a:srgbClr val="000000"/>
                    </a:solidFill>
                    <a:latin typeface="Arial"/>
                    <a:cs typeface="Arial"/>
                  </a:rPr>
                  <a:t>Year</a:t>
                </a:r>
              </a:p>
              <a:p>
                <a:pPr>
                  <a:defRPr sz="1100" b="0" i="0" u="none" strike="noStrike" baseline="0">
                    <a:solidFill>
                      <a:srgbClr val="000000"/>
                    </a:solidFill>
                    <a:latin typeface="Calibri"/>
                    <a:ea typeface="Calibri"/>
                    <a:cs typeface="Calibri"/>
                  </a:defRPr>
                </a:pPr>
                <a:r>
                  <a:rPr lang="en-US" sz="1000" b="1" i="0" u="none" strike="noStrike" baseline="0">
                    <a:solidFill>
                      <a:srgbClr val="000000"/>
                    </a:solidFill>
                    <a:latin typeface="Arial"/>
                    <a:cs typeface="Arial"/>
                  </a:rPr>
                  <a:t>(June 1 - May 31)</a:t>
                </a:r>
                <a:endParaRPr lang="en-US" sz="1000"/>
              </a:p>
            </c:rich>
          </c:tx>
          <c:layout>
            <c:manualLayout>
              <c:xMode val="edge"/>
              <c:yMode val="edge"/>
              <c:x val="0.39882232047310473"/>
              <c:y val="0.89159354656099632"/>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5400000" vert="horz"/>
          <a:lstStyle/>
          <a:p>
            <a:pPr>
              <a:defRPr sz="800" b="0" i="0" u="none" strike="noStrike" baseline="0">
                <a:solidFill>
                  <a:srgbClr val="000000"/>
                </a:solidFill>
                <a:latin typeface="Arial"/>
                <a:ea typeface="Arial"/>
                <a:cs typeface="Arial"/>
              </a:defRPr>
            </a:pPr>
            <a:endParaRPr lang="en-US"/>
          </a:p>
        </c:txPr>
        <c:crossAx val="24559616"/>
        <c:crosses val="autoZero"/>
        <c:auto val="1"/>
        <c:lblAlgn val="ctr"/>
        <c:lblOffset val="100"/>
        <c:tickLblSkip val="1"/>
        <c:tickMarkSkip val="1"/>
        <c:noMultiLvlLbl val="0"/>
      </c:catAx>
      <c:valAx>
        <c:axId val="24559616"/>
        <c:scaling>
          <c:orientation val="minMax"/>
        </c:scaling>
        <c:delete val="0"/>
        <c:axPos val="l"/>
        <c:majorGridlines>
          <c:spPr>
            <a:ln w="3175">
              <a:solidFill>
                <a:srgbClr val="000000"/>
              </a:solidFill>
              <a:prstDash val="solid"/>
            </a:ln>
          </c:spPr>
        </c:majorGridlines>
        <c:title>
          <c:tx>
            <c:rich>
              <a:bodyPr/>
              <a:lstStyle/>
              <a:p>
                <a:pPr>
                  <a:defRPr sz="1200" b="1" i="0" u="none" strike="noStrike" baseline="0">
                    <a:solidFill>
                      <a:srgbClr val="000000"/>
                    </a:solidFill>
                    <a:latin typeface="Arial"/>
                    <a:ea typeface="Arial"/>
                    <a:cs typeface="Arial"/>
                  </a:defRPr>
                </a:pPr>
                <a:r>
                  <a:rPr lang="en-US"/>
                  <a:t>Main Breaks per 100 Miles</a:t>
                </a:r>
              </a:p>
            </c:rich>
          </c:tx>
          <c:layout>
            <c:manualLayout>
              <c:xMode val="edge"/>
              <c:yMode val="edge"/>
              <c:x val="5.0664779598698501E-3"/>
              <c:y val="0.26659498715563251"/>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24557440"/>
        <c:crosses val="autoZero"/>
        <c:crossBetween val="between"/>
      </c:valAx>
      <c:spPr>
        <a:solidFill>
          <a:sysClr val="window" lastClr="FFFFFF">
            <a:lumMod val="85000"/>
          </a:sysClr>
        </a:solidFill>
        <a:ln w="3175">
          <a:solidFill>
            <a:srgbClr val="000000"/>
          </a:solidFill>
          <a:prstDash val="solid"/>
        </a:ln>
      </c:spPr>
    </c:plotArea>
    <c:legend>
      <c:legendPos val="t"/>
      <c:layout>
        <c:manualLayout>
          <c:xMode val="edge"/>
          <c:yMode val="edge"/>
          <c:x val="7.8032215670010938E-2"/>
          <c:y val="0.1604020550062821"/>
          <c:w val="0.3144581696622929"/>
          <c:h val="3.9368150302195093E-2"/>
        </c:manualLayout>
      </c:layout>
      <c:overlay val="0"/>
      <c:spPr>
        <a:solidFill>
          <a:srgbClr val="FFFFFF"/>
        </a:solidFill>
        <a:ln w="3175">
          <a:solidFill>
            <a:srgbClr val="000000"/>
          </a:solidFill>
          <a:prstDash val="solid"/>
        </a:ln>
      </c:spPr>
      <c:txPr>
        <a:bodyPr/>
        <a:lstStyle/>
        <a:p>
          <a:pPr>
            <a:defRPr sz="715" b="0" i="0" u="none" strike="noStrike" baseline="0">
              <a:solidFill>
                <a:srgbClr val="000000"/>
              </a:solidFill>
              <a:latin typeface="Arial"/>
              <a:ea typeface="Arial"/>
              <a:cs typeface="Arial"/>
            </a:defRPr>
          </a:pPr>
          <a:endParaRPr lang="en-US"/>
        </a:p>
      </c:txPr>
    </c:legend>
    <c:plotVisOnly val="1"/>
    <c:dispBlanksAs val="gap"/>
    <c:showDLblsOverMax val="0"/>
  </c:chart>
  <c:spPr>
    <a:solidFill>
      <a:srgbClr val="FFFFFF"/>
    </a:solidFill>
    <a:ln w="3175">
      <a:solidFill>
        <a:srgbClr val="000000"/>
      </a:solidFill>
      <a:prstDash val="solid"/>
    </a:ln>
    <a:effectLst>
      <a:outerShdw blurRad="50800" dist="38100" dir="2700000" sx="101000" sy="101000" algn="tl" rotWithShape="0">
        <a:prstClr val="black">
          <a:alpha val="40000"/>
        </a:prstClr>
      </a:outerShdw>
    </a:effectLst>
  </c:spPr>
  <c:txPr>
    <a:bodyPr/>
    <a:lstStyle/>
    <a:p>
      <a:pPr>
        <a:defRPr sz="850" b="0" i="0" u="none" strike="noStrike" baseline="0">
          <a:solidFill>
            <a:srgbClr val="000000"/>
          </a:solidFill>
          <a:latin typeface="Arial"/>
          <a:ea typeface="Arial"/>
          <a:cs typeface="Arial"/>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0" i="0" u="none" strike="noStrike" baseline="0">
                <a:solidFill>
                  <a:srgbClr val="000000"/>
                </a:solidFill>
                <a:latin typeface="Arial"/>
                <a:ea typeface="Arial"/>
                <a:cs typeface="Arial"/>
              </a:defRPr>
            </a:pPr>
            <a:r>
              <a:rPr lang="en-US" sz="1400" b="0" i="0" u="none" strike="noStrike" baseline="0">
                <a:solidFill>
                  <a:srgbClr val="000000"/>
                </a:solidFill>
                <a:latin typeface="Arial"/>
                <a:cs typeface="Arial"/>
              </a:rPr>
              <a:t>Philadelphia Water Department</a:t>
            </a:r>
          </a:p>
          <a:p>
            <a:pPr>
              <a:defRPr sz="1200" b="0" i="0" u="none" strike="noStrike" baseline="0">
                <a:solidFill>
                  <a:srgbClr val="000000"/>
                </a:solidFill>
                <a:latin typeface="Arial"/>
                <a:ea typeface="Arial"/>
                <a:cs typeface="Arial"/>
              </a:defRPr>
            </a:pPr>
            <a:r>
              <a:rPr lang="en-US" sz="1400" b="0" i="0" u="none" strike="noStrike" baseline="0">
                <a:solidFill>
                  <a:srgbClr val="000000"/>
                </a:solidFill>
                <a:latin typeface="Arial"/>
                <a:cs typeface="Arial"/>
              </a:rPr>
              <a:t>Water Main Break History - 15 Yr. Average </a:t>
            </a:r>
            <a:endParaRPr lang="en-US" sz="1400"/>
          </a:p>
        </c:rich>
      </c:tx>
      <c:layout>
        <c:manualLayout>
          <c:xMode val="edge"/>
          <c:yMode val="edge"/>
          <c:x val="0.25888842311977195"/>
          <c:y val="1.3599066783318752E-2"/>
        </c:manualLayout>
      </c:layout>
      <c:overlay val="0"/>
      <c:spPr>
        <a:noFill/>
        <a:ln w="25400">
          <a:noFill/>
        </a:ln>
      </c:spPr>
    </c:title>
    <c:autoTitleDeleted val="0"/>
    <c:plotArea>
      <c:layout>
        <c:manualLayout>
          <c:layoutTarget val="inner"/>
          <c:xMode val="edge"/>
          <c:yMode val="edge"/>
          <c:x val="7.6059379438884009E-2"/>
          <c:y val="0.12637629745274981"/>
          <c:w val="0.91370572441638831"/>
          <c:h val="0.71161376279448629"/>
        </c:manualLayout>
      </c:layout>
      <c:lineChart>
        <c:grouping val="standard"/>
        <c:varyColors val="0"/>
        <c:ser>
          <c:idx val="0"/>
          <c:order val="0"/>
          <c:tx>
            <c:v>15-year moving Average</c:v>
          </c:tx>
          <c:spPr>
            <a:ln w="12700">
              <a:solidFill>
                <a:srgbClr val="000080"/>
              </a:solidFill>
              <a:prstDash val="sysDash"/>
            </a:ln>
          </c:spPr>
          <c:marker>
            <c:symbol val="diamond"/>
            <c:size val="5"/>
            <c:spPr>
              <a:solidFill>
                <a:srgbClr val="000080"/>
              </a:solidFill>
              <a:ln>
                <a:solidFill>
                  <a:srgbClr val="000080"/>
                </a:solidFill>
                <a:prstDash val="solid"/>
              </a:ln>
            </c:spPr>
          </c:marker>
          <c:cat>
            <c:numRef>
              <c:f>'2013'!$A$104:$A$119</c:f>
              <c:numCache>
                <c:formatCode>General</c:formatCode>
                <c:ptCount val="16"/>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numCache>
            </c:numRef>
          </c:cat>
          <c:val>
            <c:numRef>
              <c:f>'2013'!$C$104:$C$119</c:f>
              <c:numCache>
                <c:formatCode>0</c:formatCode>
                <c:ptCount val="16"/>
                <c:pt idx="0">
                  <c:v>23.173333333333336</c:v>
                </c:pt>
                <c:pt idx="1">
                  <c:v>22.84</c:v>
                </c:pt>
                <c:pt idx="2">
                  <c:v>22.84</c:v>
                </c:pt>
                <c:pt idx="3">
                  <c:v>22.90666666666667</c:v>
                </c:pt>
                <c:pt idx="4">
                  <c:v>23.040000000000003</c:v>
                </c:pt>
                <c:pt idx="5">
                  <c:v>22.84</c:v>
                </c:pt>
                <c:pt idx="6">
                  <c:v>22.90666666666667</c:v>
                </c:pt>
                <c:pt idx="7">
                  <c:v>22.90666666666667</c:v>
                </c:pt>
                <c:pt idx="8">
                  <c:v>22.773333333333333</c:v>
                </c:pt>
                <c:pt idx="9">
                  <c:v>23.373333333333335</c:v>
                </c:pt>
                <c:pt idx="10">
                  <c:v>23.240000000000002</c:v>
                </c:pt>
                <c:pt idx="11">
                  <c:v>21.933333333333334</c:v>
                </c:pt>
                <c:pt idx="12">
                  <c:v>21.466666666666665</c:v>
                </c:pt>
                <c:pt idx="13">
                  <c:v>22</c:v>
                </c:pt>
                <c:pt idx="14">
                  <c:v>22.066666666666666</c:v>
                </c:pt>
                <c:pt idx="15">
                  <c:v>23.133333333333333</c:v>
                </c:pt>
              </c:numCache>
            </c:numRef>
          </c:val>
          <c:smooth val="0"/>
          <c:extLst>
            <c:ext xmlns:c16="http://schemas.microsoft.com/office/drawing/2014/chart" uri="{C3380CC4-5D6E-409C-BE32-E72D297353CC}">
              <c16:uniqueId val="{00000000-0ACC-4F8D-96C6-2ADDCF76CBF9}"/>
            </c:ext>
          </c:extLst>
        </c:ser>
        <c:ser>
          <c:idx val="1"/>
          <c:order val="1"/>
          <c:tx>
            <c:strRef>
              <c:f>'2013'!$A$103:$A$118</c:f>
              <c:strCache>
                <c:ptCount val="1"/>
                <c:pt idx="0">
                  <c:v>1997 1998 1999 2000 2001 2002 2003 2004 2005 2006 2007 2008 2009 2010 2011 2012</c:v>
                </c:pt>
              </c:strCache>
            </c:strRef>
          </c:tx>
          <c:spPr>
            <a:ln w="12700">
              <a:solidFill>
                <a:schemeClr val="bg2"/>
              </a:solidFill>
              <a:prstDash val="solid"/>
            </a:ln>
          </c:spPr>
          <c:marker>
            <c:symbol val="none"/>
          </c:marker>
          <c:cat>
            <c:numRef>
              <c:f>'2013'!$A$104:$A$119</c:f>
              <c:numCache>
                <c:formatCode>General</c:formatCode>
                <c:ptCount val="16"/>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numCache>
            </c:numRef>
          </c:cat>
          <c:val>
            <c:numRef>
              <c:f>'2013'!$B$104:$B$119</c:f>
              <c:numCache>
                <c:formatCode>General</c:formatCode>
                <c:ptCount val="16"/>
                <c:pt idx="0">
                  <c:v>14</c:v>
                </c:pt>
                <c:pt idx="1">
                  <c:v>20</c:v>
                </c:pt>
                <c:pt idx="2">
                  <c:v>27</c:v>
                </c:pt>
                <c:pt idx="3">
                  <c:v>19</c:v>
                </c:pt>
                <c:pt idx="4">
                  <c:v>21</c:v>
                </c:pt>
                <c:pt idx="5">
                  <c:v>26</c:v>
                </c:pt>
                <c:pt idx="6">
                  <c:v>25</c:v>
                </c:pt>
                <c:pt idx="7">
                  <c:v>25</c:v>
                </c:pt>
                <c:pt idx="8">
                  <c:v>17</c:v>
                </c:pt>
                <c:pt idx="9">
                  <c:v>26</c:v>
                </c:pt>
                <c:pt idx="10">
                  <c:v>19</c:v>
                </c:pt>
                <c:pt idx="11">
                  <c:v>22</c:v>
                </c:pt>
                <c:pt idx="12">
                  <c:v>22</c:v>
                </c:pt>
                <c:pt idx="13">
                  <c:v>31</c:v>
                </c:pt>
                <c:pt idx="14">
                  <c:v>17</c:v>
                </c:pt>
                <c:pt idx="15">
                  <c:v>30</c:v>
                </c:pt>
              </c:numCache>
            </c:numRef>
          </c:val>
          <c:smooth val="0"/>
          <c:extLst>
            <c:ext xmlns:c16="http://schemas.microsoft.com/office/drawing/2014/chart" uri="{C3380CC4-5D6E-409C-BE32-E72D297353CC}">
              <c16:uniqueId val="{00000001-0ACC-4F8D-96C6-2ADDCF76CBF9}"/>
            </c:ext>
          </c:extLst>
        </c:ser>
        <c:dLbls>
          <c:showLegendKey val="0"/>
          <c:showVal val="0"/>
          <c:showCatName val="0"/>
          <c:showSerName val="0"/>
          <c:showPercent val="0"/>
          <c:showBubbleSize val="0"/>
        </c:dLbls>
        <c:marker val="1"/>
        <c:smooth val="0"/>
        <c:axId val="24596480"/>
        <c:axId val="24598400"/>
      </c:lineChart>
      <c:catAx>
        <c:axId val="24596480"/>
        <c:scaling>
          <c:orientation val="minMax"/>
        </c:scaling>
        <c:delete val="0"/>
        <c:axPos val="b"/>
        <c:title>
          <c:tx>
            <c:rich>
              <a:bodyPr/>
              <a:lstStyle/>
              <a:p>
                <a:pPr>
                  <a:defRPr sz="1000" b="0" i="0" u="none" strike="noStrike" baseline="0">
                    <a:solidFill>
                      <a:srgbClr val="000000"/>
                    </a:solidFill>
                    <a:latin typeface="Calibri"/>
                    <a:ea typeface="Calibri"/>
                    <a:cs typeface="Calibri"/>
                  </a:defRPr>
                </a:pPr>
                <a:r>
                  <a:rPr lang="en-US" sz="1000" b="1" i="0" u="none" strike="noStrike" baseline="0">
                    <a:solidFill>
                      <a:srgbClr val="000000"/>
                    </a:solidFill>
                    <a:latin typeface="Arial"/>
                    <a:cs typeface="Arial"/>
                  </a:rPr>
                  <a:t>Year</a:t>
                </a:r>
              </a:p>
              <a:p>
                <a:pPr>
                  <a:defRPr sz="1000" b="0" i="0" u="none" strike="noStrike" baseline="0">
                    <a:solidFill>
                      <a:srgbClr val="000000"/>
                    </a:solidFill>
                    <a:latin typeface="Calibri"/>
                    <a:ea typeface="Calibri"/>
                    <a:cs typeface="Calibri"/>
                  </a:defRPr>
                </a:pPr>
                <a:r>
                  <a:rPr lang="en-US" sz="1000" b="1" i="0" u="none" strike="noStrike" baseline="0">
                    <a:solidFill>
                      <a:srgbClr val="000000"/>
                    </a:solidFill>
                    <a:latin typeface="Arial"/>
                    <a:cs typeface="Arial"/>
                  </a:rPr>
                  <a:t>(June 1 - May 31)</a:t>
                </a:r>
              </a:p>
            </c:rich>
          </c:tx>
          <c:layout>
            <c:manualLayout>
              <c:xMode val="edge"/>
              <c:yMode val="edge"/>
              <c:x val="0.4283411695840178"/>
              <c:y val="0.91752324292796739"/>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5400000" vert="horz"/>
          <a:lstStyle/>
          <a:p>
            <a:pPr>
              <a:defRPr sz="800" b="0" i="0" u="none" strike="noStrike" baseline="0">
                <a:solidFill>
                  <a:srgbClr val="000000"/>
                </a:solidFill>
                <a:latin typeface="Arial"/>
                <a:ea typeface="Arial"/>
                <a:cs typeface="Arial"/>
              </a:defRPr>
            </a:pPr>
            <a:endParaRPr lang="en-US"/>
          </a:p>
        </c:txPr>
        <c:crossAx val="24598400"/>
        <c:crosses val="autoZero"/>
        <c:auto val="1"/>
        <c:lblAlgn val="ctr"/>
        <c:lblOffset val="100"/>
        <c:tickLblSkip val="1"/>
        <c:tickMarkSkip val="1"/>
        <c:noMultiLvlLbl val="0"/>
      </c:catAx>
      <c:valAx>
        <c:axId val="24598400"/>
        <c:scaling>
          <c:orientation val="minMax"/>
        </c:scaling>
        <c:delete val="0"/>
        <c:axPos val="l"/>
        <c:majorGridlines>
          <c:spPr>
            <a:ln w="3175">
              <a:solidFill>
                <a:srgbClr val="000000"/>
              </a:solidFill>
              <a:prstDash val="solid"/>
            </a:ln>
          </c:spPr>
        </c:majorGridlines>
        <c:title>
          <c:tx>
            <c:rich>
              <a:bodyPr/>
              <a:lstStyle/>
              <a:p>
                <a:pPr>
                  <a:defRPr sz="900" b="1" i="0" u="none" strike="noStrike" baseline="0">
                    <a:solidFill>
                      <a:srgbClr val="000000"/>
                    </a:solidFill>
                    <a:latin typeface="Arial"/>
                    <a:ea typeface="Arial"/>
                    <a:cs typeface="Arial"/>
                  </a:defRPr>
                </a:pPr>
                <a:r>
                  <a:rPr lang="en-US" sz="1200"/>
                  <a:t>Main Breaks per 100 Miles</a:t>
                </a:r>
              </a:p>
            </c:rich>
          </c:tx>
          <c:layout>
            <c:manualLayout>
              <c:xMode val="edge"/>
              <c:yMode val="edge"/>
              <c:x val="6.9912196227270088E-3"/>
              <c:y val="0.24519778361038203"/>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24596480"/>
        <c:crosses val="autoZero"/>
        <c:crossBetween val="between"/>
      </c:valAx>
      <c:spPr>
        <a:solidFill>
          <a:schemeClr val="tx1">
            <a:lumMod val="85000"/>
          </a:schemeClr>
        </a:solidFill>
        <a:ln w="3175">
          <a:solidFill>
            <a:srgbClr val="000000"/>
          </a:solidFill>
          <a:prstDash val="solid"/>
        </a:ln>
      </c:spPr>
    </c:plotArea>
    <c:legend>
      <c:legendPos val="r"/>
      <c:layout>
        <c:manualLayout>
          <c:xMode val="edge"/>
          <c:yMode val="edge"/>
          <c:x val="7.5593270265677234E-2"/>
          <c:y val="0.15540180810731996"/>
          <c:w val="0.23211510791366907"/>
          <c:h val="3.2425313502478854E-2"/>
        </c:manualLayout>
      </c:layout>
      <c:overlay val="0"/>
      <c:spPr>
        <a:solidFill>
          <a:srgbClr val="FFFFFF"/>
        </a:solidFill>
        <a:ln w="3175">
          <a:solidFill>
            <a:srgbClr val="000000"/>
          </a:solidFill>
          <a:prstDash val="solid"/>
        </a:ln>
      </c:spPr>
      <c:txPr>
        <a:bodyPr/>
        <a:lstStyle/>
        <a:p>
          <a:pPr>
            <a:defRPr sz="715" b="0" i="0" u="none" strike="noStrike" baseline="0">
              <a:solidFill>
                <a:srgbClr val="000000"/>
              </a:solidFill>
              <a:latin typeface="Arial"/>
              <a:ea typeface="Arial"/>
              <a:cs typeface="Arial"/>
            </a:defRPr>
          </a:pPr>
          <a:endParaRPr lang="en-US"/>
        </a:p>
      </c:txPr>
    </c:legend>
    <c:plotVisOnly val="1"/>
    <c:dispBlanksAs val="gap"/>
    <c:showDLblsOverMax val="0"/>
  </c:chart>
  <c:spPr>
    <a:solidFill>
      <a:srgbClr val="FFFFFF"/>
    </a:solidFill>
    <a:ln w="3175">
      <a:solidFill>
        <a:srgbClr val="000000"/>
      </a:solidFill>
      <a:prstDash val="solid"/>
    </a:ln>
    <a:effectLst>
      <a:outerShdw blurRad="50800" dist="38100" dir="2700000" sx="101000" sy="101000" algn="tl" rotWithShape="0">
        <a:prstClr val="black">
          <a:alpha val="40000"/>
        </a:prstClr>
      </a:outerShdw>
    </a:effectLst>
  </c:spPr>
  <c:txPr>
    <a:bodyPr/>
    <a:lstStyle/>
    <a:p>
      <a:pPr>
        <a:defRPr sz="85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0.06433</cdr:x>
      <cdr:y>0.93396</cdr:y>
    </cdr:from>
    <cdr:to>
      <cdr:x>0.15382</cdr:x>
      <cdr:y>0.97233</cdr:y>
    </cdr:to>
    <cdr:sp macro="" textlink="">
      <cdr:nvSpPr>
        <cdr:cNvPr id="3" name="TextBox 2"/>
        <cdr:cNvSpPr txBox="1"/>
      </cdr:nvSpPr>
      <cdr:spPr>
        <a:xfrm xmlns:a="http://schemas.openxmlformats.org/drawingml/2006/main">
          <a:off x="657225" y="4714875"/>
          <a:ext cx="914400" cy="19367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a:p>
      </cdr:txBody>
    </cdr:sp>
  </cdr:relSizeAnchor>
  <cdr:relSizeAnchor xmlns:cdr="http://schemas.openxmlformats.org/drawingml/2006/chartDrawing">
    <cdr:from>
      <cdr:x>0.08173</cdr:x>
      <cdr:y>0.96667</cdr:y>
    </cdr:from>
    <cdr:to>
      <cdr:x>0.17122</cdr:x>
      <cdr:y>1</cdr:y>
    </cdr:to>
    <cdr:sp macro="" textlink="">
      <cdr:nvSpPr>
        <cdr:cNvPr id="4" name="TextBox 3"/>
        <cdr:cNvSpPr txBox="1"/>
      </cdr:nvSpPr>
      <cdr:spPr>
        <a:xfrm xmlns:a="http://schemas.openxmlformats.org/drawingml/2006/main">
          <a:off x="835025" y="4879974"/>
          <a:ext cx="914400" cy="16827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a:p>
      </cdr:txBody>
    </cdr:sp>
  </cdr:relSizeAnchor>
</c:userShapes>
</file>

<file path=ppt/drawings/drawing2.xml><?xml version="1.0" encoding="utf-8"?>
<c:userShapes xmlns:c="http://schemas.openxmlformats.org/drawingml/2006/chart">
  <cdr:relSizeAnchor xmlns:cdr="http://schemas.openxmlformats.org/drawingml/2006/chartDrawing">
    <cdr:from>
      <cdr:x>0.06384</cdr:x>
      <cdr:y>0.93494</cdr:y>
    </cdr:from>
    <cdr:to>
      <cdr:x>0.15283</cdr:x>
      <cdr:y>0.97282</cdr:y>
    </cdr:to>
    <cdr:sp macro="" textlink="">
      <cdr:nvSpPr>
        <cdr:cNvPr id="3" name="TextBox 2"/>
        <cdr:cNvSpPr txBox="1"/>
      </cdr:nvSpPr>
      <cdr:spPr>
        <a:xfrm xmlns:a="http://schemas.openxmlformats.org/drawingml/2006/main">
          <a:off x="657225" y="4714875"/>
          <a:ext cx="914400" cy="19367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a:p>
      </cdr:txBody>
    </cdr:sp>
  </cdr:relSizeAnchor>
  <cdr:relSizeAnchor xmlns:cdr="http://schemas.openxmlformats.org/drawingml/2006/chartDrawing">
    <cdr:from>
      <cdr:x>0.08173</cdr:x>
      <cdr:y>0.96667</cdr:y>
    </cdr:from>
    <cdr:to>
      <cdr:x>0.17122</cdr:x>
      <cdr:y>1</cdr:y>
    </cdr:to>
    <cdr:sp macro="" textlink="">
      <cdr:nvSpPr>
        <cdr:cNvPr id="4" name="TextBox 3"/>
        <cdr:cNvSpPr txBox="1"/>
      </cdr:nvSpPr>
      <cdr:spPr>
        <a:xfrm xmlns:a="http://schemas.openxmlformats.org/drawingml/2006/main">
          <a:off x="835025" y="4879974"/>
          <a:ext cx="914400" cy="16827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309" tIns="46154" rIns="92309" bIns="46154" rtlCol="0"/>
          <a:lstStyle>
            <a:lvl1pPr algn="l">
              <a:defRPr sz="1200"/>
            </a:lvl1pPr>
          </a:lstStyle>
          <a:p>
            <a:endParaRPr lang="en-US"/>
          </a:p>
        </p:txBody>
      </p:sp>
      <p:sp>
        <p:nvSpPr>
          <p:cNvPr id="3" name="Date Placeholder 2"/>
          <p:cNvSpPr>
            <a:spLocks noGrp="1"/>
          </p:cNvSpPr>
          <p:nvPr>
            <p:ph type="dt" sz="quarter" idx="1"/>
          </p:nvPr>
        </p:nvSpPr>
        <p:spPr>
          <a:xfrm>
            <a:off x="3927775" y="0"/>
            <a:ext cx="3004820" cy="461010"/>
          </a:xfrm>
          <a:prstGeom prst="rect">
            <a:avLst/>
          </a:prstGeom>
        </p:spPr>
        <p:txBody>
          <a:bodyPr vert="horz" lIns="92309" tIns="46154" rIns="92309" bIns="46154" rtlCol="0"/>
          <a:lstStyle>
            <a:lvl1pPr algn="r">
              <a:defRPr sz="1200"/>
            </a:lvl1pPr>
          </a:lstStyle>
          <a:p>
            <a:fld id="{E40D840D-EF83-486F-B18F-14976AB649FD}" type="datetimeFigureOut">
              <a:rPr lang="en-US" smtClean="0"/>
              <a:t>6/8/2026</a:t>
            </a:fld>
            <a:endParaRPr lang="en-US"/>
          </a:p>
        </p:txBody>
      </p:sp>
      <p:sp>
        <p:nvSpPr>
          <p:cNvPr id="4" name="Footer Placeholder 3"/>
          <p:cNvSpPr>
            <a:spLocks noGrp="1"/>
          </p:cNvSpPr>
          <p:nvPr>
            <p:ph type="ftr" sz="quarter" idx="2"/>
          </p:nvPr>
        </p:nvSpPr>
        <p:spPr>
          <a:xfrm>
            <a:off x="0" y="8757590"/>
            <a:ext cx="3004820" cy="461010"/>
          </a:xfrm>
          <a:prstGeom prst="rect">
            <a:avLst/>
          </a:prstGeom>
        </p:spPr>
        <p:txBody>
          <a:bodyPr vert="horz" lIns="92309" tIns="46154" rIns="92309" bIns="46154" rtlCol="0" anchor="b"/>
          <a:lstStyle>
            <a:lvl1pPr algn="l">
              <a:defRPr sz="1200"/>
            </a:lvl1pPr>
          </a:lstStyle>
          <a:p>
            <a:endParaRPr lang="en-US"/>
          </a:p>
        </p:txBody>
      </p:sp>
      <p:sp>
        <p:nvSpPr>
          <p:cNvPr id="5" name="Slide Number Placeholder 4"/>
          <p:cNvSpPr>
            <a:spLocks noGrp="1"/>
          </p:cNvSpPr>
          <p:nvPr>
            <p:ph type="sldNum" sz="quarter" idx="3"/>
          </p:nvPr>
        </p:nvSpPr>
        <p:spPr>
          <a:xfrm>
            <a:off x="3927775" y="8757590"/>
            <a:ext cx="3004820" cy="461010"/>
          </a:xfrm>
          <a:prstGeom prst="rect">
            <a:avLst/>
          </a:prstGeom>
        </p:spPr>
        <p:txBody>
          <a:bodyPr vert="horz" lIns="92309" tIns="46154" rIns="92309" bIns="46154" rtlCol="0" anchor="b"/>
          <a:lstStyle>
            <a:lvl1pPr algn="r">
              <a:defRPr sz="1200"/>
            </a:lvl1pPr>
          </a:lstStyle>
          <a:p>
            <a:fld id="{859B89EA-C749-456A-8D05-0C869BC250C0}" type="slidenum">
              <a:rPr lang="en-US" smtClean="0"/>
              <a:t>‹#›</a:t>
            </a:fld>
            <a:endParaRPr lang="en-US"/>
          </a:p>
        </p:txBody>
      </p:sp>
    </p:spTree>
    <p:extLst>
      <p:ext uri="{BB962C8B-B14F-4D97-AF65-F5344CB8AC3E}">
        <p14:creationId xmlns:p14="http://schemas.microsoft.com/office/powerpoint/2010/main" val="30559679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309" tIns="46154" rIns="92309" bIns="46154" rtlCol="0"/>
          <a:lstStyle>
            <a:lvl1pPr algn="l">
              <a:defRPr sz="1200"/>
            </a:lvl1pPr>
          </a:lstStyle>
          <a:p>
            <a:pPr>
              <a:defRPr/>
            </a:pPr>
            <a:endParaRPr lang="en-US" dirty="0"/>
          </a:p>
        </p:txBody>
      </p:sp>
      <p:sp>
        <p:nvSpPr>
          <p:cNvPr id="3" name="Date Placeholder 2"/>
          <p:cNvSpPr>
            <a:spLocks noGrp="1"/>
          </p:cNvSpPr>
          <p:nvPr>
            <p:ph type="dt" idx="1"/>
          </p:nvPr>
        </p:nvSpPr>
        <p:spPr>
          <a:xfrm>
            <a:off x="3927775" y="0"/>
            <a:ext cx="3004820" cy="461010"/>
          </a:xfrm>
          <a:prstGeom prst="rect">
            <a:avLst/>
          </a:prstGeom>
        </p:spPr>
        <p:txBody>
          <a:bodyPr vert="horz" lIns="92309" tIns="46154" rIns="92309" bIns="46154" rtlCol="0"/>
          <a:lstStyle>
            <a:lvl1pPr algn="r">
              <a:defRPr sz="1200"/>
            </a:lvl1pPr>
          </a:lstStyle>
          <a:p>
            <a:pPr>
              <a:defRPr/>
            </a:pPr>
            <a:fld id="{7C99962A-7516-4907-8E0A-33B97F423691}" type="datetimeFigureOut">
              <a:rPr lang="en-US"/>
              <a:pPr>
                <a:defRPr/>
              </a:pPr>
              <a:t>6/8/2026</a:t>
            </a:fld>
            <a:endParaRPr lang="en-US" dirty="0"/>
          </a:p>
        </p:txBody>
      </p:sp>
      <p:sp>
        <p:nvSpPr>
          <p:cNvPr id="4" name="Slide Image Placeholder 3"/>
          <p:cNvSpPr>
            <a:spLocks noGrp="1" noRot="1" noChangeAspect="1"/>
          </p:cNvSpPr>
          <p:nvPr>
            <p:ph type="sldImg" idx="2"/>
          </p:nvPr>
        </p:nvSpPr>
        <p:spPr>
          <a:xfrm>
            <a:off x="1162050" y="692150"/>
            <a:ext cx="4610100" cy="3457575"/>
          </a:xfrm>
          <a:prstGeom prst="rect">
            <a:avLst/>
          </a:prstGeom>
          <a:noFill/>
          <a:ln w="12700">
            <a:solidFill>
              <a:prstClr val="black"/>
            </a:solidFill>
          </a:ln>
        </p:spPr>
        <p:txBody>
          <a:bodyPr vert="horz" lIns="92309" tIns="46154" rIns="92309" bIns="46154" rtlCol="0" anchor="ctr"/>
          <a:lstStyle/>
          <a:p>
            <a:pPr lvl="0"/>
            <a:endParaRPr lang="en-US" noProof="0"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309" tIns="46154" rIns="92309" bIns="46154"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57590"/>
            <a:ext cx="3004820" cy="461010"/>
          </a:xfrm>
          <a:prstGeom prst="rect">
            <a:avLst/>
          </a:prstGeom>
        </p:spPr>
        <p:txBody>
          <a:bodyPr vert="horz" lIns="92309" tIns="46154" rIns="92309" bIns="46154"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927775" y="8757590"/>
            <a:ext cx="3004820" cy="461010"/>
          </a:xfrm>
          <a:prstGeom prst="rect">
            <a:avLst/>
          </a:prstGeom>
        </p:spPr>
        <p:txBody>
          <a:bodyPr vert="horz" lIns="92309" tIns="46154" rIns="92309" bIns="46154" rtlCol="0" anchor="b"/>
          <a:lstStyle>
            <a:lvl1pPr algn="r">
              <a:defRPr sz="1200"/>
            </a:lvl1pPr>
          </a:lstStyle>
          <a:p>
            <a:pPr>
              <a:defRPr/>
            </a:pPr>
            <a:fld id="{08210311-A248-4C63-9C92-E07A4B063B54}" type="slidenum">
              <a:rPr lang="en-US"/>
              <a:pPr>
                <a:defRPr/>
              </a:pPr>
              <a:t>‹#›</a:t>
            </a:fld>
            <a:endParaRPr lang="en-US" dirty="0"/>
          </a:p>
        </p:txBody>
      </p:sp>
    </p:spTree>
    <p:extLst>
      <p:ext uri="{BB962C8B-B14F-4D97-AF65-F5344CB8AC3E}">
        <p14:creationId xmlns:p14="http://schemas.microsoft.com/office/powerpoint/2010/main" val="13536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2</a:t>
            </a:fld>
            <a:endParaRPr lang="en-US" dirty="0"/>
          </a:p>
        </p:txBody>
      </p:sp>
    </p:spTree>
    <p:extLst>
      <p:ext uri="{BB962C8B-B14F-4D97-AF65-F5344CB8AC3E}">
        <p14:creationId xmlns:p14="http://schemas.microsoft.com/office/powerpoint/2010/main" val="1561552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PSW DSOP, t</a:t>
            </a:r>
            <a:r>
              <a:rPr lang="en-US" dirty="0"/>
              <a:t>here are</a:t>
            </a:r>
            <a:r>
              <a:rPr lang="en-US" baseline="0" dirty="0"/>
              <a:t> </a:t>
            </a:r>
            <a:r>
              <a:rPr lang="en-US" dirty="0"/>
              <a:t>three</a:t>
            </a:r>
            <a:r>
              <a:rPr lang="en-US" baseline="0" dirty="0"/>
              <a:t> main indicators for distribution system integrity performance.</a:t>
            </a:r>
          </a:p>
          <a:p>
            <a:endParaRPr lang="en-US" baseline="0" dirty="0"/>
          </a:p>
          <a:p>
            <a:r>
              <a:rPr lang="en-US" baseline="0" dirty="0"/>
              <a:t>Water Quality, particularly in regards to maintaining disinfectant residual, is a crucial optimization component in preserving distribution system integrity.</a:t>
            </a:r>
          </a:p>
          <a:p>
            <a:endParaRPr lang="en-US" baseline="0" dirty="0"/>
          </a:p>
          <a:p>
            <a:r>
              <a:rPr lang="en-US" baseline="0" dirty="0"/>
              <a:t>If all three integrity components are optimized, high water quality and system reliability can be enhanced.</a:t>
            </a:r>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10</a:t>
            </a:fld>
            <a:endParaRPr lang="en-US" dirty="0"/>
          </a:p>
        </p:txBody>
      </p:sp>
    </p:spTree>
    <p:extLst>
      <p:ext uri="{BB962C8B-B14F-4D97-AF65-F5344CB8AC3E}">
        <p14:creationId xmlns:p14="http://schemas.microsoft.com/office/powerpoint/2010/main" val="3709423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2662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A0D87A6-E054-403E-BE97-AA07D5142248}" type="slidenum">
              <a:rPr lang="en-US" smtClean="0"/>
              <a:pPr/>
              <a:t>15</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PSW DSOP, t</a:t>
            </a:r>
            <a:r>
              <a:rPr lang="en-US" dirty="0"/>
              <a:t>here are</a:t>
            </a:r>
            <a:r>
              <a:rPr lang="en-US" baseline="0" dirty="0"/>
              <a:t> </a:t>
            </a:r>
            <a:r>
              <a:rPr lang="en-US" dirty="0"/>
              <a:t>three</a:t>
            </a:r>
            <a:r>
              <a:rPr lang="en-US" baseline="0" dirty="0"/>
              <a:t> main indicators for distribution system integrity performance.</a:t>
            </a:r>
          </a:p>
          <a:p>
            <a:endParaRPr lang="en-US" baseline="0" dirty="0"/>
          </a:p>
          <a:p>
            <a:r>
              <a:rPr lang="en-US" baseline="0" dirty="0"/>
              <a:t>Water Quality, particularly in regards to maintaining disinfectant residual, is a crucial optimization component in preserving distribution system integrity.</a:t>
            </a:r>
          </a:p>
          <a:p>
            <a:endParaRPr lang="en-US" baseline="0" dirty="0"/>
          </a:p>
          <a:p>
            <a:r>
              <a:rPr lang="en-US" baseline="0" dirty="0"/>
              <a:t>If all three integrity components are optimized, high water quality and system reliability can be enhanced.</a:t>
            </a:r>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26</a:t>
            </a:fld>
            <a:endParaRPr lang="en-US" dirty="0"/>
          </a:p>
        </p:txBody>
      </p:sp>
    </p:spTree>
    <p:extLst>
      <p:ext uri="{BB962C8B-B14F-4D97-AF65-F5344CB8AC3E}">
        <p14:creationId xmlns:p14="http://schemas.microsoft.com/office/powerpoint/2010/main" val="3709423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079" indent="-173079">
              <a:buFont typeface="Arial" pitchFamily="34" charset="0"/>
              <a:buChar char="•"/>
            </a:pPr>
            <a:r>
              <a:rPr lang="en-US" dirty="0"/>
              <a:t>The pressure sensors provide real-time pressure</a:t>
            </a:r>
            <a:r>
              <a:rPr lang="en-US" baseline="0" dirty="0"/>
              <a:t> to Load Control’s Supervisory Control And Data Acquisition system. These sensors at located on supply lines to city owned buildings such (PWD, PFD, PPD).</a:t>
            </a:r>
          </a:p>
          <a:p>
            <a:pPr marL="173079" indent="-173079">
              <a:buFont typeface="Arial" pitchFamily="34" charset="0"/>
              <a:buChar char="•"/>
            </a:pPr>
            <a:r>
              <a:rPr lang="en-US" baseline="0" dirty="0"/>
              <a:t>Unlike the previous year where all 13 pressure districts were analyzed as a whole in one Excel file, this year each pressure district was studied separately.</a:t>
            </a:r>
          </a:p>
          <a:p>
            <a:pPr marL="173079" indent="-173079">
              <a:buFont typeface="Arial" pitchFamily="34" charset="0"/>
              <a:buChar char="•"/>
            </a:pPr>
            <a:endParaRPr lang="en-US" baseline="0" dirty="0"/>
          </a:p>
          <a:p>
            <a:pPr marL="173079" indent="-173079">
              <a:buFont typeface="Arial" pitchFamily="34" charset="0"/>
              <a:buChar char="•"/>
            </a:pPr>
            <a:endParaRPr lang="en-US" baseline="0" dirty="0"/>
          </a:p>
          <a:p>
            <a:pPr marL="173079" indent="-173079">
              <a:buFont typeface="Arial" pitchFamily="34" charset="0"/>
              <a:buChar char="•"/>
            </a:pPr>
            <a:endParaRPr lang="en-US" baseline="0" dirty="0"/>
          </a:p>
          <a:p>
            <a:pPr marL="173079" indent="-173079">
              <a:buFont typeface="Arial" pitchFamily="34" charset="0"/>
              <a:buChar char="•"/>
            </a:pPr>
            <a:endParaRPr lang="en-US" baseline="0" dirty="0"/>
          </a:p>
          <a:p>
            <a:pPr marL="173079" indent="-173079">
              <a:buFont typeface="Arial" pitchFamily="34" charset="0"/>
              <a:buChar char="•"/>
            </a:pPr>
            <a:r>
              <a:rPr lang="en-US" baseline="0" dirty="0"/>
              <a:t>Main break as a PLF – Christine to talk about use of </a:t>
            </a:r>
            <a:r>
              <a:rPr lang="en-US" baseline="0" dirty="0" err="1"/>
              <a:t>CapPlan</a:t>
            </a:r>
            <a:r>
              <a:rPr lang="en-US" baseline="0" dirty="0"/>
              <a:t> – Phase III Report</a:t>
            </a: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27</a:t>
            </a:fld>
            <a:endParaRPr lang="en-US" dirty="0"/>
          </a:p>
        </p:txBody>
      </p:sp>
    </p:spTree>
    <p:extLst>
      <p:ext uri="{BB962C8B-B14F-4D97-AF65-F5344CB8AC3E}">
        <p14:creationId xmlns:p14="http://schemas.microsoft.com/office/powerpoint/2010/main" val="2879204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079" indent="-173079">
              <a:buFont typeface="Arial" pitchFamily="34" charset="0"/>
              <a:buChar char="•"/>
            </a:pPr>
            <a:r>
              <a:rPr lang="en-US" baseline="0" dirty="0"/>
              <a:t>Optimized pressure management numerical goals take into account the widely accepted minimum of 20 psi and utility specific goals</a:t>
            </a:r>
          </a:p>
          <a:p>
            <a:pPr marL="173079" indent="-173079">
              <a:buFont typeface="Arial" pitchFamily="34" charset="0"/>
              <a:buChar char="•"/>
            </a:pPr>
            <a:r>
              <a:rPr lang="en-US" baseline="0" dirty="0"/>
              <a:t>Pressure must be monitored continuously</a:t>
            </a:r>
          </a:p>
          <a:p>
            <a:pPr marL="173079" indent="-173079">
              <a:buFont typeface="Arial" pitchFamily="34" charset="0"/>
              <a:buChar char="•"/>
            </a:pPr>
            <a:r>
              <a:rPr lang="en-US" baseline="0" dirty="0"/>
              <a:t>PWD used 30 minute average rather hourly</a:t>
            </a:r>
          </a:p>
          <a:p>
            <a:pPr marL="634622" lvl="1" indent="-173079">
              <a:buFont typeface="Arial" pitchFamily="34" charset="0"/>
              <a:buChar char="•"/>
            </a:pPr>
            <a:r>
              <a:rPr lang="en-US" baseline="0" dirty="0"/>
              <a:t>There were three parameters monitored for each pressure district</a:t>
            </a:r>
          </a:p>
          <a:p>
            <a:pPr marL="1096166" lvl="2" indent="-173079">
              <a:buFont typeface="Courier New" pitchFamily="49" charset="0"/>
              <a:buChar char="o"/>
            </a:pPr>
            <a:r>
              <a:rPr lang="en-US" baseline="0" dirty="0"/>
              <a:t>Min Pressure – 227, 760 data points analyzed for minimum pressure</a:t>
            </a:r>
          </a:p>
          <a:p>
            <a:pPr marL="1096166" lvl="2" indent="-173079">
              <a:buFont typeface="Courier New" pitchFamily="49" charset="0"/>
              <a:buChar char="o"/>
            </a:pPr>
            <a:r>
              <a:rPr lang="en-US" baseline="0" dirty="0"/>
              <a:t>Max Pressure</a:t>
            </a:r>
          </a:p>
          <a:p>
            <a:pPr marL="1096166" lvl="2" indent="-173079">
              <a:buFont typeface="Courier New" pitchFamily="49" charset="0"/>
              <a:buChar char="o"/>
            </a:pPr>
            <a:r>
              <a:rPr lang="en-US" baseline="0" dirty="0"/>
              <a:t>Single Site Maximum Range</a:t>
            </a:r>
          </a:p>
          <a:p>
            <a:pPr marL="634622" lvl="1" indent="-173079">
              <a:buFont typeface="Arial" pitchFamily="34" charset="0"/>
              <a:buChar char="•"/>
            </a:pPr>
            <a:r>
              <a:rPr lang="en-US" baseline="0" dirty="0"/>
              <a:t>Each parameter had 48 ½ hour records equating to 51,750 data points per month (17,250/parameter/month_</a:t>
            </a:r>
          </a:p>
          <a:p>
            <a:pPr marL="634622" lvl="1" indent="-173079">
              <a:buFont typeface="Arial" pitchFamily="34" charset="0"/>
              <a:buChar char="•"/>
            </a:pPr>
            <a:r>
              <a:rPr lang="en-US" b="1" baseline="0" dirty="0"/>
              <a:t>This resulted in 672,750 unique data points collected for analysis</a:t>
            </a:r>
          </a:p>
          <a:p>
            <a:pPr marL="173079" indent="-173079">
              <a:buFont typeface="Arial" pitchFamily="34" charset="0"/>
              <a:buChar char="•"/>
            </a:pPr>
            <a:r>
              <a:rPr lang="en-US" baseline="0" dirty="0"/>
              <a:t>The method of data collection and analysis went beyond the minimum partnership requirements providing what the PWD thought was best rather than what the Partnership called for</a:t>
            </a: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28</a:t>
            </a:fld>
            <a:endParaRPr lang="en-US" dirty="0"/>
          </a:p>
        </p:txBody>
      </p:sp>
    </p:spTree>
    <p:extLst>
      <p:ext uri="{BB962C8B-B14F-4D97-AF65-F5344CB8AC3E}">
        <p14:creationId xmlns:p14="http://schemas.microsoft.com/office/powerpoint/2010/main" val="2879204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079" indent="-173079">
              <a:buFont typeface="Arial" pitchFamily="34" charset="0"/>
              <a:buChar char="•"/>
            </a:pPr>
            <a:r>
              <a:rPr lang="en-US" baseline="0" dirty="0"/>
              <a:t>This is just an example of one of the graphs provided by the partnership software</a:t>
            </a: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29</a:t>
            </a:fld>
            <a:endParaRPr lang="en-US" dirty="0"/>
          </a:p>
        </p:txBody>
      </p:sp>
    </p:spTree>
    <p:extLst>
      <p:ext uri="{BB962C8B-B14F-4D97-AF65-F5344CB8AC3E}">
        <p14:creationId xmlns:p14="http://schemas.microsoft.com/office/powerpoint/2010/main" val="2879204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079" indent="-173079">
              <a:buFont typeface="Arial" pitchFamily="34" charset="0"/>
              <a:buChar char="•"/>
            </a:pPr>
            <a:r>
              <a:rPr lang="en-US" baseline="0" dirty="0"/>
              <a:t>Summary table from the Partnership software averaging daily pressure data</a:t>
            </a: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30</a:t>
            </a:fld>
            <a:endParaRPr lang="en-US" dirty="0"/>
          </a:p>
        </p:txBody>
      </p:sp>
    </p:spTree>
    <p:extLst>
      <p:ext uri="{BB962C8B-B14F-4D97-AF65-F5344CB8AC3E}">
        <p14:creationId xmlns:p14="http://schemas.microsoft.com/office/powerpoint/2010/main" val="2879204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PSW DSOP, t</a:t>
            </a:r>
            <a:r>
              <a:rPr lang="en-US" dirty="0"/>
              <a:t>here are</a:t>
            </a:r>
            <a:r>
              <a:rPr lang="en-US" baseline="0" dirty="0"/>
              <a:t> </a:t>
            </a:r>
            <a:r>
              <a:rPr lang="en-US" dirty="0"/>
              <a:t>three</a:t>
            </a:r>
            <a:r>
              <a:rPr lang="en-US" baseline="0" dirty="0"/>
              <a:t> main indicators for distribution system integrity performance.</a:t>
            </a:r>
          </a:p>
          <a:p>
            <a:endParaRPr lang="en-US" baseline="0" dirty="0"/>
          </a:p>
          <a:p>
            <a:r>
              <a:rPr lang="en-US" baseline="0" dirty="0"/>
              <a:t>Water Quality, particularly in regards to maintaining disinfectant residual, is a crucial optimization component in preserving distribution system integrity.</a:t>
            </a:r>
          </a:p>
          <a:p>
            <a:endParaRPr lang="en-US" baseline="0" dirty="0"/>
          </a:p>
          <a:p>
            <a:r>
              <a:rPr lang="en-US" baseline="0" dirty="0"/>
              <a:t>If all three integrity components are optimized, high water quality and system reliability can be enhanced.</a:t>
            </a:r>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31</a:t>
            </a:fld>
            <a:endParaRPr lang="en-US" dirty="0"/>
          </a:p>
        </p:txBody>
      </p:sp>
    </p:spTree>
    <p:extLst>
      <p:ext uri="{BB962C8B-B14F-4D97-AF65-F5344CB8AC3E}">
        <p14:creationId xmlns:p14="http://schemas.microsoft.com/office/powerpoint/2010/main" val="3709423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079" indent="-173079">
              <a:buFont typeface="Arial" pitchFamily="34" charset="0"/>
              <a:buChar char="•"/>
            </a:pPr>
            <a:r>
              <a:rPr lang="en-US" dirty="0"/>
              <a:t>This is the official definition of what the PWD considers a main break</a:t>
            </a:r>
          </a:p>
          <a:p>
            <a:pPr marL="173079" indent="-173079">
              <a:buFont typeface="Arial" pitchFamily="34" charset="0"/>
              <a:buChar char="•"/>
            </a:pPr>
            <a:r>
              <a:rPr lang="en-US" baseline="0" dirty="0"/>
              <a:t>NOTE: The partnership includes breaks and leaks on appurtenances such as valves, hydrants, </a:t>
            </a:r>
            <a:r>
              <a:rPr lang="en-US" baseline="0" dirty="0" err="1"/>
              <a:t>blowoffs</a:t>
            </a:r>
            <a:r>
              <a:rPr lang="en-US" baseline="0" dirty="0"/>
              <a:t>, fittings, tapping sleeves and saddles and the connected tapping valves and corporation stops.</a:t>
            </a:r>
          </a:p>
          <a:p>
            <a:pPr marL="634622" lvl="1" indent="-173079">
              <a:buFont typeface="Arial" pitchFamily="34" charset="0"/>
              <a:buChar char="•"/>
            </a:pPr>
            <a:r>
              <a:rPr lang="en-US" baseline="0" dirty="0"/>
              <a:t>The PWD does not include valves, </a:t>
            </a:r>
            <a:r>
              <a:rPr lang="en-US" baseline="0" dirty="0" err="1"/>
              <a:t>blowoffs</a:t>
            </a:r>
            <a:r>
              <a:rPr lang="en-US" baseline="0" dirty="0"/>
              <a:t>, fittings, tapping valves or corporation stops</a:t>
            </a: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32</a:t>
            </a:fld>
            <a:endParaRPr lang="en-US" dirty="0"/>
          </a:p>
        </p:txBody>
      </p:sp>
    </p:spTree>
    <p:extLst>
      <p:ext uri="{BB962C8B-B14F-4D97-AF65-F5344CB8AC3E}">
        <p14:creationId xmlns:p14="http://schemas.microsoft.com/office/powerpoint/2010/main" val="2879204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079" indent="-173079">
              <a:buFont typeface="Arial" pitchFamily="34" charset="0"/>
              <a:buChar char="•"/>
            </a:pPr>
            <a:r>
              <a:rPr lang="en-US" dirty="0"/>
              <a:t>Prior to 2006 an estimate of 3,300 miles of water</a:t>
            </a:r>
            <a:r>
              <a:rPr lang="en-US" baseline="0" dirty="0"/>
              <a:t> mains was used with data taken from historic records</a:t>
            </a:r>
          </a:p>
          <a:p>
            <a:pPr marL="173079" indent="-173079">
              <a:buFont typeface="Arial" pitchFamily="34" charset="0"/>
              <a:buChar char="•"/>
            </a:pPr>
            <a:r>
              <a:rPr lang="en-US" baseline="0" dirty="0"/>
              <a:t>From 2006 through 2013 data from GIS was utilized for the total miles of pipe</a:t>
            </a:r>
          </a:p>
          <a:p>
            <a:pPr marL="173079" indent="-173079">
              <a:buFont typeface="Arial" pitchFamily="34" charset="0"/>
              <a:buChar char="•"/>
            </a:pPr>
            <a:endParaRPr lang="en-US" baseline="0" dirty="0"/>
          </a:p>
          <a:p>
            <a:pPr marL="173079" indent="-173079">
              <a:buFont typeface="Arial" pitchFamily="34" charset="0"/>
              <a:buChar char="•"/>
            </a:pPr>
            <a:r>
              <a:rPr lang="en-US" baseline="0" dirty="0"/>
              <a:t>When analyzing main break data, the PWD employs a 15-year rolling average to dampen the spikes caused by sporadically extreme winter conditions.</a:t>
            </a:r>
          </a:p>
          <a:p>
            <a:pPr marL="173079" indent="-173079">
              <a:buFont typeface="Arial" pitchFamily="34" charset="0"/>
              <a:buChar char="•"/>
            </a:pPr>
            <a:r>
              <a:rPr lang="en-US" baseline="0" dirty="0"/>
              <a:t>Most of the system (~70%) is unlined cast iron with the remaining consisting of cement lined DI (post 1967)</a:t>
            </a:r>
          </a:p>
          <a:p>
            <a:pPr marL="173079" indent="-173079">
              <a:buFont typeface="Arial" pitchFamily="34" charset="0"/>
              <a:buChar char="•"/>
            </a:pPr>
            <a:endParaRPr lang="en-US" baseline="0" dirty="0"/>
          </a:p>
          <a:p>
            <a:pPr marL="173079" indent="-173079">
              <a:buFont typeface="Arial" pitchFamily="34" charset="0"/>
              <a:buChar char="•"/>
            </a:pPr>
            <a:r>
              <a:rPr lang="en-US" baseline="0" dirty="0"/>
              <a:t>Compared to the previous Partnership year there was a main break increase of 79.3% </a:t>
            </a:r>
          </a:p>
          <a:p>
            <a:pPr marL="634622" lvl="1" indent="-173079">
              <a:buFont typeface="Arial" pitchFamily="34" charset="0"/>
              <a:buChar char="•"/>
            </a:pPr>
            <a:r>
              <a:rPr lang="en-US" baseline="0" dirty="0"/>
              <a:t>The winter months during this partnership year saw a 30% increase in the total number of days where ambient temperatures were below 32 degrees</a:t>
            </a:r>
          </a:p>
          <a:p>
            <a:pPr marL="634622" lvl="1" indent="-173079">
              <a:buFont typeface="Arial" pitchFamily="34" charset="0"/>
              <a:buChar char="•"/>
            </a:pPr>
            <a:r>
              <a:rPr lang="en-US" baseline="0" dirty="0"/>
              <a:t>During these months water temperature averages around 33 to 34 degrees Fahrenheit compared to summer months where water temperature can exceed 80 degrees</a:t>
            </a:r>
          </a:p>
          <a:p>
            <a:pPr marL="634622" lvl="1" indent="-173079">
              <a:buFont typeface="Arial" pitchFamily="34" charset="0"/>
              <a:buChar char="•"/>
            </a:pPr>
            <a:r>
              <a:rPr lang="en-US" dirty="0"/>
              <a:t>This colder water temperature combined with the freeze/thaw action in the ground can directly affect the mains during this period by causing increased external stress on a pipeline.</a:t>
            </a:r>
          </a:p>
          <a:p>
            <a:pPr marL="634622" lvl="1" indent="-173079">
              <a:buFont typeface="Arial" pitchFamily="34" charset="0"/>
              <a:buChar char="•"/>
            </a:pPr>
            <a:r>
              <a:rPr lang="en-US" dirty="0"/>
              <a:t>Historically nearly 50% of the Philadelphia Water Departments (PWD) main breaks occur in December, January and February.</a:t>
            </a:r>
            <a:endParaRPr lang="en-US" baseline="0"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33</a:t>
            </a:fld>
            <a:endParaRPr lang="en-US" dirty="0"/>
          </a:p>
        </p:txBody>
      </p:sp>
    </p:spTree>
    <p:extLst>
      <p:ext uri="{BB962C8B-B14F-4D97-AF65-F5344CB8AC3E}">
        <p14:creationId xmlns:p14="http://schemas.microsoft.com/office/powerpoint/2010/main" val="28792041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079" indent="-173079">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34</a:t>
            </a:fld>
            <a:endParaRPr lang="en-US" dirty="0"/>
          </a:p>
        </p:txBody>
      </p:sp>
    </p:spTree>
    <p:extLst>
      <p:ext uri="{BB962C8B-B14F-4D97-AF65-F5344CB8AC3E}">
        <p14:creationId xmlns:p14="http://schemas.microsoft.com/office/powerpoint/2010/main" val="2879204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079" indent="-173079">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35</a:t>
            </a:fld>
            <a:endParaRPr lang="en-US" dirty="0"/>
          </a:p>
        </p:txBody>
      </p:sp>
    </p:spTree>
    <p:extLst>
      <p:ext uri="{BB962C8B-B14F-4D97-AF65-F5344CB8AC3E}">
        <p14:creationId xmlns:p14="http://schemas.microsoft.com/office/powerpoint/2010/main" val="2879204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PSW DSOP, t</a:t>
            </a:r>
            <a:r>
              <a:rPr lang="en-US" dirty="0"/>
              <a:t>here are</a:t>
            </a:r>
            <a:r>
              <a:rPr lang="en-US" baseline="0" dirty="0"/>
              <a:t> </a:t>
            </a:r>
            <a:r>
              <a:rPr lang="en-US" dirty="0"/>
              <a:t>three</a:t>
            </a:r>
            <a:r>
              <a:rPr lang="en-US" baseline="0" dirty="0"/>
              <a:t> main indicators for distribution system integrity performance.</a:t>
            </a:r>
          </a:p>
          <a:p>
            <a:endParaRPr lang="en-US" baseline="0" dirty="0"/>
          </a:p>
          <a:p>
            <a:r>
              <a:rPr lang="en-US" baseline="0" dirty="0"/>
              <a:t>Water Quality, particularly in regards to maintaining disinfectant residual, is a crucial optimization component in preserving distribution system integrity.</a:t>
            </a:r>
          </a:p>
          <a:p>
            <a:endParaRPr lang="en-US" baseline="0" dirty="0"/>
          </a:p>
          <a:p>
            <a:r>
              <a:rPr lang="en-US" baseline="0" dirty="0"/>
              <a:t>If all three integrity components are optimized, high water quality and system reliability can be enhanced.</a:t>
            </a:r>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36</a:t>
            </a:fld>
            <a:endParaRPr lang="en-US" dirty="0"/>
          </a:p>
        </p:txBody>
      </p:sp>
    </p:spTree>
    <p:extLst>
      <p:ext uri="{BB962C8B-B14F-4D97-AF65-F5344CB8AC3E}">
        <p14:creationId xmlns:p14="http://schemas.microsoft.com/office/powerpoint/2010/main" val="37094230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Disinfectant</a:t>
            </a:r>
            <a:r>
              <a:rPr lang="en-US" baseline="0" dirty="0"/>
              <a:t> Residual has been identified as a useful indicator of water quality integrity.  </a:t>
            </a:r>
          </a:p>
          <a:p>
            <a:endParaRPr lang="en-US" baseline="0" dirty="0"/>
          </a:p>
          <a:p>
            <a:r>
              <a:rPr lang="en-US" baseline="0" dirty="0"/>
              <a:t>As a result of this indication, there are state and federal disinfectant residual-related requirements applicable to surface water systems and some groundwater systems. </a:t>
            </a:r>
          </a:p>
          <a:p>
            <a:endParaRPr lang="en-US" baseline="0" dirty="0"/>
          </a:p>
          <a:p>
            <a:r>
              <a:rPr lang="en-US" baseline="0" dirty="0"/>
              <a:t>The federal requirement regarding the maximum residual disinfectant level (MRDL) for </a:t>
            </a:r>
            <a:r>
              <a:rPr lang="en-US" baseline="0" dirty="0" err="1"/>
              <a:t>chloraminated</a:t>
            </a:r>
            <a:r>
              <a:rPr lang="en-US" baseline="0" dirty="0"/>
              <a:t> systems, like PWD, is 4.0 mg/L.  </a:t>
            </a:r>
          </a:p>
          <a:p>
            <a:endParaRPr lang="en-US" baseline="0" dirty="0"/>
          </a:p>
          <a:p>
            <a:r>
              <a:rPr lang="en-US" baseline="0" dirty="0"/>
              <a:t>The disinfectant residual concentration in the water delivered in the distribution system prior to the first customer may not be less than 0.2 mg/L. </a:t>
            </a:r>
          </a:p>
          <a:p>
            <a:endParaRPr lang="en-US" baseline="0" dirty="0"/>
          </a:p>
          <a:p>
            <a:r>
              <a:rPr lang="en-US" baseline="0" dirty="0"/>
              <a:t>In the distribution system, as a minimum, the detectable disinfectant residual concentration may not be less than 0.02 mg/L. </a:t>
            </a:r>
          </a:p>
          <a:p>
            <a:endParaRPr lang="en-US" baseline="0" dirty="0"/>
          </a:p>
          <a:p>
            <a:r>
              <a:rPr lang="en-US" baseline="0" dirty="0"/>
              <a:t>Any disinfectant residual less than 0.02 mg/L is considered non-detectable and in order to be in compliance with </a:t>
            </a:r>
            <a:r>
              <a:rPr lang="en-US" baseline="0" dirty="0" err="1"/>
              <a:t>PaDEP</a:t>
            </a:r>
            <a:r>
              <a:rPr lang="en-US" baseline="0" dirty="0"/>
              <a:t>, the primacy agency, in these situations heterotrophic plate count (HPC) must be less than 500 </a:t>
            </a:r>
            <a:r>
              <a:rPr lang="en-US" baseline="0" dirty="0" err="1"/>
              <a:t>cfu</a:t>
            </a:r>
            <a:r>
              <a:rPr lang="en-US" baseline="0" dirty="0"/>
              <a:t>/</a:t>
            </a:r>
            <a:r>
              <a:rPr lang="en-US" baseline="0" dirty="0" err="1"/>
              <a:t>mL.</a:t>
            </a:r>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37</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a:t>
            </a:r>
            <a:r>
              <a:rPr lang="en-US" baseline="0" dirty="0"/>
              <a:t> does PWD manage disinfectant residual?</a:t>
            </a:r>
          </a:p>
          <a:p>
            <a:endParaRPr lang="en-US" baseline="0" dirty="0"/>
          </a:p>
          <a:p>
            <a:r>
              <a:rPr lang="en-US" dirty="0"/>
              <a:t>PWD has an extensive</a:t>
            </a:r>
            <a:r>
              <a:rPr lang="en-US" baseline="0" dirty="0"/>
              <a:t> </a:t>
            </a:r>
            <a:r>
              <a:rPr lang="en-US" dirty="0"/>
              <a:t>monitoring</a:t>
            </a:r>
            <a:r>
              <a:rPr lang="en-US" baseline="0" dirty="0"/>
              <a:t> program. </a:t>
            </a:r>
          </a:p>
          <a:p>
            <a:endParaRPr lang="en-US" baseline="0" dirty="0"/>
          </a:p>
          <a:p>
            <a:r>
              <a:rPr lang="en-US" baseline="0" dirty="0"/>
              <a:t>The program is a “routine” sampling program where a targeted set of grab samples are collected as consistently as possible at similarly spaced time intervals. Collectively, and individually, these sites were strategically selected to represent water quality conditions throughout the distribution system. </a:t>
            </a:r>
          </a:p>
          <a:p>
            <a:endParaRPr lang="en-US" baseline="0" dirty="0"/>
          </a:p>
          <a:p>
            <a:r>
              <a:rPr lang="en-US" baseline="0" dirty="0"/>
              <a:t>The sampling frequency is higher at key locations in the system (treatment plants, pumping stations, and storage facilities – reservoirs and standing pipes). </a:t>
            </a:r>
          </a:p>
          <a:p>
            <a:endParaRPr lang="en-US" baseline="0" dirty="0"/>
          </a:p>
          <a:p>
            <a:r>
              <a:rPr lang="en-US" baseline="0" dirty="0"/>
              <a:t>Procedures are in place so that the when samples are collected, the disinfectant residual values (or other parameters) measured, represent water “from the main” at the sample site versus water within the customer supply lines or after excessive flushing. </a:t>
            </a:r>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38</a:t>
            </a:fld>
            <a:endParaRPr lang="en-US" dirty="0"/>
          </a:p>
        </p:txBody>
      </p:sp>
    </p:spTree>
    <p:extLst>
      <p:ext uri="{BB962C8B-B14F-4D97-AF65-F5344CB8AC3E}">
        <p14:creationId xmlns:p14="http://schemas.microsoft.com/office/powerpoint/2010/main" val="18291439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n-lt"/>
              </a:rPr>
              <a:t>To achieve full optimization, systems must frequently</a:t>
            </a:r>
            <a:r>
              <a:rPr lang="en-US" baseline="0" dirty="0">
                <a:latin typeface="+mn-lt"/>
              </a:rPr>
              <a:t> test at all system entry points, downstream of storage facilities, and other key optimization sites.</a:t>
            </a:r>
          </a:p>
          <a:p>
            <a:endParaRPr lang="en-US" baseline="0" dirty="0">
              <a:latin typeface="+mn-lt"/>
            </a:endParaRPr>
          </a:p>
          <a:p>
            <a:r>
              <a:rPr lang="en-US" baseline="0" dirty="0">
                <a:latin typeface="+mn-lt"/>
              </a:rPr>
              <a:t>Other key optimization sites are those where systems should sample within known high improvement performance potential areas – aka “problem sites” (areas served by older unlined cast iron mains, low flow areas, known high water age areas).</a:t>
            </a:r>
          </a:p>
          <a:p>
            <a:endParaRPr lang="en-US" baseline="0" dirty="0">
              <a:latin typeface="+mn-lt"/>
            </a:endParaRPr>
          </a:p>
          <a:p>
            <a:r>
              <a:rPr lang="en-US" baseline="0" dirty="0">
                <a:latin typeface="+mn-lt"/>
              </a:rPr>
              <a:t>Additionally, systems should include other sites as needed for representation of all pressure zones.</a:t>
            </a:r>
          </a:p>
          <a:p>
            <a:endParaRPr lang="en-US" baseline="0" dirty="0">
              <a:latin typeface="+mn-lt"/>
            </a:endParaRPr>
          </a:p>
          <a:p>
            <a:r>
              <a:rPr lang="en-US" baseline="0" dirty="0">
                <a:latin typeface="+mn-lt"/>
              </a:rPr>
              <a:t>As previously shown, PWD has an extensive representation of sampling location sites.</a:t>
            </a:r>
            <a:endParaRPr lang="en-US" dirty="0">
              <a:latin typeface="+mn-lt"/>
            </a:endParaRP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39</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According to PSW, to be deemed optimized in regards to disinfectant residual performance, PWD must meet a numerical residual performance goal using the representative samples collected frequently from throughout the distribution system.</a:t>
            </a:r>
          </a:p>
          <a:p>
            <a:endParaRPr lang="en-US" baseline="0" dirty="0"/>
          </a:p>
          <a:p>
            <a:r>
              <a:rPr lang="en-US" baseline="0" dirty="0"/>
              <a:t>For </a:t>
            </a:r>
            <a:r>
              <a:rPr lang="en-US" baseline="0" dirty="0" err="1"/>
              <a:t>chloraminated</a:t>
            </a:r>
            <a:r>
              <a:rPr lang="en-US" baseline="0" dirty="0"/>
              <a:t> systems, the disinfectant residual goal is that in 95% of monthly measurements at each sample site and for the system overall must have total chlorine residual ≥ 0.50 mg/L </a:t>
            </a:r>
            <a:r>
              <a:rPr lang="en-US" baseline="0" dirty="0">
                <a:latin typeface="+mn-lt"/>
              </a:rPr>
              <a:t>and  </a:t>
            </a:r>
            <a:r>
              <a:rPr lang="en-US" baseline="0" dirty="0">
                <a:latin typeface="+mn-lt"/>
                <a:cs typeface="Calibri"/>
              </a:rPr>
              <a:t>≤ 4.0 mg/L.  </a:t>
            </a:r>
          </a:p>
          <a:p>
            <a:endParaRPr lang="en-US" baseline="0" dirty="0">
              <a:latin typeface="+mn-lt"/>
              <a:cs typeface="Calibri"/>
            </a:endParaRPr>
          </a:p>
          <a:p>
            <a:r>
              <a:rPr lang="en-US" baseline="0" dirty="0">
                <a:latin typeface="+mn-lt"/>
                <a:cs typeface="Calibri"/>
              </a:rPr>
              <a:t>PSW does not consider a system to be “optimized” if there are </a:t>
            </a:r>
            <a:r>
              <a:rPr lang="en-US" b="1" baseline="0" dirty="0">
                <a:latin typeface="+mn-lt"/>
                <a:cs typeface="Calibri"/>
              </a:rPr>
              <a:t>consecutive*</a:t>
            </a:r>
            <a:r>
              <a:rPr lang="en-US" baseline="0" dirty="0">
                <a:latin typeface="+mn-lt"/>
                <a:cs typeface="Calibri"/>
              </a:rPr>
              <a:t> disinfectant residual measurements at optimized individual routine sample location that are &lt; 0.50 mg/L and &gt; 4.0 mg/L.</a:t>
            </a:r>
          </a:p>
          <a:p>
            <a:endParaRPr lang="en-US" baseline="0" dirty="0">
              <a:latin typeface="+mn-lt"/>
              <a:cs typeface="Calibri"/>
            </a:endParaRPr>
          </a:p>
          <a:p>
            <a:r>
              <a:rPr lang="en-US" baseline="0" dirty="0">
                <a:latin typeface="+mn-lt"/>
                <a:cs typeface="Calibri"/>
              </a:rPr>
              <a:t>Sample locations must include all optimization site testing locations (as previously mentioned).</a:t>
            </a:r>
          </a:p>
          <a:p>
            <a:endParaRPr lang="en-US" baseline="0" dirty="0">
              <a:latin typeface="+mn-lt"/>
              <a:cs typeface="Calibri"/>
            </a:endParaRPr>
          </a:p>
          <a:p>
            <a:r>
              <a:rPr lang="en-US" baseline="0" dirty="0">
                <a:latin typeface="+mn-lt"/>
                <a:cs typeface="Calibri"/>
              </a:rPr>
              <a:t>DBPs (TTHMs &amp; HAA5) do not exceed regulatory limits for each sample tested and methods are employed to maintain or reduce levels even though disinfectant residual levels may be increased at individual sites.</a:t>
            </a:r>
            <a:endParaRPr lang="en-US" dirty="0">
              <a:latin typeface="+mn-lt"/>
            </a:endParaRP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40</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n-lt"/>
              </a:rPr>
              <a:t>The data collection software from PSW for disinfectant</a:t>
            </a:r>
            <a:r>
              <a:rPr lang="en-US" baseline="0" dirty="0">
                <a:latin typeface="+mn-lt"/>
              </a:rPr>
              <a:t> residual was used for the baseline report and is used for the annual reports.  </a:t>
            </a:r>
          </a:p>
          <a:p>
            <a:endParaRPr lang="en-US" baseline="0" dirty="0">
              <a:latin typeface="+mn-lt"/>
            </a:endParaRPr>
          </a:p>
          <a:p>
            <a:r>
              <a:rPr lang="en-US" baseline="0" dirty="0">
                <a:latin typeface="+mn-lt"/>
              </a:rPr>
              <a:t>The software allows for data from a 12-month period.</a:t>
            </a:r>
          </a:p>
          <a:p>
            <a:endParaRPr lang="en-US" baseline="0" dirty="0">
              <a:latin typeface="+mn-lt"/>
            </a:endParaRPr>
          </a:p>
          <a:p>
            <a:r>
              <a:rPr lang="en-US" baseline="0" dirty="0">
                <a:latin typeface="+mn-lt"/>
              </a:rPr>
              <a:t>PSW software calculates statistics based on data entered into the program.</a:t>
            </a:r>
          </a:p>
          <a:p>
            <a:endParaRPr lang="en-US" baseline="0" dirty="0">
              <a:latin typeface="+mn-lt"/>
            </a:endParaRPr>
          </a:p>
          <a:p>
            <a:r>
              <a:rPr lang="en-US" baseline="0" dirty="0">
                <a:latin typeface="+mn-lt"/>
              </a:rPr>
              <a:t>What data is inputted into the software? And how is it used?</a:t>
            </a:r>
          </a:p>
          <a:p>
            <a:pPr marL="634622" lvl="1" indent="-173079">
              <a:buFont typeface="Arial" pitchFamily="34" charset="0"/>
              <a:buChar char="•"/>
            </a:pPr>
            <a:r>
              <a:rPr lang="en-US" baseline="0" dirty="0">
                <a:latin typeface="+mn-lt"/>
              </a:rPr>
              <a:t>Daily average chlorine residual for all entry points (WTP personnel give BLS this data from the continuous online monitors at the WTP)</a:t>
            </a:r>
          </a:p>
          <a:p>
            <a:pPr marL="634622" lvl="1" indent="-173079">
              <a:buFont typeface="Arial" pitchFamily="34" charset="0"/>
              <a:buChar char="•"/>
            </a:pPr>
            <a:r>
              <a:rPr lang="en-US" baseline="0" dirty="0">
                <a:latin typeface="+mn-lt"/>
              </a:rPr>
              <a:t>Daily chlorine residual results from all routine sampling program locations.  The software tracks daily minimum chlorine residuals, the number of samples not meeting PSW disinfectant goal, and the site location(s) where samples collected are not meeting the PSW disinfectant goal.</a:t>
            </a:r>
          </a:p>
          <a:p>
            <a:pPr marL="634622" lvl="1" indent="-173079">
              <a:buFont typeface="Arial" pitchFamily="34" charset="0"/>
              <a:buChar char="•"/>
            </a:pPr>
            <a:r>
              <a:rPr lang="en-US" baseline="0" dirty="0">
                <a:latin typeface="+mn-lt"/>
              </a:rPr>
              <a:t>DBP monthly results from 16 sites in the routine sampling program.  The software tracks the maximum DBP results by month</a:t>
            </a:r>
          </a:p>
          <a:p>
            <a:endParaRPr lang="en-US" baseline="0" dirty="0">
              <a:latin typeface="+mn-lt"/>
            </a:endParaRPr>
          </a:p>
          <a:p>
            <a:endParaRPr lang="en-US" dirty="0">
              <a:latin typeface="+mn-lt"/>
            </a:endParaRP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41</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latin typeface="+mn-lt"/>
              </a:rPr>
              <a:t>How well is PWD meeting PSW goals?</a:t>
            </a:r>
          </a:p>
          <a:p>
            <a:endParaRPr lang="en-US" baseline="0" dirty="0">
              <a:latin typeface="+mn-lt"/>
            </a:endParaRPr>
          </a:p>
          <a:p>
            <a:r>
              <a:rPr lang="en-US" baseline="0" dirty="0">
                <a:latin typeface="+mn-lt"/>
              </a:rPr>
              <a:t>The most recent study period (June 1, 2013 – May 31, 2014) is an improvement from the previous one.  It is also very similar to the baseline study period results (June 1, 2011 – May 31, 2012).</a:t>
            </a:r>
          </a:p>
          <a:p>
            <a:endParaRPr lang="en-US" baseline="0" dirty="0">
              <a:latin typeface="+mn-lt"/>
            </a:endParaRPr>
          </a:p>
          <a:p>
            <a:r>
              <a:rPr lang="en-US" baseline="0" dirty="0">
                <a:latin typeface="+mn-lt"/>
              </a:rPr>
              <a:t>During the most recent study period, the number of samples has increased (300+ from previous study period, 350+ from baseline study period).</a:t>
            </a:r>
          </a:p>
          <a:p>
            <a:endParaRPr lang="en-US" baseline="0" dirty="0">
              <a:latin typeface="+mn-lt"/>
            </a:endParaRPr>
          </a:p>
          <a:p>
            <a:r>
              <a:rPr lang="en-US" baseline="0" dirty="0">
                <a:latin typeface="+mn-lt"/>
              </a:rPr>
              <a:t>Compared to the previous study period, the percent of test results in the most recent study period meeting PSW disinfectant goal has increased, as the number of results not meeting the goal has decreased. The same progress was also experienced during the baseline study period.</a:t>
            </a:r>
          </a:p>
          <a:p>
            <a:endParaRPr lang="en-US" baseline="0" dirty="0">
              <a:latin typeface="+mn-lt"/>
            </a:endParaRPr>
          </a:p>
          <a:p>
            <a:r>
              <a:rPr lang="en-US" baseline="0" dirty="0">
                <a:latin typeface="+mn-lt"/>
              </a:rPr>
              <a:t>*Repeat non-conforming is terminology from PSW.  It is designed to indicate the number of sites during a monthly period that have “consecutive” results that do not meet PSW disinfectant goal.  However, there are some software limitations and other issues in regards to calculating this number.  PWD has informed PSW about this issue and has suggested the use of alternate terminology.</a:t>
            </a:r>
          </a:p>
          <a:p>
            <a:endParaRPr lang="en-US" baseline="0" dirty="0">
              <a:latin typeface="+mn-lt"/>
            </a:endParaRPr>
          </a:p>
          <a:p>
            <a:endParaRPr lang="en-US" baseline="0" dirty="0">
              <a:latin typeface="+mn-lt"/>
            </a:endParaRPr>
          </a:p>
          <a:p>
            <a:endParaRPr lang="en-US" dirty="0">
              <a:latin typeface="+mn-lt"/>
            </a:endParaRP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42</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latin typeface="+mn-lt"/>
            </a:endParaRPr>
          </a:p>
          <a:p>
            <a:endParaRPr lang="en-US" baseline="0" dirty="0">
              <a:latin typeface="+mn-lt"/>
            </a:endParaRPr>
          </a:p>
          <a:p>
            <a:endParaRPr lang="en-US" dirty="0">
              <a:latin typeface="+mn-lt"/>
            </a:endParaRP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43</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defTabSz="923087">
              <a:defRPr/>
            </a:pPr>
            <a:r>
              <a:rPr lang="en-US" dirty="0"/>
              <a:t>What drives PWD improvement in PSW DSOP?</a:t>
            </a:r>
          </a:p>
          <a:p>
            <a:pPr defTabSz="923087">
              <a:defRPr/>
            </a:pPr>
            <a:endParaRPr lang="en-US" dirty="0"/>
          </a:p>
          <a:p>
            <a:pPr defTabSz="923087">
              <a:defRPr/>
            </a:pPr>
            <a:r>
              <a:rPr lang="en-US" dirty="0"/>
              <a:t>A continual, cyclical effort toward distribution system optimization has driven the improvement of chlorine residuals throughout the distribution system.  </a:t>
            </a:r>
          </a:p>
          <a:p>
            <a:pPr defTabSz="923087">
              <a:defRPr/>
            </a:pPr>
            <a:endParaRPr lang="en-US" dirty="0"/>
          </a:p>
          <a:p>
            <a:pPr defTabSz="923087">
              <a:defRPr/>
            </a:pPr>
            <a:r>
              <a:rPr lang="en-US" dirty="0"/>
              <a:t>PWD’s Treatment unit provides communication to other PWD units whenever chlorine residual goals may change.  This is particularly important during warmer weather months, when PWD usually experiences declining chlorine residuals in the distribution system.  Though water temperatures cannot be controlled, chlorine dosages can.  Therefore, PWD Treatment established warm water progressive chlorine residual goals.  These goals allow other units an approximation in regards to what kinds of chlorine residuals can be expected throughout the various districts. </a:t>
            </a:r>
          </a:p>
          <a:p>
            <a:pPr defTabSz="923087">
              <a:defRPr/>
            </a:pPr>
            <a:endParaRPr lang="en-US" dirty="0"/>
          </a:p>
          <a:p>
            <a:pPr defTabSz="923087">
              <a:defRPr/>
            </a:pPr>
            <a:r>
              <a:rPr lang="en-US" dirty="0"/>
              <a:t>PWD BLS monitors chemistry and bacteriological parameters daily and has various trigger values, that when exceeded require action.  PWD BLS designates sites with declining residuals to be on enhanced monitoring for chemistry and bacteriological parameters; additional parameters or samples may also be analyzed.  Additionally, PWD BLS performs site investigations to determine any contributors to declining residuals.   This involves testing water for various parameters from various hydrants at and around the site with declining residual to better understand chlorine trends in the area of concern.  The investigation at the site may also include a brief plumbing inspection and sampling collection.  </a:t>
            </a:r>
          </a:p>
          <a:p>
            <a:pPr defTabSz="923087">
              <a:defRPr/>
            </a:pPr>
            <a:endParaRPr lang="en-US" dirty="0"/>
          </a:p>
          <a:p>
            <a:pPr defTabSz="923087">
              <a:defRPr/>
            </a:pPr>
            <a:r>
              <a:rPr lang="en-US" dirty="0"/>
              <a:t>Based on BLS’ investigation, the Load Control unit may be contacted for further assistance.  Load Control performs investigations in regards to </a:t>
            </a:r>
            <a:r>
              <a:rPr lang="en-US" dirty="0" err="1"/>
              <a:t>valving</a:t>
            </a:r>
            <a:r>
              <a:rPr lang="en-US" dirty="0"/>
              <a:t>, water movement, and flushing techniques.  Together, all of these operations have proven to be beneficial at sites with declining residual levels.  Ultimately, careful planning, attention, and inclusion of various units throughout PWD, helps improve sites with declining chlorine residual.</a:t>
            </a:r>
          </a:p>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44</a:t>
            </a:fld>
            <a:endParaRPr lang="en-US" dirty="0"/>
          </a:p>
        </p:txBody>
      </p:sp>
    </p:spTree>
    <p:extLst>
      <p:ext uri="{BB962C8B-B14F-4D97-AF65-F5344CB8AC3E}">
        <p14:creationId xmlns:p14="http://schemas.microsoft.com/office/powerpoint/2010/main" val="1280572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entry point, </a:t>
            </a:r>
            <a:r>
              <a:rPr lang="en-US" dirty="0" err="1"/>
              <a:t>PaDEP</a:t>
            </a:r>
            <a:r>
              <a:rPr lang="en-US" dirty="0"/>
              <a:t> requires</a:t>
            </a:r>
            <a:r>
              <a:rPr lang="en-US" baseline="0" dirty="0"/>
              <a:t> the chloramine disinfectant residual to be 0.2 mg/L.</a:t>
            </a:r>
          </a:p>
          <a:p>
            <a:endParaRPr lang="en-US" baseline="0" dirty="0"/>
          </a:p>
          <a:p>
            <a:pPr defTabSz="923087">
              <a:defRPr/>
            </a:pPr>
            <a:r>
              <a:rPr lang="en-US" baseline="0" dirty="0"/>
              <a:t>The </a:t>
            </a:r>
            <a:r>
              <a:rPr lang="en-US" baseline="0" dirty="0" err="1"/>
              <a:t>PaDEP</a:t>
            </a:r>
            <a:r>
              <a:rPr lang="en-US" baseline="0" dirty="0"/>
              <a:t> also requires the minimum chloramine disinfectant residual within the distribution system to be at least 0.02 mg/L.</a:t>
            </a:r>
            <a:endParaRPr lang="en-US" dirty="0"/>
          </a:p>
          <a:p>
            <a:endParaRPr lang="en-US" baseline="0" dirty="0"/>
          </a:p>
          <a:p>
            <a:r>
              <a:rPr lang="en-US" baseline="0" dirty="0"/>
              <a:t>For the short term time period, the PSW goal is difficult to attain. PWD has not met the disinfectant residual goal in the past, or often comes close to not meeting the goal.  It has been proven that chloramine levels of 0.2 mg/L provide sufficient microbial protection as indicated by the entry point regulatory limits and would be a more acceptable goal for chloramine utilities.</a:t>
            </a:r>
          </a:p>
          <a:p>
            <a:endParaRPr lang="en-US" baseline="0" dirty="0"/>
          </a:p>
          <a:p>
            <a:r>
              <a:rPr lang="en-US" baseline="0" dirty="0"/>
              <a:t> </a:t>
            </a:r>
          </a:p>
          <a:p>
            <a:endParaRPr lang="en-US" baseline="0" dirty="0"/>
          </a:p>
          <a:p>
            <a:endParaRPr lang="en-US" baseline="0" dirty="0"/>
          </a:p>
          <a:p>
            <a:endParaRPr lang="en-US" baseline="0"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46</a:t>
            </a:fld>
            <a:endParaRPr lang="en-US" dirty="0"/>
          </a:p>
        </p:txBody>
      </p:sp>
    </p:spTree>
    <p:extLst>
      <p:ext uri="{BB962C8B-B14F-4D97-AF65-F5344CB8AC3E}">
        <p14:creationId xmlns:p14="http://schemas.microsoft.com/office/powerpoint/2010/main" val="4107873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self-assessment process allowed PWD to gather</a:t>
            </a:r>
            <a:r>
              <a:rPr lang="en-US" baseline="0" dirty="0"/>
              <a:t> information on system performance and factors that could be limiting performance in the areas of design, operations, and administration.</a:t>
            </a:r>
          </a:p>
          <a:p>
            <a:endParaRPr lang="en-US" baseline="0" dirty="0"/>
          </a:p>
          <a:p>
            <a:r>
              <a:rPr lang="en-US" baseline="0" dirty="0"/>
              <a:t>PSW provided lists of factors that the assessment team could examine and check as optimized and documented, partially optimized, or not optimized. </a:t>
            </a:r>
          </a:p>
          <a:p>
            <a:endParaRPr lang="en-US" baseline="0" dirty="0"/>
          </a:p>
          <a:p>
            <a:r>
              <a:rPr lang="en-US" baseline="0" dirty="0"/>
              <a:t>By checking a factor as partially optimized or not optimized, the assessment team is identifying it as an item that must be improved to achieve optimization or justified as to why it is not an issue for the PWD distribution system.</a:t>
            </a:r>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47</a:t>
            </a:fld>
            <a:endParaRPr lang="en-US" dirty="0"/>
          </a:p>
        </p:txBody>
      </p:sp>
    </p:spTree>
    <p:extLst>
      <p:ext uri="{BB962C8B-B14F-4D97-AF65-F5344CB8AC3E}">
        <p14:creationId xmlns:p14="http://schemas.microsoft.com/office/powerpoint/2010/main" val="10286966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48</a:t>
            </a:fld>
            <a:endParaRPr lang="en-US" dirty="0"/>
          </a:p>
        </p:txBody>
      </p:sp>
    </p:spTree>
    <p:extLst>
      <p:ext uri="{BB962C8B-B14F-4D97-AF65-F5344CB8AC3E}">
        <p14:creationId xmlns:p14="http://schemas.microsoft.com/office/powerpoint/2010/main" val="10286966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50</a:t>
            </a:fld>
            <a:endParaRPr lang="en-US" dirty="0"/>
          </a:p>
        </p:txBody>
      </p:sp>
    </p:spTree>
    <p:extLst>
      <p:ext uri="{BB962C8B-B14F-4D97-AF65-F5344CB8AC3E}">
        <p14:creationId xmlns:p14="http://schemas.microsoft.com/office/powerpoint/2010/main" val="10286966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51</a:t>
            </a:fld>
            <a:endParaRPr lang="en-US" dirty="0"/>
          </a:p>
        </p:txBody>
      </p:sp>
    </p:spTree>
    <p:extLst>
      <p:ext uri="{BB962C8B-B14F-4D97-AF65-F5344CB8AC3E}">
        <p14:creationId xmlns:p14="http://schemas.microsoft.com/office/powerpoint/2010/main" val="3819939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a:t>
            </a:r>
            <a:r>
              <a:rPr lang="en-US" baseline="0" dirty="0"/>
              <a:t> and training were common concerns among the various Subject Matter Experts (SME) interviewed.</a:t>
            </a:r>
          </a:p>
          <a:p>
            <a:endParaRPr lang="en-US" baseline="0" dirty="0"/>
          </a:p>
          <a:p>
            <a:r>
              <a:rPr lang="en-US" baseline="0" dirty="0"/>
              <a:t>Throughout the SA process, many other PI</a:t>
            </a:r>
            <a:r>
              <a:rPr lang="en-US" baseline="30000" dirty="0"/>
              <a:t>2</a:t>
            </a:r>
            <a:r>
              <a:rPr lang="en-US" baseline="0" dirty="0"/>
              <a:t>’s were referred to the </a:t>
            </a:r>
            <a:r>
              <a:rPr lang="en-US" b="1" baseline="0" dirty="0"/>
              <a:t>Water Master Plan Project</a:t>
            </a:r>
            <a:r>
              <a:rPr lang="en-US" b="0" baseline="0" dirty="0"/>
              <a:t> team. Others were assigned to the Unit Managers suggesting the improvement initiative.</a:t>
            </a:r>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52</a:t>
            </a:fld>
            <a:endParaRPr lang="en-US" dirty="0"/>
          </a:p>
        </p:txBody>
      </p:sp>
    </p:spTree>
    <p:extLst>
      <p:ext uri="{BB962C8B-B14F-4D97-AF65-F5344CB8AC3E}">
        <p14:creationId xmlns:p14="http://schemas.microsoft.com/office/powerpoint/2010/main" val="20900581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PSW DSOP, t</a:t>
            </a:r>
            <a:r>
              <a:rPr lang="en-US" dirty="0"/>
              <a:t>here are</a:t>
            </a:r>
            <a:r>
              <a:rPr lang="en-US" baseline="0" dirty="0"/>
              <a:t> </a:t>
            </a:r>
            <a:r>
              <a:rPr lang="en-US" dirty="0"/>
              <a:t>three</a:t>
            </a:r>
            <a:r>
              <a:rPr lang="en-US" baseline="0" dirty="0"/>
              <a:t> main indicators for distribution system integrity performance.</a:t>
            </a:r>
          </a:p>
          <a:p>
            <a:endParaRPr lang="en-US" baseline="0" dirty="0"/>
          </a:p>
          <a:p>
            <a:r>
              <a:rPr lang="en-US" baseline="0" dirty="0"/>
              <a:t>Water Quality, particularly in regards to maintaining disinfectant residual, is a crucial optimization component in preserving distribution system integrity.</a:t>
            </a:r>
          </a:p>
          <a:p>
            <a:endParaRPr lang="en-US" baseline="0" dirty="0"/>
          </a:p>
          <a:p>
            <a:r>
              <a:rPr lang="en-US" baseline="0" dirty="0"/>
              <a:t>If all three integrity components are optimized, high water quality and system reliability can be enhanced.</a:t>
            </a:r>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53</a:t>
            </a:fld>
            <a:endParaRPr lang="en-US" dirty="0"/>
          </a:p>
        </p:txBody>
      </p:sp>
    </p:spTree>
    <p:extLst>
      <p:ext uri="{BB962C8B-B14F-4D97-AF65-F5344CB8AC3E}">
        <p14:creationId xmlns:p14="http://schemas.microsoft.com/office/powerpoint/2010/main" val="37094230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54</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55</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56</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57</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58</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59</a:t>
            </a:fld>
            <a:endParaRPr lang="en-US" dirty="0"/>
          </a:p>
        </p:txBody>
      </p:sp>
    </p:spTree>
    <p:extLst>
      <p:ext uri="{BB962C8B-B14F-4D97-AF65-F5344CB8AC3E}">
        <p14:creationId xmlns:p14="http://schemas.microsoft.com/office/powerpoint/2010/main" val="13401230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years of historic data</a:t>
            </a:r>
          </a:p>
          <a:p>
            <a:r>
              <a:rPr lang="en-US" dirty="0"/>
              <a:t>1998 PWD met the partnership</a:t>
            </a:r>
            <a:r>
              <a:rPr lang="en-US" baseline="0" dirty="0"/>
              <a:t> goal</a:t>
            </a:r>
          </a:p>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61</a:t>
            </a:fld>
            <a:endParaRPr lang="en-US" dirty="0"/>
          </a:p>
        </p:txBody>
      </p:sp>
    </p:spTree>
    <p:extLst>
      <p:ext uri="{BB962C8B-B14F-4D97-AF65-F5344CB8AC3E}">
        <p14:creationId xmlns:p14="http://schemas.microsoft.com/office/powerpoint/2010/main" val="20015001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indent="-113784">
              <a:spcBef>
                <a:spcPts val="202"/>
              </a:spcBef>
              <a:spcAft>
                <a:spcPts val="202"/>
              </a:spcAft>
            </a:pPr>
            <a:r>
              <a:rPr lang="en-US" sz="1900" dirty="0"/>
              <a:t>Failure Prone </a:t>
            </a:r>
            <a:r>
              <a:rPr lang="en-US" sz="1900" dirty="0" err="1"/>
              <a:t>Leadite</a:t>
            </a:r>
            <a:r>
              <a:rPr lang="en-US" sz="1900" dirty="0"/>
              <a:t> study - </a:t>
            </a:r>
          </a:p>
          <a:p>
            <a:pPr lvl="1" indent="-113784">
              <a:spcBef>
                <a:spcPts val="202"/>
              </a:spcBef>
              <a:spcAft>
                <a:spcPts val="202"/>
              </a:spcAft>
            </a:pPr>
            <a:r>
              <a:rPr lang="en-US" sz="1900" dirty="0"/>
              <a:t>	103 miles identified,17 miles in Open Projects (End of FY2014)</a:t>
            </a:r>
          </a:p>
          <a:p>
            <a:pPr lvl="1" indent="-113784">
              <a:spcBef>
                <a:spcPts val="202"/>
              </a:spcBef>
              <a:spcAft>
                <a:spcPts val="202"/>
              </a:spcAft>
            </a:pPr>
            <a:r>
              <a:rPr lang="en-US" sz="1900" dirty="0"/>
              <a:t>	Package projects to remove </a:t>
            </a:r>
            <a:r>
              <a:rPr lang="en-US" sz="1900" dirty="0" err="1"/>
              <a:t>leadite</a:t>
            </a:r>
            <a:r>
              <a:rPr lang="en-US" sz="1900" dirty="0"/>
              <a:t> joints</a:t>
            </a:r>
          </a:p>
          <a:p>
            <a:endParaRPr lang="en-US" dirty="0"/>
          </a:p>
        </p:txBody>
      </p:sp>
      <p:sp>
        <p:nvSpPr>
          <p:cNvPr id="4" name="Slide Number Placeholder 3"/>
          <p:cNvSpPr>
            <a:spLocks noGrp="1"/>
          </p:cNvSpPr>
          <p:nvPr>
            <p:ph type="sldNum" sz="quarter" idx="10"/>
          </p:nvPr>
        </p:nvSpPr>
        <p:spPr/>
        <p:txBody>
          <a:bodyPr/>
          <a:lstStyle/>
          <a:p>
            <a:pPr>
              <a:defRPr/>
            </a:pPr>
            <a:fld id="{08210311-A248-4C63-9C92-E07A4B063B54}" type="slidenum">
              <a:rPr lang="en-US" smtClean="0"/>
              <a:pPr>
                <a:defRPr/>
              </a:pPr>
              <a:t>63</a:t>
            </a:fld>
            <a:endParaRPr lang="en-US" dirty="0"/>
          </a:p>
        </p:txBody>
      </p:sp>
    </p:spTree>
    <p:extLst>
      <p:ext uri="{BB962C8B-B14F-4D97-AF65-F5344CB8AC3E}">
        <p14:creationId xmlns:p14="http://schemas.microsoft.com/office/powerpoint/2010/main" val="3925562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0825" cy="6850063"/>
            <a:chOff x="0" y="0"/>
            <a:chExt cx="5758" cy="4315"/>
          </a:xfrm>
        </p:grpSpPr>
        <p:grpSp>
          <p:nvGrpSpPr>
            <p:cNvPr id="5" name="Group 3"/>
            <p:cNvGrpSpPr>
              <a:grpSpLocks/>
            </p:cNvGrpSpPr>
            <p:nvPr userDrawn="1"/>
          </p:nvGrpSpPr>
          <p:grpSpPr bwMode="auto">
            <a:xfrm>
              <a:off x="1728" y="2230"/>
              <a:ext cx="4027" cy="2085"/>
              <a:chOff x="1728" y="2230"/>
              <a:chExt cx="4027" cy="2085"/>
            </a:xfrm>
          </p:grpSpPr>
          <p:sp>
            <p:nvSpPr>
              <p:cNvPr id="8" name="Freeform 4"/>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pPr>
                  <a:defRPr/>
                </a:pPr>
                <a:endParaRPr lang="en-US" dirty="0"/>
              </a:p>
            </p:txBody>
          </p:sp>
          <p:sp>
            <p:nvSpPr>
              <p:cNvPr id="9" name="Freeform 5"/>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pPr>
                  <a:defRPr/>
                </a:pPr>
                <a:endParaRPr lang="en-US" dirty="0"/>
              </a:p>
            </p:txBody>
          </p:sp>
          <p:sp>
            <p:nvSpPr>
              <p:cNvPr id="10" name="Freeform 6"/>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pPr>
                  <a:defRPr/>
                </a:pPr>
                <a:endParaRPr lang="en-US" dirty="0"/>
              </a:p>
            </p:txBody>
          </p:sp>
          <p:sp>
            <p:nvSpPr>
              <p:cNvPr id="11" name="Freeform 7"/>
              <p:cNvSpPr>
                <a:spLocks/>
              </p:cNvSpPr>
              <p:nvPr/>
            </p:nvSpPr>
            <p:spPr bwMode="hidden">
              <a:xfrm>
                <a:off x="2748" y="223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round/>
                <a:headEnd/>
                <a:tailEnd/>
              </a:ln>
            </p:spPr>
            <p:txBody>
              <a:bodyPr/>
              <a:lstStyle/>
              <a:p>
                <a:pPr>
                  <a:defRPr/>
                </a:pPr>
                <a:endParaRPr lang="en-US" dirty="0"/>
              </a:p>
            </p:txBody>
          </p:sp>
          <p:sp>
            <p:nvSpPr>
              <p:cNvPr id="12" name="Freeform 8"/>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pPr>
                  <a:defRPr/>
                </a:pPr>
                <a:endParaRPr lang="en-US" dirty="0"/>
              </a:p>
            </p:txBody>
          </p:sp>
        </p:grpSp>
        <p:sp>
          <p:nvSpPr>
            <p:cNvPr id="6" name="Freeform 9"/>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en-US" dirty="0"/>
            </a:p>
          </p:txBody>
        </p:sp>
        <p:sp>
          <p:nvSpPr>
            <p:cNvPr id="7" name="Freeform 10"/>
            <p:cNvSpPr>
              <a:spLocks/>
            </p:cNvSpPr>
            <p:nvPr/>
          </p:nvSpPr>
          <p:spPr bwMode="hidden">
            <a:xfrm>
              <a:off x="0" y="0"/>
              <a:ext cx="5758" cy="1776"/>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w="9525">
              <a:noFill/>
              <a:round/>
              <a:headEnd/>
              <a:tailEnd/>
            </a:ln>
          </p:spPr>
          <p:txBody>
            <a:bodyPr/>
            <a:lstStyle/>
            <a:p>
              <a:pPr>
                <a:defRPr/>
              </a:pPr>
              <a:endParaRPr lang="en-US" dirty="0"/>
            </a:p>
          </p:txBody>
        </p:sp>
      </p:grpSp>
      <p:sp>
        <p:nvSpPr>
          <p:cNvPr id="5131" name="Rectangle 11"/>
          <p:cNvSpPr>
            <a:spLocks noGrp="1" noChangeArrowheads="1"/>
          </p:cNvSpPr>
          <p:nvPr>
            <p:ph type="ctrTitle" sz="quarter"/>
          </p:nvPr>
        </p:nvSpPr>
        <p:spPr>
          <a:xfrm>
            <a:off x="685800" y="1736725"/>
            <a:ext cx="7772400" cy="1920875"/>
          </a:xfrm>
        </p:spPr>
        <p:txBody>
          <a:bodyPr/>
          <a:lstStyle>
            <a:lvl1pPr>
              <a:defRPr sz="6000"/>
            </a:lvl1pPr>
          </a:lstStyle>
          <a:p>
            <a:r>
              <a:rPr lang="en-US"/>
              <a:t>Click to edit Master title style</a:t>
            </a:r>
          </a:p>
        </p:txBody>
      </p:sp>
      <p:sp>
        <p:nvSpPr>
          <p:cNvPr id="5132" name="Rectangle 12"/>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Rectangle 13"/>
          <p:cNvSpPr>
            <a:spLocks noGrp="1" noChangeArrowheads="1"/>
          </p:cNvSpPr>
          <p:nvPr>
            <p:ph type="dt" sz="quarter" idx="10"/>
          </p:nvPr>
        </p:nvSpPr>
        <p:spPr>
          <a:xfrm>
            <a:off x="457200" y="6248400"/>
            <a:ext cx="2133600" cy="476250"/>
          </a:xfrm>
        </p:spPr>
        <p:txBody>
          <a:bodyPr/>
          <a:lstStyle>
            <a:lvl1pPr>
              <a:defRPr/>
            </a:lvl1pPr>
          </a:lstStyle>
          <a:p>
            <a:pPr>
              <a:defRPr/>
            </a:pPr>
            <a:endParaRPr lang="en-US" dirty="0"/>
          </a:p>
        </p:txBody>
      </p:sp>
      <p:sp>
        <p:nvSpPr>
          <p:cNvPr id="14" name="Rectangle 14"/>
          <p:cNvSpPr>
            <a:spLocks noGrp="1" noChangeArrowheads="1"/>
          </p:cNvSpPr>
          <p:nvPr>
            <p:ph type="ftr" sz="quarter" idx="11"/>
          </p:nvPr>
        </p:nvSpPr>
        <p:spPr>
          <a:xfrm>
            <a:off x="3124200" y="6251575"/>
            <a:ext cx="2895600" cy="476250"/>
          </a:xfrm>
        </p:spPr>
        <p:txBody>
          <a:bodyPr/>
          <a:lstStyle>
            <a:lvl1pPr>
              <a:defRPr/>
            </a:lvl1pPr>
          </a:lstStyle>
          <a:p>
            <a:pPr>
              <a:defRPr/>
            </a:pPr>
            <a:endParaRPr lang="en-US" dirty="0"/>
          </a:p>
        </p:txBody>
      </p:sp>
      <p:sp>
        <p:nvSpPr>
          <p:cNvPr id="15" name="Rectangle 15"/>
          <p:cNvSpPr>
            <a:spLocks noGrp="1" noChangeArrowheads="1"/>
          </p:cNvSpPr>
          <p:nvPr>
            <p:ph type="sldNum" sz="quarter" idx="12"/>
          </p:nvPr>
        </p:nvSpPr>
        <p:spPr>
          <a:xfrm>
            <a:off x="6553200" y="6254750"/>
            <a:ext cx="2133600" cy="476250"/>
          </a:xfrm>
        </p:spPr>
        <p:txBody>
          <a:bodyPr/>
          <a:lstStyle>
            <a:lvl1pPr>
              <a:defRPr/>
            </a:lvl1pPr>
          </a:lstStyle>
          <a:p>
            <a:pPr>
              <a:defRPr/>
            </a:pPr>
            <a:fld id="{EB20834C-8F4E-451E-B3B2-4B2E79563533}"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pPr>
              <a:defRPr/>
            </a:pPr>
            <a:endParaRPr lang="en-US" dirty="0"/>
          </a:p>
        </p:txBody>
      </p:sp>
      <p:sp>
        <p:nvSpPr>
          <p:cNvPr id="5" name="Rectangle 3"/>
          <p:cNvSpPr>
            <a:spLocks noGrp="1" noChangeArrowheads="1"/>
          </p:cNvSpPr>
          <p:nvPr>
            <p:ph type="sldNum" sz="quarter" idx="11"/>
          </p:nvPr>
        </p:nvSpPr>
        <p:spPr>
          <a:ln/>
        </p:spPr>
        <p:txBody>
          <a:bodyPr/>
          <a:lstStyle>
            <a:lvl1pPr>
              <a:defRPr/>
            </a:lvl1pPr>
          </a:lstStyle>
          <a:p>
            <a:pPr>
              <a:defRPr/>
            </a:pPr>
            <a:fld id="{8FAE88FC-E32D-4B9D-B659-9365252EBA14}" type="slidenum">
              <a:rPr lang="en-US"/>
              <a:pPr>
                <a:defRPr/>
              </a:pPr>
              <a:t>‹#›</a:t>
            </a:fld>
            <a:endParaRPr lang="en-US" dirty="0"/>
          </a:p>
        </p:txBody>
      </p:sp>
      <p:sp>
        <p:nvSpPr>
          <p:cNvPr id="6"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dt" sz="half" idx="10"/>
          </p:nvPr>
        </p:nvSpPr>
        <p:spPr>
          <a:ln/>
        </p:spPr>
        <p:txBody>
          <a:bodyPr/>
          <a:lstStyle>
            <a:lvl1pPr>
              <a:defRPr/>
            </a:lvl1pPr>
          </a:lstStyle>
          <a:p>
            <a:pPr>
              <a:defRPr/>
            </a:pPr>
            <a:endParaRPr lang="en-US" dirty="0"/>
          </a:p>
        </p:txBody>
      </p:sp>
      <p:sp>
        <p:nvSpPr>
          <p:cNvPr id="5" name="Rectangle 3"/>
          <p:cNvSpPr>
            <a:spLocks noGrp="1" noChangeArrowheads="1"/>
          </p:cNvSpPr>
          <p:nvPr>
            <p:ph type="sldNum" sz="quarter" idx="11"/>
          </p:nvPr>
        </p:nvSpPr>
        <p:spPr>
          <a:ln/>
        </p:spPr>
        <p:txBody>
          <a:bodyPr/>
          <a:lstStyle>
            <a:lvl1pPr>
              <a:defRPr/>
            </a:lvl1pPr>
          </a:lstStyle>
          <a:p>
            <a:pPr>
              <a:defRPr/>
            </a:pPr>
            <a:fld id="{C0A85995-863E-426A-8520-C3A9B9948E13}" type="slidenum">
              <a:rPr lang="en-US"/>
              <a:pPr>
                <a:defRPr/>
              </a:pPr>
              <a:t>‹#›</a:t>
            </a:fld>
            <a:endParaRPr lang="en-US" dirty="0"/>
          </a:p>
        </p:txBody>
      </p:sp>
      <p:sp>
        <p:nvSpPr>
          <p:cNvPr id="6"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dt" sz="half" idx="10"/>
          </p:nvPr>
        </p:nvSpPr>
        <p:spPr>
          <a:ln/>
        </p:spPr>
        <p:txBody>
          <a:bodyPr/>
          <a:lstStyle>
            <a:lvl1pPr>
              <a:defRPr/>
            </a:lvl1pPr>
          </a:lstStyle>
          <a:p>
            <a:pPr>
              <a:defRPr/>
            </a:pPr>
            <a:endParaRPr lang="en-US" dirty="0"/>
          </a:p>
        </p:txBody>
      </p:sp>
      <p:sp>
        <p:nvSpPr>
          <p:cNvPr id="6" name="Rectangle 3"/>
          <p:cNvSpPr>
            <a:spLocks noGrp="1" noChangeArrowheads="1"/>
          </p:cNvSpPr>
          <p:nvPr>
            <p:ph type="sldNum" sz="quarter" idx="11"/>
          </p:nvPr>
        </p:nvSpPr>
        <p:spPr>
          <a:ln/>
        </p:spPr>
        <p:txBody>
          <a:bodyPr/>
          <a:lstStyle>
            <a:lvl1pPr>
              <a:defRPr/>
            </a:lvl1pPr>
          </a:lstStyle>
          <a:p>
            <a:pPr>
              <a:defRPr/>
            </a:pPr>
            <a:fld id="{BA97A52C-6FA4-4CDC-AD9A-AD620838FD3F}" type="slidenum">
              <a:rPr lang="en-US"/>
              <a:pPr>
                <a:defRPr/>
              </a:pPr>
              <a:t>‹#›</a:t>
            </a:fld>
            <a:endParaRPr lang="en-US" dirty="0"/>
          </a:p>
        </p:txBody>
      </p:sp>
      <p:sp>
        <p:nvSpPr>
          <p:cNvPr id="7"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dt" sz="half" idx="10"/>
          </p:nvPr>
        </p:nvSpPr>
        <p:spPr>
          <a:ln/>
        </p:spPr>
        <p:txBody>
          <a:bodyPr/>
          <a:lstStyle>
            <a:lvl1pPr>
              <a:defRPr/>
            </a:lvl1pPr>
          </a:lstStyle>
          <a:p>
            <a:pPr>
              <a:defRPr/>
            </a:pPr>
            <a:endParaRPr lang="en-US" dirty="0"/>
          </a:p>
        </p:txBody>
      </p:sp>
      <p:sp>
        <p:nvSpPr>
          <p:cNvPr id="8" name="Rectangle 3"/>
          <p:cNvSpPr>
            <a:spLocks noGrp="1" noChangeArrowheads="1"/>
          </p:cNvSpPr>
          <p:nvPr>
            <p:ph type="sldNum" sz="quarter" idx="11"/>
          </p:nvPr>
        </p:nvSpPr>
        <p:spPr>
          <a:ln/>
        </p:spPr>
        <p:txBody>
          <a:bodyPr/>
          <a:lstStyle>
            <a:lvl1pPr>
              <a:defRPr/>
            </a:lvl1pPr>
          </a:lstStyle>
          <a:p>
            <a:pPr>
              <a:defRPr/>
            </a:pPr>
            <a:fld id="{332077F8-5B3E-411F-AEB3-099A610CB9F8}" type="slidenum">
              <a:rPr lang="en-US"/>
              <a:pPr>
                <a:defRPr/>
              </a:pPr>
              <a:t>‹#›</a:t>
            </a:fld>
            <a:endParaRPr lang="en-US" dirty="0"/>
          </a:p>
        </p:txBody>
      </p:sp>
      <p:sp>
        <p:nvSpPr>
          <p:cNvPr id="9"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dt" sz="half" idx="10"/>
          </p:nvPr>
        </p:nvSpPr>
        <p:spPr>
          <a:ln/>
        </p:spPr>
        <p:txBody>
          <a:bodyPr/>
          <a:lstStyle>
            <a:lvl1pPr>
              <a:defRPr/>
            </a:lvl1pPr>
          </a:lstStyle>
          <a:p>
            <a:pPr>
              <a:defRPr/>
            </a:pPr>
            <a:endParaRPr lang="en-US" dirty="0"/>
          </a:p>
        </p:txBody>
      </p:sp>
      <p:sp>
        <p:nvSpPr>
          <p:cNvPr id="4" name="Rectangle 3"/>
          <p:cNvSpPr>
            <a:spLocks noGrp="1" noChangeArrowheads="1"/>
          </p:cNvSpPr>
          <p:nvPr>
            <p:ph type="sldNum" sz="quarter" idx="11"/>
          </p:nvPr>
        </p:nvSpPr>
        <p:spPr>
          <a:ln/>
        </p:spPr>
        <p:txBody>
          <a:bodyPr/>
          <a:lstStyle>
            <a:lvl1pPr>
              <a:defRPr/>
            </a:lvl1pPr>
          </a:lstStyle>
          <a:p>
            <a:pPr>
              <a:defRPr/>
            </a:pPr>
            <a:fld id="{9DAB8C61-3092-48D6-B6A0-1163B9FEB8D2}" type="slidenum">
              <a:rPr lang="en-US"/>
              <a:pPr>
                <a:defRPr/>
              </a:pPr>
              <a:t>‹#›</a:t>
            </a:fld>
            <a:endParaRPr lang="en-US" dirty="0"/>
          </a:p>
        </p:txBody>
      </p:sp>
      <p:sp>
        <p:nvSpPr>
          <p:cNvPr id="5"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dirty="0"/>
          </a:p>
        </p:txBody>
      </p:sp>
      <p:sp>
        <p:nvSpPr>
          <p:cNvPr id="3" name="Rectangle 3"/>
          <p:cNvSpPr>
            <a:spLocks noGrp="1" noChangeArrowheads="1"/>
          </p:cNvSpPr>
          <p:nvPr>
            <p:ph type="sldNum" sz="quarter" idx="11"/>
          </p:nvPr>
        </p:nvSpPr>
        <p:spPr>
          <a:ln/>
        </p:spPr>
        <p:txBody>
          <a:bodyPr/>
          <a:lstStyle>
            <a:lvl1pPr>
              <a:defRPr/>
            </a:lvl1pPr>
          </a:lstStyle>
          <a:p>
            <a:pPr>
              <a:defRPr/>
            </a:pPr>
            <a:fld id="{1EADB195-B821-4C68-A333-1FF8A49889A1}" type="slidenum">
              <a:rPr lang="en-US"/>
              <a:pPr>
                <a:defRPr/>
              </a:pPr>
              <a:t>‹#›</a:t>
            </a:fld>
            <a:endParaRPr lang="en-US" dirty="0"/>
          </a:p>
        </p:txBody>
      </p:sp>
      <p:sp>
        <p:nvSpPr>
          <p:cNvPr id="4"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a:ln/>
        </p:spPr>
        <p:txBody>
          <a:bodyPr/>
          <a:lstStyle>
            <a:lvl1pPr>
              <a:defRPr/>
            </a:lvl1pPr>
          </a:lstStyle>
          <a:p>
            <a:pPr>
              <a:defRPr/>
            </a:pPr>
            <a:endParaRPr lang="en-US" dirty="0"/>
          </a:p>
        </p:txBody>
      </p:sp>
      <p:sp>
        <p:nvSpPr>
          <p:cNvPr id="6" name="Rectangle 3"/>
          <p:cNvSpPr>
            <a:spLocks noGrp="1" noChangeArrowheads="1"/>
          </p:cNvSpPr>
          <p:nvPr>
            <p:ph type="sldNum" sz="quarter" idx="11"/>
          </p:nvPr>
        </p:nvSpPr>
        <p:spPr>
          <a:ln/>
        </p:spPr>
        <p:txBody>
          <a:bodyPr/>
          <a:lstStyle>
            <a:lvl1pPr>
              <a:defRPr/>
            </a:lvl1pPr>
          </a:lstStyle>
          <a:p>
            <a:pPr>
              <a:defRPr/>
            </a:pPr>
            <a:fld id="{1D07AE98-61A1-4F22-AF07-48EA04776C75}" type="slidenum">
              <a:rPr lang="en-US"/>
              <a:pPr>
                <a:defRPr/>
              </a:pPr>
              <a:t>‹#›</a:t>
            </a:fld>
            <a:endParaRPr lang="en-US" dirty="0"/>
          </a:p>
        </p:txBody>
      </p:sp>
      <p:sp>
        <p:nvSpPr>
          <p:cNvPr id="7"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a:ln/>
        </p:spPr>
        <p:txBody>
          <a:bodyPr/>
          <a:lstStyle>
            <a:lvl1pPr>
              <a:defRPr/>
            </a:lvl1pPr>
          </a:lstStyle>
          <a:p>
            <a:pPr>
              <a:defRPr/>
            </a:pPr>
            <a:endParaRPr lang="en-US" dirty="0"/>
          </a:p>
        </p:txBody>
      </p:sp>
      <p:sp>
        <p:nvSpPr>
          <p:cNvPr id="6" name="Rectangle 3"/>
          <p:cNvSpPr>
            <a:spLocks noGrp="1" noChangeArrowheads="1"/>
          </p:cNvSpPr>
          <p:nvPr>
            <p:ph type="sldNum" sz="quarter" idx="11"/>
          </p:nvPr>
        </p:nvSpPr>
        <p:spPr>
          <a:ln/>
        </p:spPr>
        <p:txBody>
          <a:bodyPr/>
          <a:lstStyle>
            <a:lvl1pPr>
              <a:defRPr/>
            </a:lvl1pPr>
          </a:lstStyle>
          <a:p>
            <a:pPr>
              <a:defRPr/>
            </a:pPr>
            <a:fld id="{CE79585B-A594-44FE-8809-B4122256326B}" type="slidenum">
              <a:rPr lang="en-US"/>
              <a:pPr>
                <a:defRPr/>
              </a:pPr>
              <a:t>‹#›</a:t>
            </a:fld>
            <a:endParaRPr lang="en-US" dirty="0"/>
          </a:p>
        </p:txBody>
      </p:sp>
      <p:sp>
        <p:nvSpPr>
          <p:cNvPr id="7"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pPr>
              <a:defRPr/>
            </a:pPr>
            <a:endParaRPr lang="en-US" dirty="0"/>
          </a:p>
        </p:txBody>
      </p:sp>
      <p:sp>
        <p:nvSpPr>
          <p:cNvPr id="5" name="Rectangle 3"/>
          <p:cNvSpPr>
            <a:spLocks noGrp="1" noChangeArrowheads="1"/>
          </p:cNvSpPr>
          <p:nvPr>
            <p:ph type="sldNum" sz="quarter" idx="11"/>
          </p:nvPr>
        </p:nvSpPr>
        <p:spPr>
          <a:ln/>
        </p:spPr>
        <p:txBody>
          <a:bodyPr/>
          <a:lstStyle>
            <a:lvl1pPr>
              <a:defRPr/>
            </a:lvl1pPr>
          </a:lstStyle>
          <a:p>
            <a:pPr>
              <a:defRPr/>
            </a:pPr>
            <a:fld id="{1AD0F80B-6929-4081-8462-64AFE090122D}" type="slidenum">
              <a:rPr lang="en-US"/>
              <a:pPr>
                <a:defRPr/>
              </a:pPr>
              <a:t>‹#›</a:t>
            </a:fld>
            <a:endParaRPr lang="en-US" dirty="0"/>
          </a:p>
        </p:txBody>
      </p:sp>
      <p:sp>
        <p:nvSpPr>
          <p:cNvPr id="6"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pPr>
              <a:defRPr/>
            </a:pPr>
            <a:endParaRPr lang="en-US" dirty="0"/>
          </a:p>
        </p:txBody>
      </p:sp>
      <p:sp>
        <p:nvSpPr>
          <p:cNvPr id="5" name="Rectangle 3"/>
          <p:cNvSpPr>
            <a:spLocks noGrp="1" noChangeArrowheads="1"/>
          </p:cNvSpPr>
          <p:nvPr>
            <p:ph type="sldNum" sz="quarter" idx="11"/>
          </p:nvPr>
        </p:nvSpPr>
        <p:spPr>
          <a:ln/>
        </p:spPr>
        <p:txBody>
          <a:bodyPr/>
          <a:lstStyle>
            <a:lvl1pPr>
              <a:defRPr/>
            </a:lvl1pPr>
          </a:lstStyle>
          <a:p>
            <a:pPr>
              <a:defRPr/>
            </a:pPr>
            <a:fld id="{F5A61278-2390-45C9-B8A6-16A763FE454D}" type="slidenum">
              <a:rPr lang="en-US"/>
              <a:pPr>
                <a:defRPr/>
              </a:pPr>
              <a:t>‹#›</a:t>
            </a:fld>
            <a:endParaRPr lang="en-US" dirty="0"/>
          </a:p>
        </p:txBody>
      </p:sp>
      <p:sp>
        <p:nvSpPr>
          <p:cNvPr id="6"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dt" sz="half" idx="10"/>
          </p:nvPr>
        </p:nvSpPr>
        <p:spPr>
          <a:ln/>
        </p:spPr>
        <p:txBody>
          <a:bodyPr/>
          <a:lstStyle>
            <a:lvl1pPr>
              <a:defRPr/>
            </a:lvl1pPr>
          </a:lstStyle>
          <a:p>
            <a:pPr>
              <a:defRPr/>
            </a:pPr>
            <a:endParaRPr lang="en-US" dirty="0"/>
          </a:p>
        </p:txBody>
      </p:sp>
      <p:sp>
        <p:nvSpPr>
          <p:cNvPr id="6" name="Rectangle 3"/>
          <p:cNvSpPr>
            <a:spLocks noGrp="1" noChangeArrowheads="1"/>
          </p:cNvSpPr>
          <p:nvPr>
            <p:ph type="sldNum" sz="quarter" idx="11"/>
          </p:nvPr>
        </p:nvSpPr>
        <p:spPr>
          <a:ln/>
        </p:spPr>
        <p:txBody>
          <a:bodyPr/>
          <a:lstStyle>
            <a:lvl1pPr>
              <a:defRPr/>
            </a:lvl1pPr>
          </a:lstStyle>
          <a:p>
            <a:pPr>
              <a:defRPr/>
            </a:pPr>
            <a:fld id="{D72C9F22-CEE3-4F9B-B283-6069B004924F}" type="slidenum">
              <a:rPr lang="en-US"/>
              <a:pPr>
                <a:defRPr/>
              </a:pPr>
              <a:t>‹#›</a:t>
            </a:fld>
            <a:endParaRPr lang="en-US" dirty="0"/>
          </a:p>
        </p:txBody>
      </p:sp>
      <p:sp>
        <p:nvSpPr>
          <p:cNvPr id="7" name="Rectangle 14"/>
          <p:cNvSpPr>
            <a:spLocks noGrp="1" noChangeArrowheads="1"/>
          </p:cNvSpPr>
          <p:nvPr>
            <p:ph type="ftr" sz="quarter" idx="12"/>
          </p:nvPr>
        </p:nvSpPr>
        <p:spPr>
          <a:ln/>
        </p:spPr>
        <p:txBody>
          <a:bodyPr/>
          <a:lstStyle>
            <a:lvl1pPr>
              <a:defRPr/>
            </a:lvl1pPr>
          </a:lstStyle>
          <a:p>
            <a:pPr>
              <a:defRPr/>
            </a:pP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a:prstGeom prst="rect">
            <a:avLst/>
          </a:prstGeom>
        </p:spPr>
        <p:txBody>
          <a:body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637C6685-B5BE-438A-B89C-728DDB729E90}" type="datetimeFigureOut">
              <a:rPr lang="en-US"/>
              <a:pPr>
                <a:defRPr/>
              </a:pPr>
              <a:t>6/8/2026</a:t>
            </a:fld>
            <a:endParaRPr lang="en-US" dirty="0"/>
          </a:p>
        </p:txBody>
      </p:sp>
      <p:sp>
        <p:nvSpPr>
          <p:cNvPr id="4" name="Slide Number Placeholder 5"/>
          <p:cNvSpPr>
            <a:spLocks noGrp="1"/>
          </p:cNvSpPr>
          <p:nvPr>
            <p:ph type="sldNum" sz="quarter" idx="11"/>
          </p:nvPr>
        </p:nvSpPr>
        <p:spPr/>
        <p:txBody>
          <a:bodyPr/>
          <a:lstStyle>
            <a:lvl1pPr>
              <a:defRPr/>
            </a:lvl1pPr>
          </a:lstStyle>
          <a:p>
            <a:pPr>
              <a:defRPr/>
            </a:pPr>
            <a:fld id="{6287F86C-43B4-423A-AB9F-DC5B1B9566B0}" type="slidenum">
              <a:rPr lang="en-US"/>
              <a:pPr>
                <a:defRPr/>
              </a:pPr>
              <a:t>‹#›</a:t>
            </a:fld>
            <a:endParaRPr lang="en-US" dirty="0"/>
          </a:p>
        </p:txBody>
      </p:sp>
      <p:sp>
        <p:nvSpPr>
          <p:cNvPr id="5" name="TextBox 4"/>
          <p:cNvSpPr txBox="1"/>
          <p:nvPr userDrawn="1"/>
        </p:nvSpPr>
        <p:spPr>
          <a:xfrm>
            <a:off x="389467" y="6375400"/>
            <a:ext cx="635000" cy="246888"/>
          </a:xfrm>
          <a:prstGeom prst="rect">
            <a:avLst/>
          </a:prstGeom>
          <a:solidFill>
            <a:srgbClr val="46AAD2"/>
          </a:solidFill>
        </p:spPr>
        <p:txBody>
          <a:bodyPr wrap="square" rtlCol="0">
            <a:spAutoFit/>
          </a:bodyPr>
          <a:lstStyle/>
          <a:p>
            <a:endParaRPr lang="en-US" dirty="0"/>
          </a:p>
        </p:txBody>
      </p:sp>
    </p:spTree>
    <p:extLst>
      <p:ext uri="{BB962C8B-B14F-4D97-AF65-F5344CB8AC3E}">
        <p14:creationId xmlns:p14="http://schemas.microsoft.com/office/powerpoint/2010/main" val="2306150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dt" sz="half" idx="2"/>
          </p:nvPr>
        </p:nvSpPr>
        <p:spPr bwMode="auto">
          <a:xfrm>
            <a:off x="457200" y="625157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dirty="0"/>
          </a:p>
        </p:txBody>
      </p:sp>
      <p:sp>
        <p:nvSpPr>
          <p:cNvPr id="4099" name="Rectangle 3"/>
          <p:cNvSpPr>
            <a:spLocks noGrp="1" noChangeArrowheads="1"/>
          </p:cNvSpPr>
          <p:nvPr>
            <p:ph type="sldNum" sz="quarter" idx="4"/>
          </p:nvPr>
        </p:nvSpPr>
        <p:spPr bwMode="auto">
          <a:xfrm>
            <a:off x="6553200" y="6248400"/>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3405DFF0-9C33-4335-8E27-E845AAB0F90C}" type="slidenum">
              <a:rPr lang="en-US"/>
              <a:pPr>
                <a:defRPr/>
              </a:pPr>
              <a:t>‹#›</a:t>
            </a:fld>
            <a:endParaRPr lang="en-US" dirty="0"/>
          </a:p>
        </p:txBody>
      </p:sp>
      <p:grpSp>
        <p:nvGrpSpPr>
          <p:cNvPr id="1028" name="Group 4"/>
          <p:cNvGrpSpPr>
            <a:grpSpLocks/>
          </p:cNvGrpSpPr>
          <p:nvPr/>
        </p:nvGrpSpPr>
        <p:grpSpPr bwMode="auto">
          <a:xfrm>
            <a:off x="0" y="0"/>
            <a:ext cx="9140825" cy="6850063"/>
            <a:chOff x="0" y="0"/>
            <a:chExt cx="5758" cy="4315"/>
          </a:xfrm>
        </p:grpSpPr>
        <p:grpSp>
          <p:nvGrpSpPr>
            <p:cNvPr id="1032" name="Group 5"/>
            <p:cNvGrpSpPr>
              <a:grpSpLocks/>
            </p:cNvGrpSpPr>
            <p:nvPr userDrawn="1"/>
          </p:nvGrpSpPr>
          <p:grpSpPr bwMode="auto">
            <a:xfrm>
              <a:off x="1728" y="2230"/>
              <a:ext cx="4027" cy="2085"/>
              <a:chOff x="1728" y="2230"/>
              <a:chExt cx="4027" cy="2085"/>
            </a:xfrm>
          </p:grpSpPr>
          <p:sp>
            <p:nvSpPr>
              <p:cNvPr id="4102" name="Freeform 6"/>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pPr>
                  <a:defRPr/>
                </a:pPr>
                <a:endParaRPr lang="en-US" dirty="0"/>
              </a:p>
            </p:txBody>
          </p:sp>
          <p:sp>
            <p:nvSpPr>
              <p:cNvPr id="4103" name="Freeform 7"/>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pPr>
                  <a:defRPr/>
                </a:pPr>
                <a:endParaRPr lang="en-US" dirty="0"/>
              </a:p>
            </p:txBody>
          </p:sp>
          <p:sp>
            <p:nvSpPr>
              <p:cNvPr id="4104" name="Freeform 8"/>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pPr>
                  <a:defRPr/>
                </a:pPr>
                <a:endParaRPr lang="en-US" dirty="0"/>
              </a:p>
            </p:txBody>
          </p:sp>
          <p:sp>
            <p:nvSpPr>
              <p:cNvPr id="4105" name="Freeform 9"/>
              <p:cNvSpPr>
                <a:spLocks/>
              </p:cNvSpPr>
              <p:nvPr/>
            </p:nvSpPr>
            <p:spPr bwMode="hidden">
              <a:xfrm>
                <a:off x="2748" y="223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round/>
                <a:headEnd/>
                <a:tailEnd/>
              </a:ln>
            </p:spPr>
            <p:txBody>
              <a:bodyPr/>
              <a:lstStyle/>
              <a:p>
                <a:pPr>
                  <a:defRPr/>
                </a:pPr>
                <a:endParaRPr lang="en-US" dirty="0"/>
              </a:p>
            </p:txBody>
          </p:sp>
          <p:sp>
            <p:nvSpPr>
              <p:cNvPr id="4106" name="Freeform 10"/>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pPr>
                  <a:defRPr/>
                </a:pPr>
                <a:endParaRPr lang="en-US" dirty="0"/>
              </a:p>
            </p:txBody>
          </p:sp>
        </p:grpSp>
        <p:sp>
          <p:nvSpPr>
            <p:cNvPr id="4107" name="Freeform 11"/>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en-US" dirty="0"/>
            </a:p>
          </p:txBody>
        </p:sp>
        <p:sp>
          <p:nvSpPr>
            <p:cNvPr id="4108" name="Freeform 12"/>
            <p:cNvSpPr>
              <a:spLocks/>
            </p:cNvSpPr>
            <p:nvPr/>
          </p:nvSpPr>
          <p:spPr bwMode="hidden">
            <a:xfrm>
              <a:off x="0" y="0"/>
              <a:ext cx="5758" cy="1776"/>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w="9525">
              <a:noFill/>
              <a:round/>
              <a:headEnd/>
              <a:tailEnd/>
            </a:ln>
          </p:spPr>
          <p:txBody>
            <a:bodyPr/>
            <a:lstStyle/>
            <a:p>
              <a:pPr>
                <a:defRPr/>
              </a:pPr>
              <a:endParaRPr lang="en-US" dirty="0"/>
            </a:p>
          </p:txBody>
        </p:sp>
      </p:grpSp>
      <p:sp>
        <p:nvSpPr>
          <p:cNvPr id="4109" name="Rectangle 13"/>
          <p:cNvSpPr>
            <a:spLocks noGrp="1" noRot="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110" name="Rectangle 14"/>
          <p:cNvSpPr>
            <a:spLocks noGrp="1" noChangeArrowheads="1"/>
          </p:cNvSpPr>
          <p:nvPr>
            <p:ph type="ftr" sz="quarter" idx="3"/>
          </p:nvPr>
        </p:nvSpPr>
        <p:spPr bwMode="auto">
          <a:xfrm>
            <a:off x="3124200" y="6248400"/>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Arial" charset="0"/>
              </a:defRPr>
            </a:lvl1pPr>
          </a:lstStyle>
          <a:p>
            <a:pPr>
              <a:defRPr/>
            </a:pPr>
            <a:endParaRPr lang="en-US" dirty="0"/>
          </a:p>
        </p:txBody>
      </p:sp>
      <p:sp>
        <p:nvSpPr>
          <p:cNvPr id="4111" name="Rectangle 15"/>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62"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3" r:id="rId13"/>
  </p:sldLayoutIdLst>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9pPr>
    </p:titleStyle>
    <p:body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www.awwa.org/Resources/PartnershipForSafeWater.cfm?ItemNumber=3787&amp;navItemNumber=33969" TargetMode="Externa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hyperlink" Target="http://www.awwa.org/Resources/PartnershipDistribution.cfm?ItemNumber=51228&amp;navItemNumber=5123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www.awwa.org/Resources/PartnershipDistribution.cfm?ItemNumber=51228&amp;navItemNumber=51236"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mailto:blauer@awwa.org" TargetMode="External"/><Relationship Id="rId7" Type="http://schemas.openxmlformats.org/officeDocument/2006/relationships/image" Target="../media/image2.wmf"/><Relationship Id="rId2" Type="http://schemas.openxmlformats.org/officeDocument/2006/relationships/hyperlink" Target="http://www.partnershipforsafewater.org/" TargetMode="External"/><Relationship Id="rId1" Type="http://schemas.openxmlformats.org/officeDocument/2006/relationships/slideLayout" Target="../slideLayouts/slideLayout12.xml"/><Relationship Id="rId6" Type="http://schemas.openxmlformats.org/officeDocument/2006/relationships/oleObject" Target="../embeddings/oleObject2.bin"/><Relationship Id="rId5" Type="http://schemas.openxmlformats.org/officeDocument/2006/relationships/image" Target="../media/image14.wmf"/><Relationship Id="rId4" Type="http://schemas.openxmlformats.org/officeDocument/2006/relationships/hyperlink" Target="mailto:rdonnellypaawwa@aol.com"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9.tmp"/></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2"/>
          <p:cNvSpPr>
            <a:spLocks noGrp="1" noChangeArrowheads="1"/>
          </p:cNvSpPr>
          <p:nvPr>
            <p:ph type="ctrTitle"/>
          </p:nvPr>
        </p:nvSpPr>
        <p:spPr>
          <a:xfrm>
            <a:off x="304800" y="838200"/>
            <a:ext cx="8458200" cy="1920875"/>
          </a:xfrm>
        </p:spPr>
        <p:txBody>
          <a:bodyPr/>
          <a:lstStyle/>
          <a:p>
            <a:pPr eaLnBrk="1" hangingPunct="1"/>
            <a:r>
              <a:rPr lang="en-US" sz="4000" i="1" dirty="0">
                <a:solidFill>
                  <a:schemeClr val="hlink"/>
                </a:solidFill>
                <a:effectLst/>
                <a:latin typeface="Arial" charset="0"/>
              </a:rPr>
              <a:t>Partnership for Safe Water</a:t>
            </a:r>
            <a:br>
              <a:rPr lang="en-US" sz="4400" dirty="0">
                <a:solidFill>
                  <a:schemeClr val="hlink"/>
                </a:solidFill>
                <a:effectLst/>
                <a:latin typeface="Arial" charset="0"/>
              </a:rPr>
            </a:br>
            <a:r>
              <a:rPr lang="en-US" sz="5400" dirty="0">
                <a:solidFill>
                  <a:schemeClr val="hlink"/>
                </a:solidFill>
                <a:effectLst/>
                <a:latin typeface="Arial" charset="0"/>
              </a:rPr>
              <a:t>Distribution System Optimization Program</a:t>
            </a:r>
          </a:p>
        </p:txBody>
      </p:sp>
      <p:sp>
        <p:nvSpPr>
          <p:cNvPr id="2055" name="Rectangle 3"/>
          <p:cNvSpPr>
            <a:spLocks noGrp="1" noChangeArrowheads="1"/>
          </p:cNvSpPr>
          <p:nvPr>
            <p:ph type="subTitle" idx="1"/>
          </p:nvPr>
        </p:nvSpPr>
        <p:spPr>
          <a:xfrm>
            <a:off x="1371600" y="2819400"/>
            <a:ext cx="6400800" cy="914400"/>
          </a:xfrm>
        </p:spPr>
        <p:txBody>
          <a:bodyPr/>
          <a:lstStyle/>
          <a:p>
            <a:pPr eaLnBrk="1" hangingPunct="1"/>
            <a:r>
              <a:rPr lang="en-US" sz="4000" b="1" i="1" dirty="0">
                <a:solidFill>
                  <a:schemeClr val="hlink"/>
                </a:solidFill>
                <a:effectLst/>
                <a:latin typeface="Arial" charset="0"/>
              </a:rPr>
              <a:t>PWD Program</a:t>
            </a:r>
            <a:r>
              <a:rPr lang="en-US" sz="4000" dirty="0">
                <a:solidFill>
                  <a:schemeClr val="hlink"/>
                </a:solidFill>
                <a:effectLst/>
                <a:latin typeface="Arial" charset="0"/>
              </a:rPr>
              <a:t> </a:t>
            </a:r>
          </a:p>
        </p:txBody>
      </p:sp>
      <p:pic>
        <p:nvPicPr>
          <p:cNvPr id="2056" name="Picture 4"/>
          <p:cNvPicPr>
            <a:picLocks noChangeAspect="1" noChangeArrowheads="1"/>
          </p:cNvPicPr>
          <p:nvPr/>
        </p:nvPicPr>
        <p:blipFill>
          <a:blip r:embed="rId2"/>
          <a:srcRect/>
          <a:stretch>
            <a:fillRect/>
          </a:stretch>
        </p:blipFill>
        <p:spPr bwMode="auto">
          <a:xfrm>
            <a:off x="1295400" y="4267200"/>
            <a:ext cx="2139950" cy="2286000"/>
          </a:xfrm>
          <a:prstGeom prst="rect">
            <a:avLst/>
          </a:prstGeom>
          <a:noFill/>
          <a:ln w="9525">
            <a:noFill/>
            <a:miter lim="800000"/>
            <a:headEnd/>
            <a:tailEnd/>
          </a:ln>
        </p:spPr>
      </p:pic>
      <p:graphicFrame>
        <p:nvGraphicFramePr>
          <p:cNvPr id="2053" name="Object 5"/>
          <p:cNvGraphicFramePr>
            <a:graphicFrameLocks noChangeAspect="1"/>
          </p:cNvGraphicFramePr>
          <p:nvPr/>
        </p:nvGraphicFramePr>
        <p:xfrm>
          <a:off x="5029200" y="4572000"/>
          <a:ext cx="2833688" cy="1684338"/>
        </p:xfrm>
        <a:graphic>
          <a:graphicData uri="http://schemas.openxmlformats.org/presentationml/2006/ole">
            <mc:AlternateContent xmlns:mc="http://schemas.openxmlformats.org/markup-compatibility/2006">
              <mc:Choice xmlns:v="urn:schemas-microsoft-com:vml" Requires="v">
                <p:oleObj name="Document" r:id="rId3" imgW="2257920" imgH="1341360" progId="Word.Document.8">
                  <p:embed/>
                </p:oleObj>
              </mc:Choice>
              <mc:Fallback>
                <p:oleObj name="Document" r:id="rId3" imgW="2257920" imgH="1341360" progId="Word.Document.8">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4572000"/>
                        <a:ext cx="2833688"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038"/>
            <a:ext cx="8229600" cy="1096962"/>
          </a:xfrm>
        </p:spPr>
        <p:txBody>
          <a:bodyPr/>
          <a:lstStyle/>
          <a:p>
            <a:br>
              <a:rPr lang="en-US" b="0" dirty="0"/>
            </a:br>
            <a:br>
              <a:rPr lang="en-US" sz="4000" dirty="0">
                <a:effectLst/>
                <a:latin typeface="+mn-lt"/>
              </a:rPr>
            </a:br>
            <a:r>
              <a:rPr lang="en-US" sz="4000" dirty="0">
                <a:solidFill>
                  <a:srgbClr val="FFC000"/>
                </a:solidFill>
                <a:effectLst/>
                <a:latin typeface="Arial" pitchFamily="34" charset="0"/>
                <a:cs typeface="Arial" pitchFamily="34" charset="0"/>
              </a:rPr>
              <a:t>Briefing Agenda</a:t>
            </a:r>
            <a:br>
              <a:rPr lang="en-US" sz="4000" dirty="0">
                <a:effectLst/>
                <a:latin typeface="+mn-lt"/>
              </a:rPr>
            </a:br>
            <a:br>
              <a:rPr lang="en-US" b="0" dirty="0"/>
            </a:br>
            <a:endParaRPr lang="en-US" dirty="0"/>
          </a:p>
        </p:txBody>
      </p:sp>
      <p:sp>
        <p:nvSpPr>
          <p:cNvPr id="3" name="Content Placeholder 2"/>
          <p:cNvSpPr>
            <a:spLocks noGrp="1"/>
          </p:cNvSpPr>
          <p:nvPr>
            <p:ph idx="1"/>
          </p:nvPr>
        </p:nvSpPr>
        <p:spPr>
          <a:xfrm>
            <a:off x="228600" y="937418"/>
            <a:ext cx="8763000" cy="5387182"/>
          </a:xfrm>
        </p:spPr>
        <p:txBody>
          <a:bodyPr/>
          <a:lstStyle/>
          <a:p>
            <a:pPr lvl="0"/>
            <a:r>
              <a:rPr lang="en-US" sz="2800" dirty="0">
                <a:effectLst/>
              </a:rPr>
              <a:t>Overview </a:t>
            </a:r>
          </a:p>
          <a:p>
            <a:pPr lvl="1"/>
            <a:r>
              <a:rPr lang="en-US" sz="2200" dirty="0">
                <a:effectLst/>
              </a:rPr>
              <a:t>Charlie </a:t>
            </a:r>
            <a:r>
              <a:rPr lang="en-US" sz="2200" dirty="0" err="1">
                <a:effectLst/>
              </a:rPr>
              <a:t>Zitomer</a:t>
            </a:r>
            <a:endParaRPr lang="en-US" sz="2200" dirty="0">
              <a:effectLst/>
            </a:endParaRPr>
          </a:p>
          <a:p>
            <a:pPr lvl="0"/>
            <a:r>
              <a:rPr lang="en-US" sz="2800" dirty="0">
                <a:effectLst/>
              </a:rPr>
              <a:t>Phase 2 Annual Submittal</a:t>
            </a:r>
          </a:p>
          <a:p>
            <a:pPr lvl="1"/>
            <a:r>
              <a:rPr lang="en-US" sz="2200" dirty="0">
                <a:effectLst/>
              </a:rPr>
              <a:t>Brendan Reilly - Overview of Phase 2 report, pressure (reporting anomalies) and main break data</a:t>
            </a:r>
          </a:p>
          <a:p>
            <a:pPr lvl="1"/>
            <a:r>
              <a:rPr lang="en-US" sz="2200" dirty="0">
                <a:effectLst/>
              </a:rPr>
              <a:t>Dennis O’Connor - Cl</a:t>
            </a:r>
            <a:r>
              <a:rPr lang="en-US" sz="2200" baseline="-25000" dirty="0">
                <a:effectLst/>
              </a:rPr>
              <a:t>2</a:t>
            </a:r>
            <a:r>
              <a:rPr lang="en-US" sz="2200" dirty="0">
                <a:effectLst/>
              </a:rPr>
              <a:t> residual trend, activities and reporting software anomalies.</a:t>
            </a:r>
          </a:p>
          <a:p>
            <a:pPr lvl="0"/>
            <a:r>
              <a:rPr lang="en-US" sz="2800" dirty="0">
                <a:effectLst/>
              </a:rPr>
              <a:t>Phase 3 Self-assessment </a:t>
            </a:r>
          </a:p>
          <a:p>
            <a:pPr lvl="1"/>
            <a:r>
              <a:rPr lang="en-US" sz="2200" dirty="0">
                <a:effectLst/>
              </a:rPr>
              <a:t>Rita </a:t>
            </a:r>
            <a:r>
              <a:rPr lang="en-US" sz="2200" dirty="0" err="1">
                <a:effectLst/>
              </a:rPr>
              <a:t>Kopansky</a:t>
            </a:r>
            <a:r>
              <a:rPr lang="en-US" sz="2200" dirty="0">
                <a:effectLst/>
              </a:rPr>
              <a:t> - PLF, PI</a:t>
            </a:r>
            <a:r>
              <a:rPr lang="en-US" sz="2200" baseline="30000" dirty="0">
                <a:effectLst/>
              </a:rPr>
              <a:t>2</a:t>
            </a:r>
            <a:r>
              <a:rPr lang="en-US" sz="2200" dirty="0">
                <a:effectLst/>
              </a:rPr>
              <a:t> and Partnership &amp; </a:t>
            </a:r>
            <a:r>
              <a:rPr lang="en-US" sz="2200" dirty="0" err="1">
                <a:effectLst/>
              </a:rPr>
              <a:t>PaDEP</a:t>
            </a:r>
            <a:r>
              <a:rPr lang="en-US" sz="2200" dirty="0">
                <a:effectLst/>
              </a:rPr>
              <a:t> Reporting of Disinfectant Residual</a:t>
            </a:r>
          </a:p>
          <a:p>
            <a:pPr lvl="1"/>
            <a:r>
              <a:rPr lang="en-US" sz="2200" dirty="0">
                <a:effectLst/>
              </a:rPr>
              <a:t>Joe Yeager - Interview process and summary sheets for steering committee to vet and approve</a:t>
            </a:r>
          </a:p>
          <a:p>
            <a:pPr lvl="1"/>
            <a:r>
              <a:rPr lang="en-US" sz="2200" dirty="0">
                <a:effectLst/>
              </a:rPr>
              <a:t>Christine Marjoram - PLF and PI</a:t>
            </a:r>
            <a:r>
              <a:rPr lang="en-US" sz="2200" baseline="30000" dirty="0">
                <a:effectLst/>
              </a:rPr>
              <a:t>2</a:t>
            </a:r>
            <a:r>
              <a:rPr lang="en-US" sz="2200" dirty="0">
                <a:effectLst/>
              </a:rPr>
              <a:t>, main breaks and water master </a:t>
            </a:r>
            <a:r>
              <a:rPr lang="en-US" sz="2400" dirty="0">
                <a:effectLst/>
              </a:rPr>
              <a:t>plan</a:t>
            </a:r>
          </a:p>
          <a:p>
            <a:pPr marL="0" indent="0">
              <a:buNone/>
            </a:pPr>
            <a:br>
              <a:rPr lang="en-US" dirty="0"/>
            </a:br>
            <a:endParaRPr lang="en-US" dirty="0"/>
          </a:p>
        </p:txBody>
      </p:sp>
    </p:spTree>
    <p:extLst>
      <p:ext uri="{BB962C8B-B14F-4D97-AF65-F5344CB8AC3E}">
        <p14:creationId xmlns:p14="http://schemas.microsoft.com/office/powerpoint/2010/main" val="1639629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lstStyle/>
          <a:p>
            <a:br>
              <a:rPr lang="en-US" b="0" dirty="0"/>
            </a:br>
            <a:r>
              <a:rPr lang="en-US" dirty="0">
                <a:solidFill>
                  <a:schemeClr val="hlink"/>
                </a:solidFill>
                <a:effectLst/>
                <a:latin typeface="Arial" charset="0"/>
              </a:rPr>
              <a:t>How the Partnership for Safe Water Began? </a:t>
            </a:r>
            <a:br>
              <a:rPr lang="en-US" b="0" dirty="0"/>
            </a:br>
            <a:endParaRPr lang="en-US" dirty="0"/>
          </a:p>
        </p:txBody>
      </p:sp>
      <p:sp>
        <p:nvSpPr>
          <p:cNvPr id="3" name="Content Placeholder 2"/>
          <p:cNvSpPr>
            <a:spLocks noGrp="1"/>
          </p:cNvSpPr>
          <p:nvPr>
            <p:ph idx="1"/>
          </p:nvPr>
        </p:nvSpPr>
        <p:spPr>
          <a:xfrm>
            <a:off x="457200" y="1600200"/>
            <a:ext cx="8229600" cy="4525963"/>
          </a:xfrm>
        </p:spPr>
        <p:txBody>
          <a:bodyPr/>
          <a:lstStyle/>
          <a:p>
            <a:r>
              <a:rPr lang="en-US" dirty="0"/>
              <a:t>Established in 1995 to address </a:t>
            </a:r>
            <a:r>
              <a:rPr lang="en-US" i="1" dirty="0"/>
              <a:t>Cryptosporidium </a:t>
            </a:r>
            <a:r>
              <a:rPr lang="en-US" dirty="0"/>
              <a:t>concerns </a:t>
            </a:r>
          </a:p>
          <a:p>
            <a:r>
              <a:rPr lang="en-US" dirty="0"/>
              <a:t>Partner organizations: </a:t>
            </a:r>
            <a:br>
              <a:rPr lang="en-US" dirty="0"/>
            </a:br>
            <a:endParaRPr lang="en-US" dirty="0"/>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399" y="3429000"/>
            <a:ext cx="1735221"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3429000"/>
            <a:ext cx="2286000"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874" y="3429000"/>
            <a:ext cx="2086034"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5586" y="4789822"/>
            <a:ext cx="1715034" cy="9156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4836878"/>
            <a:ext cx="2209800" cy="895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2874" y="4877454"/>
            <a:ext cx="2086034" cy="854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33249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Rot="1" noChangeArrowheads="1"/>
          </p:cNvSpPr>
          <p:nvPr>
            <p:ph type="title"/>
          </p:nvPr>
        </p:nvSpPr>
        <p:spPr>
          <a:xfrm>
            <a:off x="457200" y="457200"/>
            <a:ext cx="8229600" cy="1143000"/>
          </a:xfrm>
        </p:spPr>
        <p:txBody>
          <a:bodyPr/>
          <a:lstStyle/>
          <a:p>
            <a:pPr eaLnBrk="1" hangingPunct="1"/>
            <a:r>
              <a:rPr lang="en-US" sz="4000" dirty="0">
                <a:solidFill>
                  <a:schemeClr val="hlink"/>
                </a:solidFill>
                <a:effectLst/>
                <a:latin typeface="Arial" charset="0"/>
              </a:rPr>
              <a:t>Partnership for Safe Water Mission</a:t>
            </a:r>
          </a:p>
        </p:txBody>
      </p:sp>
      <p:sp>
        <p:nvSpPr>
          <p:cNvPr id="18434" name="Rectangle 3"/>
          <p:cNvSpPr>
            <a:spLocks noGrp="1" noChangeArrowheads="1"/>
          </p:cNvSpPr>
          <p:nvPr>
            <p:ph type="body" idx="1"/>
          </p:nvPr>
        </p:nvSpPr>
        <p:spPr>
          <a:xfrm>
            <a:off x="914400" y="2362200"/>
            <a:ext cx="7924800" cy="3048000"/>
          </a:xfrm>
        </p:spPr>
        <p:txBody>
          <a:bodyPr/>
          <a:lstStyle/>
          <a:p>
            <a:pPr eaLnBrk="1" hangingPunct="1">
              <a:buFont typeface="Wingdings" pitchFamily="2" charset="2"/>
              <a:buNone/>
            </a:pPr>
            <a:r>
              <a:rPr lang="en-US" sz="3600" i="1" dirty="0">
                <a:effectLst/>
              </a:rPr>
              <a:t>	“The Partnership's mission is to improve the quality of drinking water delivered to customers of community water supplies by </a:t>
            </a:r>
            <a:r>
              <a:rPr lang="en-US" sz="3600" i="1" u="sng" dirty="0">
                <a:solidFill>
                  <a:srgbClr val="FFC000"/>
                </a:solidFill>
                <a:effectLst/>
              </a:rPr>
              <a:t>optimizing</a:t>
            </a:r>
            <a:r>
              <a:rPr lang="en-US" sz="3600" i="1" dirty="0">
                <a:effectLst/>
              </a:rPr>
              <a:t> system operations.”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457200" y="533400"/>
            <a:ext cx="8229600" cy="1143000"/>
          </a:xfrm>
        </p:spPr>
        <p:txBody>
          <a:bodyPr/>
          <a:lstStyle/>
          <a:p>
            <a:pPr eaLnBrk="1" hangingPunct="1">
              <a:defRPr/>
            </a:pPr>
            <a:r>
              <a:rPr lang="en-US" sz="4000" dirty="0">
                <a:solidFill>
                  <a:schemeClr val="hlink"/>
                </a:solidFill>
                <a:effectLst/>
                <a:latin typeface="Arial" charset="0"/>
              </a:rPr>
              <a:t>Water Research Foundation </a:t>
            </a:r>
            <a:r>
              <a:rPr lang="en-US" sz="3200" dirty="0">
                <a:solidFill>
                  <a:schemeClr val="hlink"/>
                </a:solidFill>
                <a:effectLst/>
                <a:latin typeface="Arial" charset="0"/>
              </a:rPr>
              <a:t>Project #4109</a:t>
            </a:r>
            <a:r>
              <a:rPr lang="en-US" sz="4000" dirty="0"/>
              <a:t> </a:t>
            </a:r>
            <a:br>
              <a:rPr lang="en-US" sz="4000" dirty="0"/>
            </a:br>
            <a:r>
              <a:rPr lang="en-US" sz="2800" dirty="0">
                <a:solidFill>
                  <a:schemeClr val="hlink"/>
                </a:solidFill>
              </a:rPr>
              <a:t>(</a:t>
            </a:r>
            <a:r>
              <a:rPr lang="en-US" sz="2800" dirty="0">
                <a:solidFill>
                  <a:schemeClr val="hlink"/>
                </a:solidFill>
                <a:effectLst/>
              </a:rPr>
              <a:t>Criteria for Optimized Distributions Systems</a:t>
            </a:r>
            <a:r>
              <a:rPr lang="en-US" sz="2800" dirty="0">
                <a:solidFill>
                  <a:schemeClr val="hlink"/>
                </a:solidFill>
              </a:rPr>
              <a:t>)</a:t>
            </a:r>
          </a:p>
        </p:txBody>
      </p:sp>
      <p:sp>
        <p:nvSpPr>
          <p:cNvPr id="14339" name="Rectangle 3"/>
          <p:cNvSpPr>
            <a:spLocks noGrp="1" noChangeArrowheads="1"/>
          </p:cNvSpPr>
          <p:nvPr>
            <p:ph type="body" idx="1"/>
          </p:nvPr>
        </p:nvSpPr>
        <p:spPr>
          <a:xfrm>
            <a:off x="762000" y="2057400"/>
            <a:ext cx="8001000" cy="4191000"/>
          </a:xfrm>
        </p:spPr>
        <p:txBody>
          <a:bodyPr/>
          <a:lstStyle/>
          <a:p>
            <a:pPr eaLnBrk="1" hangingPunct="1">
              <a:spcBef>
                <a:spcPts val="1200"/>
              </a:spcBef>
              <a:spcAft>
                <a:spcPts val="600"/>
              </a:spcAft>
              <a:defRPr/>
            </a:pPr>
            <a:r>
              <a:rPr lang="en-US" dirty="0">
                <a:effectLst/>
              </a:rPr>
              <a:t>Published in 2010</a:t>
            </a:r>
          </a:p>
          <a:p>
            <a:pPr eaLnBrk="1" hangingPunct="1">
              <a:spcBef>
                <a:spcPts val="1200"/>
              </a:spcBef>
              <a:spcAft>
                <a:spcPts val="600"/>
              </a:spcAft>
              <a:defRPr/>
            </a:pPr>
            <a:r>
              <a:rPr lang="en-US" dirty="0">
                <a:effectLst/>
              </a:rPr>
              <a:t>Defines and develops a continuous improvement program for water distribution system operations.</a:t>
            </a:r>
          </a:p>
          <a:p>
            <a:pPr eaLnBrk="1" hangingPunct="1">
              <a:spcBef>
                <a:spcPts val="1200"/>
              </a:spcBef>
              <a:spcAft>
                <a:spcPts val="600"/>
              </a:spcAft>
              <a:defRPr/>
            </a:pPr>
            <a:r>
              <a:rPr lang="en-US" dirty="0">
                <a:effectLst/>
              </a:rPr>
              <a:t> Identifies metrics to aid in identifying where optimization efforts can best be focused.</a:t>
            </a:r>
          </a:p>
          <a:p>
            <a:pPr eaLnBrk="1" hangingPunct="1">
              <a:buFont typeface="Wingdings" pitchFamily="2" charset="2"/>
              <a:buNone/>
              <a:defRPr/>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rrowheads="1"/>
          </p:cNvSpPr>
          <p:nvPr>
            <p:ph type="title"/>
          </p:nvPr>
        </p:nvSpPr>
        <p:spPr>
          <a:xfrm>
            <a:off x="457200" y="0"/>
            <a:ext cx="8229600" cy="1143000"/>
          </a:xfrm>
        </p:spPr>
        <p:txBody>
          <a:bodyPr/>
          <a:lstStyle/>
          <a:p>
            <a:pPr eaLnBrk="1" hangingPunct="1"/>
            <a:r>
              <a:rPr lang="en-US" sz="4000" dirty="0">
                <a:solidFill>
                  <a:schemeClr val="hlink"/>
                </a:solidFill>
                <a:effectLst/>
                <a:latin typeface="Arial" charset="0"/>
              </a:rPr>
              <a:t>PSW Optimization Programs</a:t>
            </a:r>
          </a:p>
        </p:txBody>
      </p:sp>
      <p:sp>
        <p:nvSpPr>
          <p:cNvPr id="20482" name="Rectangle 3"/>
          <p:cNvSpPr>
            <a:spLocks noGrp="1" noChangeArrowheads="1"/>
          </p:cNvSpPr>
          <p:nvPr>
            <p:ph type="body" idx="1"/>
          </p:nvPr>
        </p:nvSpPr>
        <p:spPr>
          <a:xfrm>
            <a:off x="838200" y="990600"/>
            <a:ext cx="8305800" cy="5867400"/>
          </a:xfrm>
        </p:spPr>
        <p:txBody>
          <a:bodyPr/>
          <a:lstStyle/>
          <a:p>
            <a:pPr eaLnBrk="1" hangingPunct="1"/>
            <a:r>
              <a:rPr lang="en-US" sz="2800" b="1" dirty="0">
                <a:effectLst/>
              </a:rPr>
              <a:t>Treatment Plants</a:t>
            </a:r>
            <a:r>
              <a:rPr lang="en-US" sz="2800" dirty="0">
                <a:effectLst/>
              </a:rPr>
              <a:t>  –Started in 1995</a:t>
            </a:r>
          </a:p>
          <a:p>
            <a:pPr lvl="1" eaLnBrk="1" hangingPunct="1">
              <a:buClr>
                <a:schemeClr val="hlink"/>
              </a:buClr>
            </a:pPr>
            <a:r>
              <a:rPr lang="en-US" sz="2400" dirty="0">
                <a:effectLst/>
              </a:rPr>
              <a:t>Optimization program metrics were well defined: </a:t>
            </a:r>
          </a:p>
          <a:p>
            <a:pPr lvl="2" eaLnBrk="1" hangingPunct="1">
              <a:buClr>
                <a:schemeClr val="hlink"/>
              </a:buClr>
            </a:pPr>
            <a:r>
              <a:rPr lang="en-US" sz="2000" dirty="0">
                <a:effectLst/>
              </a:rPr>
              <a:t>Sed. basin effluent goals; &lt; 1.0 ntu 95 % of measurements  </a:t>
            </a:r>
          </a:p>
          <a:p>
            <a:pPr lvl="2" eaLnBrk="1" hangingPunct="1">
              <a:buClr>
                <a:schemeClr val="hlink"/>
              </a:buClr>
            </a:pPr>
            <a:r>
              <a:rPr lang="en-US" sz="2000" dirty="0">
                <a:effectLst/>
              </a:rPr>
              <a:t>individual filtered effluent &lt; 0.1 ntu 95% of measurements</a:t>
            </a:r>
          </a:p>
          <a:p>
            <a:pPr lvl="2" eaLnBrk="1" hangingPunct="1">
              <a:buClr>
                <a:schemeClr val="hlink"/>
              </a:buClr>
            </a:pPr>
            <a:r>
              <a:rPr lang="en-US" sz="2000" dirty="0">
                <a:effectLst/>
              </a:rPr>
              <a:t>filter performance protocols – filter backwash, filter ripening  &amp; stepped return to service procedures </a:t>
            </a:r>
          </a:p>
          <a:p>
            <a:pPr eaLnBrk="1" hangingPunct="1"/>
            <a:r>
              <a:rPr lang="en-US" sz="2800" b="1" dirty="0">
                <a:effectLst/>
              </a:rPr>
              <a:t>Distribution Systems</a:t>
            </a:r>
            <a:r>
              <a:rPr lang="en-US" sz="2800" dirty="0">
                <a:effectLst/>
              </a:rPr>
              <a:t> –Started  January 2011</a:t>
            </a:r>
          </a:p>
          <a:p>
            <a:pPr lvl="1" eaLnBrk="1" hangingPunct="1">
              <a:buClr>
                <a:schemeClr val="hlink"/>
              </a:buClr>
            </a:pPr>
            <a:r>
              <a:rPr lang="en-US" sz="2400" dirty="0">
                <a:effectLst/>
              </a:rPr>
              <a:t>Optimization program metrics are evolving. </a:t>
            </a:r>
          </a:p>
          <a:p>
            <a:pPr lvl="1" eaLnBrk="1" hangingPunct="1">
              <a:buClr>
                <a:schemeClr val="hlink"/>
              </a:buClr>
              <a:buFont typeface="Wingdings" pitchFamily="2" charset="2"/>
              <a:buNone/>
            </a:pPr>
            <a:r>
              <a:rPr lang="en-US" sz="2400" dirty="0">
                <a:effectLst/>
              </a:rPr>
              <a:t>	Requirements include:</a:t>
            </a:r>
          </a:p>
          <a:p>
            <a:pPr lvl="2" eaLnBrk="1" hangingPunct="1">
              <a:buClr>
                <a:schemeClr val="hlink"/>
              </a:buClr>
            </a:pPr>
            <a:r>
              <a:rPr lang="en-US" sz="2000" dirty="0">
                <a:effectLst/>
              </a:rPr>
              <a:t>One-year baseline data collection period for chlorine residual, district pressures and main break data </a:t>
            </a:r>
          </a:p>
          <a:p>
            <a:pPr lvl="2" eaLnBrk="1" hangingPunct="1">
              <a:buClr>
                <a:schemeClr val="hlink"/>
              </a:buClr>
            </a:pPr>
            <a:r>
              <a:rPr lang="en-US" sz="2000" dirty="0">
                <a:effectLst/>
              </a:rPr>
              <a:t>19 PIVs to be assessed against Best Management Practices</a:t>
            </a:r>
          </a:p>
          <a:p>
            <a:pPr lvl="2" eaLnBrk="1" hangingPunct="1">
              <a:buClr>
                <a:schemeClr val="hlink"/>
              </a:buClr>
            </a:pPr>
            <a:r>
              <a:rPr lang="en-US" sz="2000" i="1" dirty="0">
                <a:effectLst/>
              </a:rPr>
              <a:t>Founding</a:t>
            </a:r>
            <a:r>
              <a:rPr lang="en-US" sz="2000" dirty="0">
                <a:effectLst/>
              </a:rPr>
              <a:t> </a:t>
            </a:r>
            <a:r>
              <a:rPr lang="en-US" sz="2000" i="1" dirty="0">
                <a:effectLst/>
              </a:rPr>
              <a:t>Member</a:t>
            </a:r>
            <a:r>
              <a:rPr lang="en-US" sz="2000" dirty="0">
                <a:effectLst/>
              </a:rPr>
              <a:t> practices will be used as a benchmark for future program participants</a:t>
            </a:r>
          </a:p>
        </p:txBody>
      </p:sp>
      <p:pic>
        <p:nvPicPr>
          <p:cNvPr id="20483" name="Picture 4" descr="Treatment">
            <a:hlinkClick r:id="rId2"/>
          </p:cNvPr>
          <p:cNvPicPr>
            <a:picLocks noChangeAspect="1" noChangeArrowheads="1"/>
          </p:cNvPicPr>
          <p:nvPr/>
        </p:nvPicPr>
        <p:blipFill>
          <a:blip r:embed="rId3"/>
          <a:srcRect/>
          <a:stretch>
            <a:fillRect/>
          </a:stretch>
        </p:blipFill>
        <p:spPr bwMode="auto">
          <a:xfrm>
            <a:off x="609600" y="2209800"/>
            <a:ext cx="909638" cy="1000125"/>
          </a:xfrm>
          <a:prstGeom prst="rect">
            <a:avLst/>
          </a:prstGeom>
          <a:noFill/>
          <a:ln w="9525">
            <a:noFill/>
            <a:miter lim="800000"/>
            <a:headEnd/>
            <a:tailEnd/>
          </a:ln>
        </p:spPr>
      </p:pic>
      <p:pic>
        <p:nvPicPr>
          <p:cNvPr id="20484" name="Picture 5" descr="DistributionLogoLarge">
            <a:hlinkClick r:id="rId4"/>
          </p:cNvPr>
          <p:cNvPicPr>
            <a:picLocks noChangeAspect="1" noChangeArrowheads="1"/>
          </p:cNvPicPr>
          <p:nvPr/>
        </p:nvPicPr>
        <p:blipFill>
          <a:blip r:embed="rId5"/>
          <a:srcRect/>
          <a:stretch>
            <a:fillRect/>
          </a:stretch>
        </p:blipFill>
        <p:spPr bwMode="auto">
          <a:xfrm>
            <a:off x="533400" y="5029200"/>
            <a:ext cx="1028700" cy="10668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rrowheads="1"/>
          </p:cNvSpPr>
          <p:nvPr>
            <p:ph type="title"/>
          </p:nvPr>
        </p:nvSpPr>
        <p:spPr/>
        <p:txBody>
          <a:bodyPr/>
          <a:lstStyle/>
          <a:p>
            <a:pPr eaLnBrk="1" hangingPunct="1"/>
            <a:r>
              <a:rPr lang="en-US" dirty="0">
                <a:solidFill>
                  <a:schemeClr val="hlink"/>
                </a:solidFill>
                <a:effectLst/>
                <a:latin typeface="Arial" charset="0"/>
              </a:rPr>
              <a:t>Two Programs - One System</a:t>
            </a:r>
          </a:p>
        </p:txBody>
      </p:sp>
      <p:sp>
        <p:nvSpPr>
          <p:cNvPr id="10243" name="Rectangle 3"/>
          <p:cNvSpPr>
            <a:spLocks noGrp="1" noChangeArrowheads="1"/>
          </p:cNvSpPr>
          <p:nvPr>
            <p:ph type="body" idx="1"/>
          </p:nvPr>
        </p:nvSpPr>
        <p:spPr>
          <a:xfrm>
            <a:off x="1219200" y="1676400"/>
            <a:ext cx="7696200" cy="4525963"/>
          </a:xfrm>
        </p:spPr>
        <p:txBody>
          <a:bodyPr/>
          <a:lstStyle/>
          <a:p>
            <a:pPr eaLnBrk="1" hangingPunct="1">
              <a:lnSpc>
                <a:spcPct val="90000"/>
              </a:lnSpc>
              <a:defRPr/>
            </a:pPr>
            <a:r>
              <a:rPr lang="en-US" sz="2800" dirty="0">
                <a:effectLst/>
              </a:rPr>
              <a:t>Phase I-commitment</a:t>
            </a:r>
          </a:p>
          <a:p>
            <a:pPr eaLnBrk="1" hangingPunct="1">
              <a:lnSpc>
                <a:spcPct val="90000"/>
              </a:lnSpc>
              <a:buFont typeface="Wingdings" pitchFamily="2" charset="2"/>
              <a:buNone/>
              <a:defRPr/>
            </a:pPr>
            <a:r>
              <a:rPr lang="en-US" sz="2800" dirty="0">
                <a:effectLst/>
              </a:rPr>
              <a:t>	– Agree to submit annual performance data and complete program through Phase III</a:t>
            </a:r>
          </a:p>
          <a:p>
            <a:pPr eaLnBrk="1" hangingPunct="1">
              <a:lnSpc>
                <a:spcPct val="90000"/>
              </a:lnSpc>
              <a:defRPr/>
            </a:pPr>
            <a:r>
              <a:rPr lang="en-US" sz="2800" dirty="0">
                <a:effectLst/>
              </a:rPr>
              <a:t>Phase II - baseline data and annual data</a:t>
            </a:r>
          </a:p>
          <a:p>
            <a:pPr eaLnBrk="1" hangingPunct="1">
              <a:lnSpc>
                <a:spcPct val="90000"/>
              </a:lnSpc>
              <a:buFont typeface="Wingdings" pitchFamily="2" charset="2"/>
              <a:buNone/>
              <a:defRPr/>
            </a:pPr>
            <a:r>
              <a:rPr lang="en-US" sz="2800" dirty="0">
                <a:effectLst/>
              </a:rPr>
              <a:t>	– Submit annual performance data</a:t>
            </a:r>
          </a:p>
          <a:p>
            <a:pPr eaLnBrk="1" hangingPunct="1">
              <a:lnSpc>
                <a:spcPct val="90000"/>
              </a:lnSpc>
              <a:defRPr/>
            </a:pPr>
            <a:r>
              <a:rPr lang="en-US" sz="2800" dirty="0">
                <a:effectLst/>
              </a:rPr>
              <a:t>Phase III-self-assessment</a:t>
            </a:r>
          </a:p>
          <a:p>
            <a:pPr eaLnBrk="1" hangingPunct="1">
              <a:lnSpc>
                <a:spcPct val="90000"/>
              </a:lnSpc>
              <a:buFont typeface="Wingdings" pitchFamily="2" charset="2"/>
              <a:buNone/>
              <a:defRPr/>
            </a:pPr>
            <a:r>
              <a:rPr lang="en-US" sz="2800" dirty="0">
                <a:effectLst/>
              </a:rPr>
              <a:t>	– Complete a self-assessment and submit a report</a:t>
            </a:r>
          </a:p>
          <a:p>
            <a:pPr eaLnBrk="1" hangingPunct="1">
              <a:lnSpc>
                <a:spcPct val="90000"/>
              </a:lnSpc>
              <a:defRPr/>
            </a:pPr>
            <a:r>
              <a:rPr lang="en-US" sz="2800" dirty="0">
                <a:effectLst/>
              </a:rPr>
              <a:t>Phase IV-optimization</a:t>
            </a:r>
          </a:p>
          <a:p>
            <a:pPr eaLnBrk="1" hangingPunct="1">
              <a:lnSpc>
                <a:spcPct val="90000"/>
              </a:lnSpc>
              <a:buFont typeface="Wingdings" pitchFamily="2" charset="2"/>
              <a:buNone/>
              <a:defRPr/>
            </a:pPr>
            <a:r>
              <a:rPr lang="en-US" sz="2800" dirty="0">
                <a:effectLst/>
              </a:rPr>
              <a:t>	– Achieve full optimization</a:t>
            </a:r>
          </a:p>
          <a:p>
            <a:pPr eaLnBrk="1" hangingPunct="1">
              <a:lnSpc>
                <a:spcPct val="90000"/>
              </a:lnSpc>
              <a:defRPr/>
            </a:pP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rrowheads="1"/>
          </p:cNvSpPr>
          <p:nvPr>
            <p:ph type="title"/>
          </p:nvPr>
        </p:nvSpPr>
        <p:spPr/>
        <p:txBody>
          <a:bodyPr/>
          <a:lstStyle/>
          <a:p>
            <a:pPr eaLnBrk="1" hangingPunct="1"/>
            <a:r>
              <a:rPr lang="en-US" dirty="0">
                <a:solidFill>
                  <a:schemeClr val="hlink"/>
                </a:solidFill>
                <a:effectLst/>
                <a:latin typeface="Arial" charset="0"/>
              </a:rPr>
              <a:t>Achievement Awards</a:t>
            </a:r>
          </a:p>
        </p:txBody>
      </p:sp>
      <p:sp>
        <p:nvSpPr>
          <p:cNvPr id="11267" name="Rectangle 3"/>
          <p:cNvSpPr>
            <a:spLocks noGrp="1" noChangeArrowheads="1"/>
          </p:cNvSpPr>
          <p:nvPr>
            <p:ph type="body" idx="1"/>
          </p:nvPr>
        </p:nvSpPr>
        <p:spPr>
          <a:xfrm>
            <a:off x="685800" y="1600200"/>
            <a:ext cx="8458200" cy="4525963"/>
          </a:xfrm>
        </p:spPr>
        <p:txBody>
          <a:bodyPr/>
          <a:lstStyle/>
          <a:p>
            <a:pPr eaLnBrk="1" hangingPunct="1">
              <a:lnSpc>
                <a:spcPct val="90000"/>
              </a:lnSpc>
              <a:defRPr/>
            </a:pPr>
            <a:r>
              <a:rPr lang="en-US" dirty="0">
                <a:effectLst/>
              </a:rPr>
              <a:t>Phase III - Directors Award</a:t>
            </a:r>
          </a:p>
          <a:p>
            <a:pPr eaLnBrk="1" hangingPunct="1">
              <a:lnSpc>
                <a:spcPct val="90000"/>
              </a:lnSpc>
              <a:buFont typeface="Wingdings" pitchFamily="2" charset="2"/>
              <a:buNone/>
              <a:defRPr/>
            </a:pPr>
            <a:r>
              <a:rPr lang="en-US" dirty="0">
                <a:effectLst/>
              </a:rPr>
              <a:t>	– </a:t>
            </a:r>
            <a:r>
              <a:rPr lang="en-US" sz="3000" dirty="0">
                <a:effectLst/>
              </a:rPr>
              <a:t>Satisfactory completion of self-assessment report </a:t>
            </a:r>
          </a:p>
          <a:p>
            <a:pPr eaLnBrk="1" hangingPunct="1">
              <a:lnSpc>
                <a:spcPct val="90000"/>
              </a:lnSpc>
              <a:buFont typeface="Wingdings" pitchFamily="2" charset="2"/>
              <a:buNone/>
              <a:defRPr/>
            </a:pPr>
            <a:r>
              <a:rPr lang="en-US" dirty="0">
                <a:effectLst/>
              </a:rPr>
              <a:t>	– Additional Awards for maintaining level for </a:t>
            </a:r>
          </a:p>
          <a:p>
            <a:pPr eaLnBrk="1" hangingPunct="1">
              <a:lnSpc>
                <a:spcPct val="90000"/>
              </a:lnSpc>
              <a:buFont typeface="Wingdings" pitchFamily="2" charset="2"/>
              <a:buNone/>
              <a:defRPr/>
            </a:pPr>
            <a:r>
              <a:rPr lang="en-US" dirty="0">
                <a:effectLst/>
              </a:rPr>
              <a:t>		5-, 10-, and 15-years</a:t>
            </a:r>
          </a:p>
          <a:p>
            <a:pPr eaLnBrk="1" hangingPunct="1">
              <a:lnSpc>
                <a:spcPct val="90000"/>
              </a:lnSpc>
              <a:defRPr/>
            </a:pPr>
            <a:r>
              <a:rPr lang="en-US" dirty="0">
                <a:effectLst/>
              </a:rPr>
              <a:t>Phase IV - Excellence Award</a:t>
            </a:r>
          </a:p>
          <a:p>
            <a:pPr eaLnBrk="1" hangingPunct="1">
              <a:lnSpc>
                <a:spcPct val="90000"/>
              </a:lnSpc>
              <a:buFont typeface="Wingdings" pitchFamily="2" charset="2"/>
              <a:buNone/>
              <a:defRPr/>
            </a:pPr>
            <a:r>
              <a:rPr lang="en-US" dirty="0">
                <a:effectLst/>
              </a:rPr>
              <a:t>	– Highest possible level of performance</a:t>
            </a:r>
          </a:p>
          <a:p>
            <a:pPr eaLnBrk="1" hangingPunct="1">
              <a:lnSpc>
                <a:spcPct val="90000"/>
              </a:lnSpc>
              <a:buFont typeface="Wingdings" pitchFamily="2" charset="2"/>
              <a:buNone/>
              <a:defRPr/>
            </a:pPr>
            <a:r>
              <a:rPr lang="en-US" dirty="0">
                <a:effectLst/>
              </a:rPr>
              <a:t>	– Additional Awards for maintaining level for </a:t>
            </a:r>
          </a:p>
          <a:p>
            <a:pPr eaLnBrk="1" hangingPunct="1">
              <a:lnSpc>
                <a:spcPct val="90000"/>
              </a:lnSpc>
              <a:buFont typeface="Wingdings" pitchFamily="2" charset="2"/>
              <a:buNone/>
              <a:defRPr/>
            </a:pPr>
            <a:r>
              <a:rPr lang="en-US" dirty="0">
                <a:effectLst/>
              </a:rPr>
              <a:t>		5-, 10-, 15-years</a:t>
            </a:r>
          </a:p>
          <a:p>
            <a:pPr eaLnBrk="1" hangingPunct="1">
              <a:lnSpc>
                <a:spcPct val="90000"/>
              </a:lnSpc>
              <a:buFont typeface="Wingdings" pitchFamily="2" charset="2"/>
              <a:buNone/>
              <a:defRP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rrowheads="1"/>
          </p:cNvSpPr>
          <p:nvPr>
            <p:ph type="title"/>
          </p:nvPr>
        </p:nvSpPr>
        <p:spPr>
          <a:xfrm>
            <a:off x="457200" y="457200"/>
            <a:ext cx="8229600" cy="838200"/>
          </a:xfrm>
        </p:spPr>
        <p:txBody>
          <a:bodyPr/>
          <a:lstStyle/>
          <a:p>
            <a:pPr eaLnBrk="1" hangingPunct="1">
              <a:defRPr/>
            </a:pPr>
            <a:r>
              <a:rPr lang="en-US" dirty="0">
                <a:solidFill>
                  <a:schemeClr val="hlink"/>
                </a:solidFill>
                <a:effectLst/>
                <a:latin typeface="Arial" charset="0"/>
              </a:rPr>
              <a:t>PWD DSOP Project Plan</a:t>
            </a:r>
            <a:endParaRPr lang="en-US" dirty="0"/>
          </a:p>
        </p:txBody>
      </p:sp>
      <p:sp>
        <p:nvSpPr>
          <p:cNvPr id="27650" name="Rectangle 3"/>
          <p:cNvSpPr>
            <a:spLocks noGrp="1" noChangeArrowheads="1"/>
          </p:cNvSpPr>
          <p:nvPr>
            <p:ph type="body" idx="1"/>
          </p:nvPr>
        </p:nvSpPr>
        <p:spPr>
          <a:xfrm>
            <a:off x="765768" y="1257300"/>
            <a:ext cx="7391400" cy="5257800"/>
          </a:xfrm>
        </p:spPr>
        <p:txBody>
          <a:bodyPr/>
          <a:lstStyle/>
          <a:p>
            <a:pPr eaLnBrk="1" hangingPunct="1"/>
            <a:r>
              <a:rPr lang="en-US" sz="2800" b="1" u="sng" dirty="0">
                <a:effectLst/>
              </a:rPr>
              <a:t>Kickoff </a:t>
            </a:r>
            <a:r>
              <a:rPr lang="en-US" sz="2800" b="1" dirty="0">
                <a:effectLst/>
              </a:rPr>
              <a:t> - </a:t>
            </a:r>
            <a:r>
              <a:rPr lang="en-US" sz="2800" dirty="0">
                <a:effectLst/>
              </a:rPr>
              <a:t>9/27/11 and formation of Steering Committee</a:t>
            </a:r>
          </a:p>
          <a:p>
            <a:pPr eaLnBrk="1" hangingPunct="1"/>
            <a:r>
              <a:rPr lang="en-US" sz="2800" b="1" u="sng" dirty="0">
                <a:effectLst/>
              </a:rPr>
              <a:t>Task I</a:t>
            </a:r>
            <a:r>
              <a:rPr lang="en-US" sz="2800" dirty="0">
                <a:effectLst/>
              </a:rPr>
              <a:t> – Collect &amp; Submit Baseline Data;</a:t>
            </a:r>
            <a:endParaRPr lang="en-US" sz="2400" dirty="0">
              <a:effectLst/>
            </a:endParaRPr>
          </a:p>
          <a:p>
            <a:pPr lvl="1" eaLnBrk="1" hangingPunct="1">
              <a:buClr>
                <a:schemeClr val="hlink"/>
              </a:buClr>
            </a:pPr>
            <a:r>
              <a:rPr lang="en-US" sz="2200" dirty="0">
                <a:effectLst/>
              </a:rPr>
              <a:t>Water Quality		- disinfectant residual</a:t>
            </a:r>
          </a:p>
          <a:p>
            <a:pPr lvl="1" eaLnBrk="1" hangingPunct="1">
              <a:buClr>
                <a:schemeClr val="hlink"/>
              </a:buClr>
            </a:pPr>
            <a:r>
              <a:rPr lang="en-US" sz="2200" dirty="0">
                <a:effectLst/>
              </a:rPr>
              <a:t>Hydraulic			- pressure management</a:t>
            </a:r>
          </a:p>
          <a:p>
            <a:pPr lvl="1" eaLnBrk="1" hangingPunct="1">
              <a:buClr>
                <a:schemeClr val="hlink"/>
              </a:buClr>
            </a:pPr>
            <a:r>
              <a:rPr lang="en-US" sz="2200" dirty="0">
                <a:effectLst/>
              </a:rPr>
              <a:t>Physical			- main break frequency </a:t>
            </a:r>
          </a:p>
          <a:p>
            <a:pPr eaLnBrk="1" hangingPunct="1"/>
            <a:r>
              <a:rPr lang="en-US" sz="2800" b="1" u="sng" dirty="0">
                <a:effectLst/>
              </a:rPr>
              <a:t>Task II</a:t>
            </a:r>
            <a:r>
              <a:rPr lang="en-US" sz="2800" dirty="0">
                <a:effectLst/>
              </a:rPr>
              <a:t> – Conduct Self-assessment of </a:t>
            </a:r>
            <a:r>
              <a:rPr lang="en-US" sz="2800" b="1" dirty="0">
                <a:effectLst/>
              </a:rPr>
              <a:t>19</a:t>
            </a:r>
            <a:r>
              <a:rPr lang="en-US" sz="2800" dirty="0">
                <a:effectLst/>
              </a:rPr>
              <a:t> PIVs</a:t>
            </a:r>
          </a:p>
          <a:p>
            <a:pPr lvl="1" eaLnBrk="1" hangingPunct="1">
              <a:buClr>
                <a:schemeClr val="hlink"/>
              </a:buClr>
            </a:pPr>
            <a:r>
              <a:rPr lang="en-US" sz="2400" dirty="0">
                <a:effectLst/>
              </a:rPr>
              <a:t>Self-assessment Team interviews Subject Matter Experts to evaluate PWD activities</a:t>
            </a:r>
          </a:p>
          <a:p>
            <a:pPr eaLnBrk="1" hangingPunct="1"/>
            <a:r>
              <a:rPr lang="en-US" sz="2800" b="1" u="sng" dirty="0">
                <a:effectLst/>
              </a:rPr>
              <a:t>Task III</a:t>
            </a:r>
            <a:r>
              <a:rPr lang="en-US" sz="2800" dirty="0">
                <a:effectLst/>
              </a:rPr>
              <a:t> - Submit Annual Reports</a:t>
            </a:r>
            <a:r>
              <a:rPr lang="en-US" sz="2400" dirty="0">
                <a:effectLst/>
              </a:rPr>
              <a:t> </a:t>
            </a:r>
            <a:r>
              <a:rPr lang="en-US" sz="2800" dirty="0">
                <a:effectLst/>
              </a:rPr>
              <a:t>and Self-assessment Report </a:t>
            </a:r>
            <a:endParaRPr lang="en-US" sz="2800" b="1" dirty="0">
              <a:effectLst/>
            </a:endParaRPr>
          </a:p>
        </p:txBody>
      </p:sp>
      <p:pic>
        <p:nvPicPr>
          <p:cNvPr id="27651" name="Picture 4" descr="DistributionLogoLarge">
            <a:hlinkClick r:id="rId2"/>
          </p:cNvPr>
          <p:cNvPicPr>
            <a:picLocks noChangeAspect="1" noChangeArrowheads="1"/>
          </p:cNvPicPr>
          <p:nvPr/>
        </p:nvPicPr>
        <p:blipFill>
          <a:blip r:embed="rId3"/>
          <a:srcRect/>
          <a:stretch>
            <a:fillRect/>
          </a:stretch>
        </p:blipFill>
        <p:spPr bwMode="auto">
          <a:xfrm>
            <a:off x="7546075" y="2209800"/>
            <a:ext cx="1176338" cy="12192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latin typeface="Arial" pitchFamily="34" charset="0"/>
                <a:cs typeface="Arial" pitchFamily="34" charset="0"/>
              </a:rPr>
              <a:t>Distribution System Integrity</a:t>
            </a:r>
          </a:p>
        </p:txBody>
      </p:sp>
      <p:sp>
        <p:nvSpPr>
          <p:cNvPr id="3" name="Content Placeholder 2"/>
          <p:cNvSpPr>
            <a:spLocks noGrp="1"/>
          </p:cNvSpPr>
          <p:nvPr>
            <p:ph idx="1"/>
          </p:nvPr>
        </p:nvSpPr>
        <p:spPr>
          <a:xfrm>
            <a:off x="457200" y="1371600"/>
            <a:ext cx="8229600" cy="4876800"/>
          </a:xfrm>
        </p:spPr>
        <p:txBody>
          <a:bodyPr/>
          <a:lstStyle/>
          <a:p>
            <a:r>
              <a:rPr lang="en-US" dirty="0"/>
              <a:t>System Integrity Performance Indicators</a:t>
            </a:r>
          </a:p>
          <a:p>
            <a:pPr lvl="1"/>
            <a:r>
              <a:rPr lang="en-US" dirty="0"/>
              <a:t>Water Quality</a:t>
            </a:r>
          </a:p>
          <a:p>
            <a:pPr lvl="2"/>
            <a:r>
              <a:rPr lang="en-US" dirty="0"/>
              <a:t>Maintain Disinfectant Residual</a:t>
            </a:r>
          </a:p>
          <a:p>
            <a:pPr lvl="1"/>
            <a:r>
              <a:rPr lang="en-US" dirty="0"/>
              <a:t>Hydraulics</a:t>
            </a:r>
          </a:p>
          <a:p>
            <a:pPr lvl="2"/>
            <a:r>
              <a:rPr lang="en-US" dirty="0"/>
              <a:t>Maintain Positive Pressure</a:t>
            </a:r>
          </a:p>
          <a:p>
            <a:pPr lvl="1"/>
            <a:r>
              <a:rPr lang="en-US" dirty="0"/>
              <a:t>Physical</a:t>
            </a:r>
          </a:p>
          <a:p>
            <a:pPr lvl="2"/>
            <a:r>
              <a:rPr lang="en-US" dirty="0"/>
              <a:t>Main Break Frequency Reduction</a:t>
            </a:r>
          </a:p>
          <a:p>
            <a:r>
              <a:rPr lang="en-US" dirty="0"/>
              <a:t>System Integrity may be at risk when these performance indicators are not optimized</a:t>
            </a:r>
          </a:p>
          <a:p>
            <a:pPr marL="914400" lvl="2" indent="0">
              <a:buNone/>
            </a:pPr>
            <a:endParaRPr lang="en-US" dirty="0"/>
          </a:p>
        </p:txBody>
      </p:sp>
    </p:spTree>
    <p:extLst>
      <p:ext uri="{BB962C8B-B14F-4D97-AF65-F5344CB8AC3E}">
        <p14:creationId xmlns:p14="http://schemas.microsoft.com/office/powerpoint/2010/main" val="438506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Rot="1" noChangeArrowheads="1"/>
          </p:cNvSpPr>
          <p:nvPr>
            <p:ph type="title"/>
          </p:nvPr>
        </p:nvSpPr>
        <p:spPr>
          <a:xfrm>
            <a:off x="457200" y="533400"/>
            <a:ext cx="8229600" cy="1143000"/>
          </a:xfrm>
        </p:spPr>
        <p:txBody>
          <a:bodyPr/>
          <a:lstStyle/>
          <a:p>
            <a:pPr eaLnBrk="1" hangingPunct="1"/>
            <a:r>
              <a:rPr lang="en-US" sz="4000" dirty="0">
                <a:solidFill>
                  <a:schemeClr val="hlink"/>
                </a:solidFill>
                <a:effectLst/>
                <a:latin typeface="Arial" charset="0"/>
              </a:rPr>
              <a:t>19 Performance Improvement Variables </a:t>
            </a:r>
            <a:br>
              <a:rPr lang="en-US" sz="4000" dirty="0">
                <a:solidFill>
                  <a:schemeClr val="hlink"/>
                </a:solidFill>
                <a:effectLst/>
                <a:latin typeface="Arial" charset="0"/>
              </a:rPr>
            </a:br>
            <a:r>
              <a:rPr lang="en-US" sz="2400" dirty="0">
                <a:solidFill>
                  <a:schemeClr val="hlink"/>
                </a:solidFill>
                <a:effectLst/>
                <a:latin typeface="Arial" charset="0"/>
              </a:rPr>
              <a:t>(65 questions for gauging optimization)</a:t>
            </a:r>
          </a:p>
        </p:txBody>
      </p:sp>
      <p:sp>
        <p:nvSpPr>
          <p:cNvPr id="33794" name="Rectangle 3"/>
          <p:cNvSpPr>
            <a:spLocks noGrp="1" noChangeArrowheads="1"/>
          </p:cNvSpPr>
          <p:nvPr>
            <p:ph type="body" idx="1"/>
          </p:nvPr>
        </p:nvSpPr>
        <p:spPr>
          <a:xfrm>
            <a:off x="4419600" y="1828800"/>
            <a:ext cx="4724400" cy="3962400"/>
          </a:xfrm>
        </p:spPr>
        <p:txBody>
          <a:bodyPr/>
          <a:lstStyle/>
          <a:p>
            <a:pPr eaLnBrk="1" hangingPunct="1"/>
            <a:r>
              <a:rPr lang="en-US" sz="2400" dirty="0">
                <a:effectLst/>
              </a:rPr>
              <a:t>(2) Nitrification</a:t>
            </a:r>
          </a:p>
          <a:p>
            <a:pPr eaLnBrk="1" hangingPunct="1"/>
            <a:r>
              <a:rPr lang="en-US" sz="2400" dirty="0">
                <a:effectLst/>
              </a:rPr>
              <a:t>(3) Pipe Rehab. &amp; Replacement</a:t>
            </a:r>
          </a:p>
          <a:p>
            <a:pPr eaLnBrk="1" hangingPunct="1"/>
            <a:r>
              <a:rPr lang="en-US" sz="2400" dirty="0">
                <a:effectLst/>
              </a:rPr>
              <a:t>(3) </a:t>
            </a:r>
            <a:r>
              <a:rPr lang="en-US" sz="2200" dirty="0">
                <a:effectLst/>
              </a:rPr>
              <a:t>Inorganic Accumulation Control</a:t>
            </a:r>
          </a:p>
          <a:p>
            <a:pPr eaLnBrk="1" hangingPunct="1"/>
            <a:r>
              <a:rPr lang="en-US" sz="2400" dirty="0">
                <a:effectLst/>
              </a:rPr>
              <a:t>(8) Pressure Management</a:t>
            </a:r>
          </a:p>
          <a:p>
            <a:pPr eaLnBrk="1" hangingPunct="1"/>
            <a:r>
              <a:rPr lang="en-US" sz="2400" dirty="0">
                <a:effectLst/>
              </a:rPr>
              <a:t>(3) Security and Online Monitoring</a:t>
            </a:r>
          </a:p>
          <a:p>
            <a:pPr eaLnBrk="1" hangingPunct="1"/>
            <a:r>
              <a:rPr lang="en-US" sz="2400" dirty="0">
                <a:effectLst/>
              </a:rPr>
              <a:t>(4) Storage Tank O&amp;M</a:t>
            </a:r>
          </a:p>
          <a:p>
            <a:pPr eaLnBrk="1" hangingPunct="1"/>
            <a:r>
              <a:rPr lang="en-US" sz="2400" dirty="0">
                <a:effectLst/>
              </a:rPr>
              <a:t>(3) Water Age Management</a:t>
            </a:r>
          </a:p>
          <a:p>
            <a:pPr eaLnBrk="1" hangingPunct="1"/>
            <a:r>
              <a:rPr lang="en-US" sz="2400" dirty="0">
                <a:effectLst/>
              </a:rPr>
              <a:t>(2) Water Loss Control</a:t>
            </a:r>
          </a:p>
          <a:p>
            <a:pPr eaLnBrk="1" hangingPunct="1"/>
            <a:r>
              <a:rPr lang="en-US" sz="2400" dirty="0">
                <a:effectLst/>
              </a:rPr>
              <a:t>(3) Water Sampling and Response</a:t>
            </a:r>
          </a:p>
        </p:txBody>
      </p:sp>
      <p:sp>
        <p:nvSpPr>
          <p:cNvPr id="33795" name="Text Box 4"/>
          <p:cNvSpPr txBox="1">
            <a:spLocks noChangeArrowheads="1"/>
          </p:cNvSpPr>
          <p:nvPr/>
        </p:nvSpPr>
        <p:spPr bwMode="auto">
          <a:xfrm>
            <a:off x="457200" y="1752600"/>
            <a:ext cx="2971800" cy="366713"/>
          </a:xfrm>
          <a:prstGeom prst="rect">
            <a:avLst/>
          </a:prstGeom>
          <a:noFill/>
          <a:ln w="9525">
            <a:noFill/>
            <a:miter lim="800000"/>
            <a:headEnd/>
            <a:tailEnd/>
          </a:ln>
        </p:spPr>
        <p:txBody>
          <a:bodyPr>
            <a:spAutoFit/>
          </a:bodyPr>
          <a:lstStyle/>
          <a:p>
            <a:pPr>
              <a:spcBef>
                <a:spcPct val="50000"/>
              </a:spcBef>
            </a:pPr>
            <a:endParaRPr lang="en-US" dirty="0"/>
          </a:p>
        </p:txBody>
      </p:sp>
      <p:sp>
        <p:nvSpPr>
          <p:cNvPr id="33796" name="Text Box 5"/>
          <p:cNvSpPr txBox="1">
            <a:spLocks noChangeArrowheads="1"/>
          </p:cNvSpPr>
          <p:nvPr/>
        </p:nvSpPr>
        <p:spPr bwMode="auto">
          <a:xfrm>
            <a:off x="838200" y="2057400"/>
            <a:ext cx="838200" cy="366713"/>
          </a:xfrm>
          <a:prstGeom prst="rect">
            <a:avLst/>
          </a:prstGeom>
          <a:noFill/>
          <a:ln w="9525">
            <a:noFill/>
            <a:miter lim="800000"/>
            <a:headEnd/>
            <a:tailEnd/>
          </a:ln>
        </p:spPr>
        <p:txBody>
          <a:bodyPr>
            <a:spAutoFit/>
          </a:bodyPr>
          <a:lstStyle/>
          <a:p>
            <a:pPr>
              <a:spcBef>
                <a:spcPct val="50000"/>
              </a:spcBef>
            </a:pPr>
            <a:endParaRPr lang="en-US" dirty="0"/>
          </a:p>
        </p:txBody>
      </p:sp>
      <p:sp>
        <p:nvSpPr>
          <p:cNvPr id="33797" name="Rectangle 6"/>
          <p:cNvSpPr>
            <a:spLocks noChangeArrowheads="1"/>
          </p:cNvSpPr>
          <p:nvPr/>
        </p:nvSpPr>
        <p:spPr bwMode="auto">
          <a:xfrm>
            <a:off x="304800" y="1905000"/>
            <a:ext cx="4572000" cy="4191000"/>
          </a:xfrm>
          <a:prstGeom prst="rect">
            <a:avLst/>
          </a:prstGeom>
          <a:noFill/>
          <a:ln w="9525">
            <a:noFill/>
            <a:miter lim="800000"/>
            <a:headEnd/>
            <a:tailEnd/>
          </a:ln>
        </p:spPr>
        <p:txBody>
          <a:bodyPr/>
          <a:lstStyle/>
          <a:p>
            <a:pPr marL="342900" indent="-342900">
              <a:lnSpc>
                <a:spcPct val="90000"/>
              </a:lnSpc>
              <a:spcBef>
                <a:spcPct val="20000"/>
              </a:spcBef>
              <a:buClr>
                <a:schemeClr val="hlink"/>
              </a:buClr>
              <a:buSzPct val="70000"/>
              <a:buFont typeface="Wingdings" pitchFamily="2" charset="2"/>
              <a:buChar char="n"/>
            </a:pPr>
            <a:r>
              <a:rPr lang="en-US" sz="2400" dirty="0"/>
              <a:t>(5) Disinfectant Residual	</a:t>
            </a:r>
          </a:p>
          <a:p>
            <a:pPr marL="342900" indent="-342900">
              <a:lnSpc>
                <a:spcPct val="90000"/>
              </a:lnSpc>
              <a:spcBef>
                <a:spcPct val="20000"/>
              </a:spcBef>
              <a:buClr>
                <a:schemeClr val="hlink"/>
              </a:buClr>
              <a:buSzPct val="70000"/>
              <a:buFont typeface="Wingdings" pitchFamily="2" charset="2"/>
              <a:buChar char="n"/>
            </a:pPr>
            <a:r>
              <a:rPr lang="en-US" sz="2400" dirty="0"/>
              <a:t>(4) Cross-Connection Control</a:t>
            </a:r>
          </a:p>
          <a:p>
            <a:pPr marL="342900" indent="-342900">
              <a:lnSpc>
                <a:spcPct val="90000"/>
              </a:lnSpc>
              <a:spcBef>
                <a:spcPct val="20000"/>
              </a:spcBef>
              <a:buClr>
                <a:schemeClr val="hlink"/>
              </a:buClr>
              <a:buSzPct val="70000"/>
              <a:buFont typeface="Wingdings" pitchFamily="2" charset="2"/>
              <a:buChar char="n"/>
            </a:pPr>
            <a:r>
              <a:rPr lang="en-US" sz="2400" dirty="0"/>
              <a:t>(2) Customer Complaints</a:t>
            </a:r>
          </a:p>
          <a:p>
            <a:pPr marL="342900" indent="-342900">
              <a:lnSpc>
                <a:spcPct val="90000"/>
              </a:lnSpc>
              <a:spcBef>
                <a:spcPct val="20000"/>
              </a:spcBef>
              <a:buClr>
                <a:schemeClr val="hlink"/>
              </a:buClr>
              <a:buSzPct val="70000"/>
              <a:buFont typeface="Wingdings" pitchFamily="2" charset="2"/>
              <a:buChar char="n"/>
            </a:pPr>
            <a:r>
              <a:rPr lang="en-US" sz="2400" dirty="0"/>
              <a:t>(2) DBP Control</a:t>
            </a:r>
          </a:p>
          <a:p>
            <a:pPr marL="342900" indent="-342900">
              <a:lnSpc>
                <a:spcPct val="90000"/>
              </a:lnSpc>
              <a:spcBef>
                <a:spcPct val="20000"/>
              </a:spcBef>
              <a:buClr>
                <a:schemeClr val="hlink"/>
              </a:buClr>
              <a:buSzPct val="70000"/>
              <a:buFont typeface="Wingdings" pitchFamily="2" charset="2"/>
              <a:buChar char="n"/>
            </a:pPr>
            <a:r>
              <a:rPr lang="en-US" sz="2400" dirty="0"/>
              <a:t>(3) Energy Management</a:t>
            </a:r>
          </a:p>
          <a:p>
            <a:pPr marL="342900" indent="-342900">
              <a:lnSpc>
                <a:spcPct val="90000"/>
              </a:lnSpc>
              <a:spcBef>
                <a:spcPct val="20000"/>
              </a:spcBef>
              <a:buClr>
                <a:schemeClr val="hlink"/>
              </a:buClr>
              <a:buSzPct val="70000"/>
              <a:buFont typeface="Wingdings" pitchFamily="2" charset="2"/>
              <a:buChar char="n"/>
            </a:pPr>
            <a:r>
              <a:rPr lang="en-US" sz="2400" dirty="0"/>
              <a:t>(4) External Corrosion Control</a:t>
            </a:r>
          </a:p>
          <a:p>
            <a:pPr marL="342900" indent="-342900">
              <a:lnSpc>
                <a:spcPct val="90000"/>
              </a:lnSpc>
              <a:spcBef>
                <a:spcPct val="20000"/>
              </a:spcBef>
              <a:buClr>
                <a:schemeClr val="hlink"/>
              </a:buClr>
              <a:buSzPct val="70000"/>
              <a:buFont typeface="Wingdings" pitchFamily="2" charset="2"/>
              <a:buChar char="n"/>
            </a:pPr>
            <a:r>
              <a:rPr lang="en-US" sz="2400" dirty="0"/>
              <a:t>(3) Flushing	</a:t>
            </a:r>
          </a:p>
          <a:p>
            <a:pPr marL="342900" indent="-342900">
              <a:lnSpc>
                <a:spcPct val="90000"/>
              </a:lnSpc>
              <a:spcBef>
                <a:spcPct val="20000"/>
              </a:spcBef>
              <a:buClr>
                <a:schemeClr val="hlink"/>
              </a:buClr>
              <a:buSzPct val="70000"/>
              <a:buFont typeface="Wingdings" pitchFamily="2" charset="2"/>
              <a:buChar char="n"/>
            </a:pPr>
            <a:r>
              <a:rPr lang="en-US" sz="2400" dirty="0"/>
              <a:t>(5) Hydrant/Valve Maintenance</a:t>
            </a:r>
          </a:p>
          <a:p>
            <a:pPr marL="342900" indent="-342900">
              <a:lnSpc>
                <a:spcPct val="90000"/>
              </a:lnSpc>
              <a:spcBef>
                <a:spcPct val="20000"/>
              </a:spcBef>
              <a:buClr>
                <a:schemeClr val="hlink"/>
              </a:buClr>
              <a:buSzPct val="70000"/>
              <a:buFont typeface="Wingdings" pitchFamily="2" charset="2"/>
              <a:buChar char="n"/>
            </a:pPr>
            <a:r>
              <a:rPr lang="en-US" sz="2400" dirty="0"/>
              <a:t>(3) Internal Corrosion Control</a:t>
            </a:r>
          </a:p>
          <a:p>
            <a:pPr marL="342900" indent="-342900">
              <a:lnSpc>
                <a:spcPct val="90000"/>
              </a:lnSpc>
              <a:spcBef>
                <a:spcPct val="20000"/>
              </a:spcBef>
              <a:buClr>
                <a:schemeClr val="hlink"/>
              </a:buClr>
              <a:buSzPct val="70000"/>
              <a:buFont typeface="Wingdings" pitchFamily="2" charset="2"/>
              <a:buChar char="n"/>
            </a:pPr>
            <a:r>
              <a:rPr lang="en-US" sz="2400" dirty="0"/>
              <a:t>(3) Main Breaks</a:t>
            </a:r>
          </a:p>
          <a:p>
            <a:pPr marL="342900" indent="-342900">
              <a:lnSpc>
                <a:spcPct val="90000"/>
              </a:lnSpc>
              <a:spcBef>
                <a:spcPct val="20000"/>
              </a:spcBef>
              <a:buClr>
                <a:schemeClr val="hlink"/>
              </a:buClr>
              <a:buSzPct val="70000"/>
              <a:buFont typeface="Wingdings" pitchFamily="2" charset="2"/>
              <a:buNone/>
            </a:pP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Rot="1" noChangeArrowheads="1"/>
          </p:cNvSpPr>
          <p:nvPr>
            <p:ph type="title"/>
          </p:nvPr>
        </p:nvSpPr>
        <p:spPr>
          <a:xfrm>
            <a:off x="457200" y="381000"/>
            <a:ext cx="8229600" cy="1143000"/>
          </a:xfrm>
        </p:spPr>
        <p:txBody>
          <a:bodyPr/>
          <a:lstStyle/>
          <a:p>
            <a:pPr eaLnBrk="1" hangingPunct="1"/>
            <a:r>
              <a:rPr lang="en-US" sz="4000" dirty="0">
                <a:solidFill>
                  <a:schemeClr val="hlink"/>
                </a:solidFill>
                <a:effectLst/>
                <a:latin typeface="Arial" charset="0"/>
              </a:rPr>
              <a:t>Distribution System </a:t>
            </a:r>
            <a:br>
              <a:rPr lang="en-US" sz="4000" dirty="0">
                <a:solidFill>
                  <a:schemeClr val="hlink"/>
                </a:solidFill>
                <a:effectLst/>
                <a:latin typeface="Arial" charset="0"/>
              </a:rPr>
            </a:br>
            <a:r>
              <a:rPr lang="en-US" sz="4000" dirty="0">
                <a:solidFill>
                  <a:schemeClr val="hlink"/>
                </a:solidFill>
                <a:effectLst/>
                <a:latin typeface="Arial" charset="0"/>
              </a:rPr>
              <a:t>Annual Report Data</a:t>
            </a:r>
          </a:p>
        </p:txBody>
      </p:sp>
      <p:sp>
        <p:nvSpPr>
          <p:cNvPr id="16387" name="Rectangle 3"/>
          <p:cNvSpPr>
            <a:spLocks noGrp="1" noChangeArrowheads="1"/>
          </p:cNvSpPr>
          <p:nvPr>
            <p:ph type="body" idx="1"/>
          </p:nvPr>
        </p:nvSpPr>
        <p:spPr>
          <a:xfrm>
            <a:off x="838200" y="1905000"/>
            <a:ext cx="8305800" cy="4114800"/>
          </a:xfrm>
        </p:spPr>
        <p:txBody>
          <a:bodyPr/>
          <a:lstStyle/>
          <a:p>
            <a:pPr eaLnBrk="1" hangingPunct="1">
              <a:defRPr/>
            </a:pPr>
            <a:r>
              <a:rPr lang="en-US" dirty="0">
                <a:effectLst/>
              </a:rPr>
              <a:t>PSW keeps all data confidential</a:t>
            </a:r>
          </a:p>
          <a:p>
            <a:pPr eaLnBrk="1" hangingPunct="1">
              <a:defRPr/>
            </a:pPr>
            <a:r>
              <a:rPr lang="en-US" dirty="0">
                <a:effectLst/>
              </a:rPr>
              <a:t>Disinfectant Residual results from routine sample sites throughout the distribution system</a:t>
            </a:r>
          </a:p>
          <a:p>
            <a:pPr eaLnBrk="1" hangingPunct="1">
              <a:defRPr/>
            </a:pPr>
            <a:r>
              <a:rPr lang="en-US" dirty="0">
                <a:effectLst/>
              </a:rPr>
              <a:t>PSW provides data collection software including; </a:t>
            </a:r>
          </a:p>
          <a:p>
            <a:pPr lvl="1" eaLnBrk="1" hangingPunct="1">
              <a:buClr>
                <a:schemeClr val="hlink"/>
              </a:buClr>
              <a:defRPr/>
            </a:pPr>
            <a:r>
              <a:rPr lang="en-US" dirty="0">
                <a:effectLst/>
              </a:rPr>
              <a:t>daily minimum Cl2 value reported</a:t>
            </a:r>
          </a:p>
          <a:p>
            <a:pPr lvl="1" eaLnBrk="1" hangingPunct="1">
              <a:buClr>
                <a:schemeClr val="hlink"/>
              </a:buClr>
              <a:defRPr/>
            </a:pPr>
            <a:r>
              <a:rPr lang="en-US" dirty="0">
                <a:effectLst/>
              </a:rPr>
              <a:t>location/site ID</a:t>
            </a:r>
          </a:p>
          <a:p>
            <a:pPr lvl="1" eaLnBrk="1" hangingPunct="1">
              <a:buClr>
                <a:schemeClr val="hlink"/>
              </a:buClr>
              <a:defRPr/>
            </a:pPr>
            <a:r>
              <a:rPr lang="en-US" dirty="0">
                <a:effectLst/>
              </a:rPr>
              <a:t>sites with a low residual value are reported</a:t>
            </a:r>
          </a:p>
          <a:p>
            <a:pPr eaLnBrk="1" hangingPunct="1">
              <a:buFont typeface="Wingdings" pitchFamily="2" charset="2"/>
              <a:buNone/>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828800"/>
          </a:xfrm>
        </p:spPr>
        <p:txBody>
          <a:bodyPr/>
          <a:lstStyle/>
          <a:p>
            <a:r>
              <a:rPr lang="en-US" dirty="0">
                <a:solidFill>
                  <a:schemeClr val="hlink"/>
                </a:solidFill>
                <a:effectLst/>
                <a:latin typeface="Arial" charset="0"/>
              </a:rPr>
              <a:t>PWD’s Distribution System </a:t>
            </a:r>
            <a:br>
              <a:rPr lang="en-US" dirty="0">
                <a:solidFill>
                  <a:schemeClr val="hlink"/>
                </a:solidFill>
                <a:effectLst/>
                <a:latin typeface="Arial" charset="0"/>
              </a:rPr>
            </a:br>
            <a:r>
              <a:rPr lang="en-US" dirty="0">
                <a:solidFill>
                  <a:schemeClr val="hlink"/>
                </a:solidFill>
                <a:effectLst/>
                <a:latin typeface="Arial" charset="0"/>
              </a:rPr>
              <a:t>Optimization Program </a:t>
            </a:r>
            <a:br>
              <a:rPr lang="en-US" dirty="0">
                <a:solidFill>
                  <a:schemeClr val="hlink"/>
                </a:solidFill>
                <a:effectLst/>
                <a:latin typeface="Arial" charset="0"/>
              </a:rPr>
            </a:br>
            <a:r>
              <a:rPr lang="en-US" dirty="0">
                <a:solidFill>
                  <a:schemeClr val="hlink"/>
                </a:solidFill>
                <a:effectLst/>
                <a:latin typeface="Arial" charset="0"/>
              </a:rPr>
              <a:t> Approach</a:t>
            </a:r>
            <a:endParaRPr lang="en-US" dirty="0"/>
          </a:p>
        </p:txBody>
      </p:sp>
      <p:sp>
        <p:nvSpPr>
          <p:cNvPr id="3" name="Content Placeholder 2"/>
          <p:cNvSpPr>
            <a:spLocks noGrp="1"/>
          </p:cNvSpPr>
          <p:nvPr>
            <p:ph idx="1"/>
          </p:nvPr>
        </p:nvSpPr>
        <p:spPr>
          <a:xfrm>
            <a:off x="762000" y="2362200"/>
            <a:ext cx="7924800" cy="3763963"/>
          </a:xfrm>
        </p:spPr>
        <p:txBody>
          <a:bodyPr/>
          <a:lstStyle/>
          <a:p>
            <a:r>
              <a:rPr lang="en-US" dirty="0"/>
              <a:t>Partnership acceptance by Commissioner </a:t>
            </a:r>
          </a:p>
          <a:p>
            <a:r>
              <a:rPr lang="en-US" dirty="0"/>
              <a:t>Team approach to get the correct information and involve the right parties </a:t>
            </a:r>
          </a:p>
          <a:p>
            <a:pPr lvl="1">
              <a:buClr>
                <a:srgbClr val="FFC000"/>
              </a:buClr>
            </a:pPr>
            <a:r>
              <a:rPr lang="en-US" sz="3200" dirty="0"/>
              <a:t>Project Manager </a:t>
            </a:r>
          </a:p>
          <a:p>
            <a:pPr lvl="1">
              <a:buClr>
                <a:srgbClr val="FFC000"/>
              </a:buClr>
            </a:pPr>
            <a:r>
              <a:rPr lang="en-US" sz="3200" dirty="0"/>
              <a:t>Steering Committee </a:t>
            </a:r>
          </a:p>
          <a:p>
            <a:pPr lvl="1">
              <a:buClr>
                <a:srgbClr val="FFC000"/>
              </a:buClr>
            </a:pPr>
            <a:r>
              <a:rPr lang="en-US" sz="3200" dirty="0"/>
              <a:t>Self-assessment Team </a:t>
            </a:r>
          </a:p>
          <a:p>
            <a:pPr lvl="1">
              <a:buClr>
                <a:srgbClr val="FFC000"/>
              </a:buClr>
            </a:pPr>
            <a:r>
              <a:rPr lang="en-US" sz="3200" dirty="0"/>
              <a:t>Subject Matter Experts </a:t>
            </a:r>
          </a:p>
        </p:txBody>
      </p:sp>
    </p:spTree>
    <p:extLst>
      <p:ext uri="{BB962C8B-B14F-4D97-AF65-F5344CB8AC3E}">
        <p14:creationId xmlns:p14="http://schemas.microsoft.com/office/powerpoint/2010/main" val="3383154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latin typeface="Arial" panose="020B0604020202020204" pitchFamily="34" charset="0"/>
                <a:cs typeface="Arial" panose="020B0604020202020204" pitchFamily="34" charset="0"/>
              </a:rPr>
              <a:t>PWD Project Structure</a:t>
            </a:r>
          </a:p>
        </p:txBody>
      </p:sp>
      <p:sp>
        <p:nvSpPr>
          <p:cNvPr id="3" name="Content Placeholder 2"/>
          <p:cNvSpPr>
            <a:spLocks noGrp="1"/>
          </p:cNvSpPr>
          <p:nvPr>
            <p:ph idx="1"/>
          </p:nvPr>
        </p:nvSpPr>
        <p:spPr>
          <a:xfrm>
            <a:off x="457200" y="1295400"/>
            <a:ext cx="8229600" cy="5029200"/>
          </a:xfrm>
        </p:spPr>
        <p:txBody>
          <a:bodyPr/>
          <a:lstStyle/>
          <a:p>
            <a:r>
              <a:rPr lang="en-US" b="1" dirty="0">
                <a:effectLst/>
              </a:rPr>
              <a:t>Steering Committee</a:t>
            </a:r>
            <a:r>
              <a:rPr lang="en-US" b="1" dirty="0"/>
              <a:t> </a:t>
            </a:r>
          </a:p>
          <a:p>
            <a:pPr>
              <a:spcBef>
                <a:spcPts val="0"/>
              </a:spcBef>
            </a:pPr>
            <a:r>
              <a:rPr lang="en-US" sz="2400" dirty="0"/>
              <a:t>Led by project manager, consists of leaders within utility whose organization would be impacted by SA process, monthly meetings to develop framework for and oversee project </a:t>
            </a:r>
          </a:p>
          <a:p>
            <a:r>
              <a:rPr lang="en-US" b="1" dirty="0">
                <a:effectLst/>
              </a:rPr>
              <a:t>Self-assessment Team </a:t>
            </a:r>
          </a:p>
          <a:p>
            <a:pPr>
              <a:spcBef>
                <a:spcPts val="0"/>
              </a:spcBef>
            </a:pPr>
            <a:r>
              <a:rPr lang="en-US" sz="2400" dirty="0"/>
              <a:t>Composed of younger professionals, 3 groups based on Performance Improvement Variables, managed and directed details of SA process and summary interview documents </a:t>
            </a:r>
          </a:p>
          <a:p>
            <a:r>
              <a:rPr lang="en-US" b="1" dirty="0">
                <a:effectLst/>
              </a:rPr>
              <a:t>Subject Matter Experts </a:t>
            </a:r>
          </a:p>
          <a:p>
            <a:pPr>
              <a:spcBef>
                <a:spcPts val="0"/>
              </a:spcBef>
            </a:pPr>
            <a:r>
              <a:rPr lang="en-US" sz="2400" dirty="0"/>
              <a:t>Experienced technical staff, participated in interviews with SA Team, reviewed findings and recommendations, Steering Committee members also participated as SMEs </a:t>
            </a:r>
          </a:p>
        </p:txBody>
      </p:sp>
    </p:spTree>
    <p:extLst>
      <p:ext uri="{BB962C8B-B14F-4D97-AF65-F5344CB8AC3E}">
        <p14:creationId xmlns:p14="http://schemas.microsoft.com/office/powerpoint/2010/main" val="2703354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Rot="1" noChangeArrowheads="1"/>
          </p:cNvSpPr>
          <p:nvPr>
            <p:ph type="title"/>
          </p:nvPr>
        </p:nvSpPr>
        <p:spPr>
          <a:xfrm>
            <a:off x="457200" y="274638"/>
            <a:ext cx="8229600" cy="2163762"/>
          </a:xfrm>
        </p:spPr>
        <p:txBody>
          <a:bodyPr/>
          <a:lstStyle/>
          <a:p>
            <a:pPr eaLnBrk="1" hangingPunct="1"/>
            <a:r>
              <a:rPr lang="en-US" sz="4000" dirty="0">
                <a:solidFill>
                  <a:schemeClr val="hlink"/>
                </a:solidFill>
                <a:effectLst/>
                <a:latin typeface="Arial" charset="0"/>
              </a:rPr>
              <a:t>PWD Steering Committee Members</a:t>
            </a:r>
          </a:p>
        </p:txBody>
      </p:sp>
      <p:sp>
        <p:nvSpPr>
          <p:cNvPr id="26627" name="Rectangle 3"/>
          <p:cNvSpPr>
            <a:spLocks noGrp="1" noChangeArrowheads="1"/>
          </p:cNvSpPr>
          <p:nvPr>
            <p:ph type="body" idx="1"/>
          </p:nvPr>
        </p:nvSpPr>
        <p:spPr>
          <a:xfrm>
            <a:off x="609600" y="2514600"/>
            <a:ext cx="8534400" cy="3429000"/>
          </a:xfrm>
        </p:spPr>
        <p:txBody>
          <a:bodyPr/>
          <a:lstStyle/>
          <a:p>
            <a:pPr eaLnBrk="1" hangingPunct="1">
              <a:lnSpc>
                <a:spcPct val="90000"/>
              </a:lnSpc>
            </a:pPr>
            <a:endParaRPr lang="en-US" altLang="ja-JP" sz="2400" b="1" dirty="0">
              <a:ea typeface="ＭＳ Ｐゴシック" pitchFamily="34" charset="-128"/>
            </a:endParaRPr>
          </a:p>
          <a:p>
            <a:pPr eaLnBrk="1" hangingPunct="1"/>
            <a:r>
              <a:rPr lang="en-US" altLang="ja-JP" sz="2400" b="1" dirty="0">
                <a:ea typeface="ＭＳ Ｐゴシック" pitchFamily="34" charset="-128"/>
              </a:rPr>
              <a:t>Charles Zitomer, Assistant General Manager of Field Services</a:t>
            </a:r>
          </a:p>
          <a:p>
            <a:pPr eaLnBrk="1" hangingPunct="1"/>
            <a:r>
              <a:rPr lang="en-US" altLang="ja-JP" sz="2400" b="1" dirty="0">
                <a:ea typeface="ＭＳ Ｐゴシック" pitchFamily="34" charset="-128"/>
              </a:rPr>
              <a:t>Steve Furtek, General Manager of Engineering Division </a:t>
            </a:r>
            <a:r>
              <a:rPr lang="en-US" altLang="ja-JP" sz="2400" dirty="0">
                <a:ea typeface="ＭＳ Ｐゴシック" pitchFamily="34" charset="-128"/>
              </a:rPr>
              <a:t>	</a:t>
            </a:r>
            <a:endParaRPr lang="en-US" altLang="ja-JP" sz="2400" b="1" i="1" dirty="0">
              <a:solidFill>
                <a:srgbClr val="BFBFBF"/>
              </a:solidFill>
              <a:ea typeface="ＭＳ Ｐゴシック" pitchFamily="34" charset="-128"/>
            </a:endParaRPr>
          </a:p>
          <a:p>
            <a:pPr eaLnBrk="1" hangingPunct="1"/>
            <a:r>
              <a:rPr lang="en-US" altLang="ja-JP" sz="2400" b="1" dirty="0">
                <a:ea typeface="ＭＳ Ｐゴシック" pitchFamily="34" charset="-128"/>
              </a:rPr>
              <a:t>Christine Marjoram, Director of Planning &amp; Research </a:t>
            </a:r>
          </a:p>
          <a:p>
            <a:pPr marL="342900" lvl="1" indent="-342900" eaLnBrk="1" hangingPunct="1">
              <a:buClr>
                <a:schemeClr val="hlink"/>
              </a:buClr>
            </a:pPr>
            <a:r>
              <a:rPr lang="en-US" altLang="ja-JP" sz="2400" b="1" dirty="0">
                <a:ea typeface="ＭＳ Ｐゴシック" pitchFamily="34" charset="-128"/>
              </a:rPr>
              <a:t>Rita Kopansky, Water Quality &amp; Research Manager	</a:t>
            </a:r>
          </a:p>
          <a:p>
            <a:pPr eaLnBrk="1" hangingPunct="1"/>
            <a:r>
              <a:rPr lang="en-US" altLang="ja-JP" sz="2400" b="1" dirty="0">
                <a:ea typeface="ＭＳ Ｐゴシック" pitchFamily="34" charset="-128"/>
              </a:rPr>
              <a:t>John Muldowney, Director of Treatment Operations</a:t>
            </a:r>
          </a:p>
          <a:p>
            <a:pPr eaLnBrk="1" hangingPunct="1"/>
            <a:r>
              <a:rPr lang="en-US" altLang="ja-JP" sz="2400" b="1" dirty="0">
                <a:ea typeface="ＭＳ Ｐゴシック" pitchFamily="34" charset="-128"/>
              </a:rPr>
              <a:t>Jim Brady, Chief of Conveyance Section </a:t>
            </a:r>
            <a:r>
              <a:rPr lang="en-US" altLang="ja-JP" dirty="0">
                <a:ea typeface="ＭＳ Ｐゴシック" pitchFamily="34" charset="-128"/>
              </a:rPr>
              <a:t>	</a:t>
            </a:r>
            <a:endParaRPr lang="en-US" dirty="0">
              <a:ea typeface="ＭＳ Ｐゴシック" pitchFamily="34" charset="-128"/>
            </a:endParaRPr>
          </a:p>
        </p:txBody>
      </p:sp>
      <p:pic>
        <p:nvPicPr>
          <p:cNvPr id="39939" name="Picture 4" descr="MC900174351[1]"/>
          <p:cNvPicPr>
            <a:picLocks noChangeAspect="1" noChangeArrowheads="1"/>
          </p:cNvPicPr>
          <p:nvPr/>
        </p:nvPicPr>
        <p:blipFill>
          <a:blip r:embed="rId3"/>
          <a:srcRect/>
          <a:stretch>
            <a:fillRect/>
          </a:stretch>
        </p:blipFill>
        <p:spPr bwMode="auto">
          <a:xfrm>
            <a:off x="6400800" y="1371600"/>
            <a:ext cx="1819275" cy="1560513"/>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447800"/>
          </a:xfrm>
        </p:spPr>
        <p:txBody>
          <a:bodyPr/>
          <a:lstStyle/>
          <a:p>
            <a:r>
              <a:rPr lang="en-US" dirty="0">
                <a:solidFill>
                  <a:schemeClr val="hlink"/>
                </a:solidFill>
                <a:effectLst/>
                <a:latin typeface="Arial" charset="0"/>
              </a:rPr>
              <a:t>PWD Self-assessment </a:t>
            </a:r>
            <a:br>
              <a:rPr lang="en-US" dirty="0">
                <a:solidFill>
                  <a:schemeClr val="hlink"/>
                </a:solidFill>
                <a:effectLst/>
                <a:latin typeface="Arial" charset="0"/>
              </a:rPr>
            </a:br>
            <a:r>
              <a:rPr lang="en-US" dirty="0">
                <a:solidFill>
                  <a:schemeClr val="hlink"/>
                </a:solidFill>
                <a:effectLst/>
                <a:latin typeface="Arial" charset="0"/>
              </a:rPr>
              <a:t>Team  Members</a:t>
            </a:r>
            <a:endParaRPr lang="en-US" dirty="0"/>
          </a:p>
        </p:txBody>
      </p:sp>
      <p:sp>
        <p:nvSpPr>
          <p:cNvPr id="3" name="Content Placeholder 2"/>
          <p:cNvSpPr>
            <a:spLocks noGrp="1"/>
          </p:cNvSpPr>
          <p:nvPr>
            <p:ph idx="1"/>
          </p:nvPr>
        </p:nvSpPr>
        <p:spPr>
          <a:xfrm>
            <a:off x="1524000" y="2286000"/>
            <a:ext cx="5867400" cy="3840163"/>
          </a:xfrm>
        </p:spPr>
        <p:txBody>
          <a:bodyPr/>
          <a:lstStyle/>
          <a:p>
            <a:r>
              <a:rPr lang="en-US" sz="2400" b="1" dirty="0">
                <a:effectLst/>
              </a:rPr>
              <a:t>Matt Albracht, Load Control Engineer</a:t>
            </a:r>
          </a:p>
          <a:p>
            <a:pPr lvl="0"/>
            <a:r>
              <a:rPr lang="en-US" sz="2400" b="1" dirty="0">
                <a:effectLst/>
              </a:rPr>
              <a:t>Bishel Baby, P&amp;R Engineer</a:t>
            </a:r>
          </a:p>
          <a:p>
            <a:pPr lvl="0"/>
            <a:r>
              <a:rPr lang="en-US" sz="2400" b="1" dirty="0">
                <a:effectLst/>
              </a:rPr>
              <a:t>Steve </a:t>
            </a:r>
            <a:r>
              <a:rPr lang="en-US" sz="2400" b="1" dirty="0" err="1">
                <a:effectLst/>
              </a:rPr>
              <a:t>Demmer</a:t>
            </a:r>
            <a:r>
              <a:rPr lang="en-US" sz="2400" b="1" dirty="0">
                <a:effectLst/>
              </a:rPr>
              <a:t>, Belmont WTP Engineer</a:t>
            </a:r>
          </a:p>
          <a:p>
            <a:r>
              <a:rPr lang="en-US" sz="2400" b="1" dirty="0">
                <a:effectLst/>
              </a:rPr>
              <a:t>Johnathon Freed, P&amp;R Engineer</a:t>
            </a:r>
          </a:p>
          <a:p>
            <a:r>
              <a:rPr lang="en-US" sz="2400" b="1" dirty="0">
                <a:effectLst/>
              </a:rPr>
              <a:t>Abey John, Baxter WTP Engineer</a:t>
            </a:r>
          </a:p>
          <a:p>
            <a:r>
              <a:rPr lang="en-US" sz="2400" b="1" dirty="0">
                <a:effectLst/>
              </a:rPr>
              <a:t>Janusz Kowalski, Load Control Engineer</a:t>
            </a:r>
          </a:p>
          <a:p>
            <a:pPr lvl="0"/>
            <a:r>
              <a:rPr lang="en-US" sz="2400" b="1" dirty="0">
                <a:effectLst/>
              </a:rPr>
              <a:t>Dennis O’Connor, BLS Engineer</a:t>
            </a:r>
          </a:p>
          <a:p>
            <a:pPr lvl="0"/>
            <a:r>
              <a:rPr lang="en-US" sz="2400" b="1" dirty="0">
                <a:effectLst/>
              </a:rPr>
              <a:t>Joseph Yeager, Load Control Engineer</a:t>
            </a:r>
          </a:p>
          <a:p>
            <a:endParaRPr lang="en-US" dirty="0"/>
          </a:p>
        </p:txBody>
      </p:sp>
    </p:spTree>
    <p:extLst>
      <p:ext uri="{BB962C8B-B14F-4D97-AF65-F5344CB8AC3E}">
        <p14:creationId xmlns:p14="http://schemas.microsoft.com/office/powerpoint/2010/main" val="3114517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219200"/>
          </a:xfrm>
        </p:spPr>
        <p:txBody>
          <a:bodyPr/>
          <a:lstStyle/>
          <a:p>
            <a:r>
              <a:rPr lang="en-US" dirty="0">
                <a:solidFill>
                  <a:schemeClr val="hlink"/>
                </a:solidFill>
                <a:effectLst/>
                <a:latin typeface="Arial" charset="0"/>
              </a:rPr>
              <a:t>PWD Subject Matter Experts</a:t>
            </a:r>
            <a:endParaRPr lang="en-US" dirty="0"/>
          </a:p>
        </p:txBody>
      </p:sp>
      <p:sp>
        <p:nvSpPr>
          <p:cNvPr id="3" name="Content Placeholder 2"/>
          <p:cNvSpPr>
            <a:spLocks noGrp="1"/>
          </p:cNvSpPr>
          <p:nvPr>
            <p:ph idx="1"/>
          </p:nvPr>
        </p:nvSpPr>
        <p:spPr>
          <a:xfrm>
            <a:off x="457200" y="1524000"/>
            <a:ext cx="8229600" cy="5105400"/>
          </a:xfrm>
        </p:spPr>
        <p:txBody>
          <a:bodyPr/>
          <a:lstStyle/>
          <a:p>
            <a:pPr lvl="0"/>
            <a:r>
              <a:rPr lang="en-US" sz="2400" b="1" dirty="0">
                <a:effectLst/>
              </a:rPr>
              <a:t>Jose Abraham	Gary Burlingame	Nicole Charlton</a:t>
            </a:r>
          </a:p>
          <a:p>
            <a:pPr lvl="0"/>
            <a:r>
              <a:rPr lang="en-US" sz="2400" b="1" dirty="0">
                <a:effectLst/>
              </a:rPr>
              <a:t>Jung Choi		Joe Clare		John Consolvo</a:t>
            </a:r>
          </a:p>
          <a:p>
            <a:pPr lvl="0"/>
            <a:r>
              <a:rPr lang="en-US" sz="2400" b="1" dirty="0">
                <a:effectLst/>
              </a:rPr>
              <a:t>Chris Crockett	Joanne Dahme	Adam Eyring</a:t>
            </a:r>
          </a:p>
          <a:p>
            <a:pPr lvl="0"/>
            <a:r>
              <a:rPr lang="en-US" sz="2400" b="1" dirty="0">
                <a:effectLst/>
              </a:rPr>
              <a:t>Kate Guest		Jim Golembeski	Joe Hinton</a:t>
            </a:r>
          </a:p>
          <a:p>
            <a:pPr lvl="0"/>
            <a:r>
              <a:rPr lang="en-US" sz="2400" b="1" dirty="0">
                <a:effectLst/>
              </a:rPr>
              <a:t>George Kunkel	Melissa Labuda	Cliff Lahann</a:t>
            </a:r>
          </a:p>
          <a:p>
            <a:pPr lvl="0"/>
            <a:r>
              <a:rPr lang="en-US" sz="2400" b="1" dirty="0">
                <a:effectLst/>
              </a:rPr>
              <a:t>Michael Lavery	Lorenzo Lucia	Debra McCarty</a:t>
            </a:r>
          </a:p>
          <a:p>
            <a:pPr lvl="0"/>
            <a:r>
              <a:rPr lang="en-US" sz="2400" b="1" dirty="0">
                <a:effectLst/>
              </a:rPr>
              <a:t>Kevin McNichol	Bill Neary		Delores Pringle</a:t>
            </a:r>
          </a:p>
          <a:p>
            <a:pPr lvl="0"/>
            <a:r>
              <a:rPr lang="en-US" sz="2400" b="1" dirty="0">
                <a:effectLst/>
              </a:rPr>
              <a:t>Brendan Reilly	Jaclyn Rogers		Ralph Rogers</a:t>
            </a:r>
          </a:p>
          <a:p>
            <a:pPr lvl="0"/>
            <a:r>
              <a:rPr lang="en-US" sz="2400" b="1" dirty="0">
                <a:effectLst/>
              </a:rPr>
              <a:t>Jeff Simmet	Matt Smith		David Specht</a:t>
            </a:r>
          </a:p>
          <a:p>
            <a:pPr lvl="0"/>
            <a:r>
              <a:rPr lang="en-US" sz="2400" b="1" dirty="0">
                <a:effectLst/>
              </a:rPr>
              <a:t>George Stokes	Gerald Stokes		Ya-chi Tsoa</a:t>
            </a:r>
          </a:p>
          <a:p>
            <a:pPr lvl="0"/>
            <a:r>
              <a:rPr lang="en-US" sz="2400" b="1" dirty="0">
                <a:effectLst/>
              </a:rPr>
              <a:t>Tony Varano	John Vogtman	R. Watson-Mack</a:t>
            </a:r>
          </a:p>
          <a:p>
            <a:pPr marL="0" indent="0">
              <a:buNone/>
            </a:pPr>
            <a:endParaRPr lang="en-US" dirty="0"/>
          </a:p>
        </p:txBody>
      </p:sp>
    </p:spTree>
    <p:extLst>
      <p:ext uri="{BB962C8B-B14F-4D97-AF65-F5344CB8AC3E}">
        <p14:creationId xmlns:p14="http://schemas.microsoft.com/office/powerpoint/2010/main" val="2164269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Rot="1" noChangeArrowheads="1"/>
          </p:cNvSpPr>
          <p:nvPr>
            <p:ph type="title"/>
          </p:nvPr>
        </p:nvSpPr>
        <p:spPr>
          <a:xfrm>
            <a:off x="457200" y="228600"/>
            <a:ext cx="8229600" cy="1143000"/>
          </a:xfrm>
        </p:spPr>
        <p:txBody>
          <a:bodyPr/>
          <a:lstStyle/>
          <a:p>
            <a:pPr eaLnBrk="1" hangingPunct="1"/>
            <a:r>
              <a:rPr lang="en-US" dirty="0">
                <a:solidFill>
                  <a:schemeClr val="hlink"/>
                </a:solidFill>
                <a:effectLst/>
                <a:latin typeface="Arial" charset="0"/>
              </a:rPr>
              <a:t>Self-Assessment Process</a:t>
            </a:r>
          </a:p>
        </p:txBody>
      </p:sp>
      <p:sp>
        <p:nvSpPr>
          <p:cNvPr id="32770" name="Rectangle 3"/>
          <p:cNvSpPr>
            <a:spLocks noGrp="1" noChangeArrowheads="1"/>
          </p:cNvSpPr>
          <p:nvPr>
            <p:ph type="body" idx="1"/>
          </p:nvPr>
        </p:nvSpPr>
        <p:spPr>
          <a:xfrm>
            <a:off x="381000" y="1371600"/>
            <a:ext cx="8610600" cy="4800600"/>
          </a:xfrm>
        </p:spPr>
        <p:txBody>
          <a:bodyPr/>
          <a:lstStyle/>
          <a:p>
            <a:pPr eaLnBrk="1" hangingPunct="1">
              <a:lnSpc>
                <a:spcPct val="90000"/>
              </a:lnSpc>
            </a:pPr>
            <a:r>
              <a:rPr lang="en-US" sz="2800" dirty="0">
                <a:effectLst/>
              </a:rPr>
              <a:t>SA Teams established from throughout PWD; </a:t>
            </a:r>
          </a:p>
          <a:p>
            <a:pPr eaLnBrk="1" hangingPunct="1">
              <a:lnSpc>
                <a:spcPct val="90000"/>
              </a:lnSpc>
              <a:buFont typeface="Wingdings" pitchFamily="2" charset="2"/>
              <a:buNone/>
            </a:pPr>
            <a:r>
              <a:rPr lang="en-US" sz="2800" dirty="0">
                <a:effectLst/>
              </a:rPr>
              <a:t>	</a:t>
            </a:r>
            <a:r>
              <a:rPr lang="en-US" sz="2400" dirty="0">
                <a:effectLst/>
              </a:rPr>
              <a:t>Operations, Engineering</a:t>
            </a:r>
            <a:r>
              <a:rPr lang="en-US" sz="2400">
                <a:effectLst/>
              </a:rPr>
              <a:t>, P&amp;R, </a:t>
            </a:r>
            <a:r>
              <a:rPr lang="en-US" sz="2400" dirty="0">
                <a:effectLst/>
              </a:rPr>
              <a:t>BLS, HR &amp; Finance</a:t>
            </a:r>
          </a:p>
          <a:p>
            <a:pPr lvl="1" eaLnBrk="1" hangingPunct="1">
              <a:lnSpc>
                <a:spcPct val="90000"/>
              </a:lnSpc>
              <a:buClr>
                <a:schemeClr val="hlink"/>
              </a:buClr>
            </a:pPr>
            <a:r>
              <a:rPr lang="en-US" sz="2400" dirty="0">
                <a:effectLst/>
              </a:rPr>
              <a:t>Team experience builds institutional knowledge of the utility	</a:t>
            </a:r>
          </a:p>
          <a:p>
            <a:pPr eaLnBrk="1" hangingPunct="1">
              <a:lnSpc>
                <a:spcPct val="90000"/>
              </a:lnSpc>
            </a:pPr>
            <a:r>
              <a:rPr lang="en-US" sz="2800" dirty="0">
                <a:effectLst/>
              </a:rPr>
              <a:t>Distribution system optimization status evaluated for:</a:t>
            </a:r>
          </a:p>
          <a:p>
            <a:pPr lvl="1" eaLnBrk="1" hangingPunct="1">
              <a:lnSpc>
                <a:spcPct val="90000"/>
              </a:lnSpc>
              <a:buClr>
                <a:schemeClr val="hlink"/>
              </a:buClr>
            </a:pPr>
            <a:r>
              <a:rPr lang="en-US" sz="2400" b="1" dirty="0">
                <a:effectLst/>
              </a:rPr>
              <a:t>Design</a:t>
            </a:r>
          </a:p>
          <a:p>
            <a:pPr lvl="1" eaLnBrk="1" hangingPunct="1">
              <a:lnSpc>
                <a:spcPct val="90000"/>
              </a:lnSpc>
              <a:buClr>
                <a:schemeClr val="hlink"/>
              </a:buClr>
            </a:pPr>
            <a:r>
              <a:rPr lang="en-US" sz="2400" b="1" dirty="0">
                <a:effectLst/>
              </a:rPr>
              <a:t>Administration</a:t>
            </a:r>
          </a:p>
          <a:p>
            <a:pPr lvl="1" eaLnBrk="1" hangingPunct="1">
              <a:lnSpc>
                <a:spcPct val="90000"/>
              </a:lnSpc>
              <a:buClr>
                <a:schemeClr val="hlink"/>
              </a:buClr>
            </a:pPr>
            <a:r>
              <a:rPr lang="en-US" sz="2400" b="1" dirty="0">
                <a:effectLst/>
              </a:rPr>
              <a:t>Performance Goals</a:t>
            </a:r>
          </a:p>
          <a:p>
            <a:pPr lvl="1" eaLnBrk="1" hangingPunct="1">
              <a:lnSpc>
                <a:spcPct val="90000"/>
              </a:lnSpc>
              <a:buClr>
                <a:schemeClr val="hlink"/>
              </a:buClr>
            </a:pPr>
            <a:r>
              <a:rPr lang="en-US" sz="2400" b="1" dirty="0">
                <a:effectLst/>
              </a:rPr>
              <a:t>Performance Variables</a:t>
            </a:r>
          </a:p>
          <a:p>
            <a:pPr lvl="1" eaLnBrk="1" hangingPunct="1">
              <a:lnSpc>
                <a:spcPct val="90000"/>
              </a:lnSpc>
              <a:buClr>
                <a:schemeClr val="hlink"/>
              </a:buClr>
            </a:pPr>
            <a:r>
              <a:rPr lang="en-US" sz="2400" b="1" dirty="0">
                <a:effectLst/>
              </a:rPr>
              <a:t>Operator Application of Concepts</a:t>
            </a:r>
          </a:p>
          <a:p>
            <a:pPr eaLnBrk="1" hangingPunct="1">
              <a:lnSpc>
                <a:spcPct val="90000"/>
              </a:lnSpc>
            </a:pPr>
            <a:r>
              <a:rPr lang="en-US" sz="2800" dirty="0">
                <a:effectLst/>
              </a:rPr>
              <a:t>Potential Limiting Factors (</a:t>
            </a:r>
            <a:r>
              <a:rPr lang="en-US" sz="2800" b="1" dirty="0">
                <a:effectLst/>
              </a:rPr>
              <a:t>PLFs</a:t>
            </a:r>
            <a:r>
              <a:rPr lang="en-US" sz="2800" dirty="0">
                <a:effectLst/>
              </a:rPr>
              <a:t>) identified</a:t>
            </a:r>
          </a:p>
          <a:p>
            <a:pPr eaLnBrk="1" hangingPunct="1">
              <a:lnSpc>
                <a:spcPct val="90000"/>
              </a:lnSpc>
            </a:pPr>
            <a:r>
              <a:rPr lang="en-US" sz="2800" dirty="0">
                <a:effectLst/>
              </a:rPr>
              <a:t>Multi-year Continuous Improvement Plan created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dirty="0">
                <a:solidFill>
                  <a:schemeClr val="hlink"/>
                </a:solidFill>
                <a:effectLst/>
                <a:latin typeface="Arial" charset="0"/>
              </a:rPr>
              <a:t>SA Process Resources</a:t>
            </a:r>
            <a:endParaRPr lang="en-US" dirty="0"/>
          </a:p>
        </p:txBody>
      </p:sp>
      <p:sp>
        <p:nvSpPr>
          <p:cNvPr id="3" name="Content Placeholder 2"/>
          <p:cNvSpPr>
            <a:spLocks noGrp="1"/>
          </p:cNvSpPr>
          <p:nvPr>
            <p:ph idx="1"/>
          </p:nvPr>
        </p:nvSpPr>
        <p:spPr>
          <a:xfrm>
            <a:off x="990600" y="1828800"/>
            <a:ext cx="7467600" cy="3810000"/>
          </a:xfrm>
        </p:spPr>
        <p:txBody>
          <a:bodyPr/>
          <a:lstStyle/>
          <a:p>
            <a:r>
              <a:rPr lang="en-US" sz="4000" dirty="0"/>
              <a:t>1200</a:t>
            </a:r>
            <a:r>
              <a:rPr lang="en-US" dirty="0"/>
              <a:t> hours of staff time committed during 2012, 2013 and 2014</a:t>
            </a:r>
          </a:p>
          <a:p>
            <a:pPr>
              <a:buSzPct val="80000"/>
            </a:pPr>
            <a:r>
              <a:rPr lang="en-US" dirty="0"/>
              <a:t>Distribution of staff hours:</a:t>
            </a:r>
          </a:p>
          <a:p>
            <a:pPr lvl="2">
              <a:buClr>
                <a:srgbClr val="FFC000"/>
              </a:buClr>
            </a:pPr>
            <a:r>
              <a:rPr lang="en-US" sz="4000" dirty="0"/>
              <a:t> 28%</a:t>
            </a:r>
            <a:r>
              <a:rPr lang="en-US" sz="2800" dirty="0"/>
              <a:t> Steering Committee</a:t>
            </a:r>
          </a:p>
          <a:p>
            <a:pPr lvl="2">
              <a:buClr>
                <a:srgbClr val="FFC000"/>
              </a:buClr>
            </a:pPr>
            <a:r>
              <a:rPr lang="en-US" sz="4000" dirty="0"/>
              <a:t> 49%</a:t>
            </a:r>
            <a:r>
              <a:rPr lang="en-US" sz="2800" dirty="0"/>
              <a:t> Self-assessment Team</a:t>
            </a:r>
          </a:p>
          <a:p>
            <a:pPr lvl="2">
              <a:buClr>
                <a:srgbClr val="FFC000"/>
              </a:buClr>
            </a:pPr>
            <a:r>
              <a:rPr lang="en-US" sz="4000" dirty="0"/>
              <a:t> 23%</a:t>
            </a:r>
            <a:r>
              <a:rPr lang="en-US" sz="2800" dirty="0"/>
              <a:t> Subject Matter Experts</a:t>
            </a:r>
          </a:p>
        </p:txBody>
      </p:sp>
    </p:spTree>
    <p:extLst>
      <p:ext uri="{BB962C8B-B14F-4D97-AF65-F5344CB8AC3E}">
        <p14:creationId xmlns:p14="http://schemas.microsoft.com/office/powerpoint/2010/main" val="4050853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sz="4800" dirty="0">
                <a:solidFill>
                  <a:srgbClr val="FFC000"/>
                </a:solidFill>
                <a:latin typeface="Arial" panose="020B0604020202020204" pitchFamily="34" charset="0"/>
                <a:cs typeface="Arial" panose="020B0604020202020204" pitchFamily="34" charset="0"/>
              </a:rPr>
              <a:t>PWD Findings – PLFs &amp; PI</a:t>
            </a:r>
            <a:r>
              <a:rPr lang="en-US" sz="4800" baseline="30000" dirty="0">
                <a:solidFill>
                  <a:srgbClr val="FFC000"/>
                </a:solidFill>
                <a:latin typeface="Arial" panose="020B0604020202020204" pitchFamily="34" charset="0"/>
                <a:cs typeface="Arial" panose="020B0604020202020204" pitchFamily="34" charset="0"/>
              </a:rPr>
              <a:t>2</a:t>
            </a:r>
          </a:p>
        </p:txBody>
      </p:sp>
      <p:sp>
        <p:nvSpPr>
          <p:cNvPr id="3" name="Content Placeholder 2"/>
          <p:cNvSpPr>
            <a:spLocks noGrp="1"/>
          </p:cNvSpPr>
          <p:nvPr>
            <p:ph idx="1"/>
          </p:nvPr>
        </p:nvSpPr>
        <p:spPr>
          <a:xfrm>
            <a:off x="457200" y="1219200"/>
            <a:ext cx="8305800" cy="5257800"/>
          </a:xfrm>
        </p:spPr>
        <p:txBody>
          <a:bodyPr/>
          <a:lstStyle/>
          <a:p>
            <a:r>
              <a:rPr lang="en-US" dirty="0">
                <a:effectLst/>
              </a:rPr>
              <a:t>In response to self-assessment questions from PSW, potential limiting factors (PLFs) were identified</a:t>
            </a:r>
          </a:p>
          <a:p>
            <a:pPr lvl="1"/>
            <a:r>
              <a:rPr lang="en-US" dirty="0">
                <a:effectLst/>
              </a:rPr>
              <a:t>14 total PLFs</a:t>
            </a:r>
          </a:p>
          <a:p>
            <a:r>
              <a:rPr lang="en-US" dirty="0">
                <a:effectLst/>
              </a:rPr>
              <a:t>In addition to PLFs and not limited to PSW, the subject matter experts interviewed presented additional concerns and suggested actions to further enhance optimization through Performance Improvement Initiatives - (PI</a:t>
            </a:r>
            <a:r>
              <a:rPr lang="en-US" baseline="30000" dirty="0">
                <a:effectLst/>
              </a:rPr>
              <a:t>2</a:t>
            </a:r>
            <a:r>
              <a:rPr lang="en-US" dirty="0">
                <a:effectLst/>
              </a:rPr>
              <a:t>)</a:t>
            </a:r>
            <a:endParaRPr lang="en-US" sz="1600" dirty="0"/>
          </a:p>
          <a:p>
            <a:pPr lvl="1"/>
            <a:r>
              <a:rPr lang="en-US" dirty="0">
                <a:effectLst/>
              </a:rPr>
              <a:t>73 total PI</a:t>
            </a:r>
            <a:r>
              <a:rPr lang="en-US" baseline="30000" dirty="0">
                <a:effectLst/>
              </a:rPr>
              <a:t>2</a:t>
            </a:r>
          </a:p>
        </p:txBody>
      </p:sp>
    </p:spTree>
    <p:extLst>
      <p:ext uri="{BB962C8B-B14F-4D97-AF65-F5344CB8AC3E}">
        <p14:creationId xmlns:p14="http://schemas.microsoft.com/office/powerpoint/2010/main" val="3405093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rrowheads="1"/>
          </p:cNvSpPr>
          <p:nvPr>
            <p:ph type="title"/>
          </p:nvPr>
        </p:nvSpPr>
        <p:spPr/>
        <p:txBody>
          <a:bodyPr/>
          <a:lstStyle/>
          <a:p>
            <a:pPr eaLnBrk="1" hangingPunct="1"/>
            <a:r>
              <a:rPr lang="en-US" dirty="0">
                <a:solidFill>
                  <a:schemeClr val="hlink"/>
                </a:solidFill>
                <a:effectLst/>
                <a:latin typeface="Arial" charset="0"/>
              </a:rPr>
              <a:t>Program Benefits</a:t>
            </a:r>
          </a:p>
        </p:txBody>
      </p:sp>
      <p:sp>
        <p:nvSpPr>
          <p:cNvPr id="23555" name="Rectangle 3"/>
          <p:cNvSpPr>
            <a:spLocks noGrp="1" noChangeArrowheads="1"/>
          </p:cNvSpPr>
          <p:nvPr>
            <p:ph type="body" idx="1"/>
          </p:nvPr>
        </p:nvSpPr>
        <p:spPr>
          <a:xfrm>
            <a:off x="1524000" y="1676400"/>
            <a:ext cx="7086600" cy="4495800"/>
          </a:xfrm>
        </p:spPr>
        <p:txBody>
          <a:bodyPr/>
          <a:lstStyle/>
          <a:p>
            <a:pPr eaLnBrk="1" hangingPunct="1">
              <a:lnSpc>
                <a:spcPct val="90000"/>
              </a:lnSpc>
            </a:pPr>
            <a:r>
              <a:rPr lang="en-US" dirty="0">
                <a:effectLst/>
              </a:rPr>
              <a:t>Higher Quality Water</a:t>
            </a:r>
          </a:p>
          <a:p>
            <a:pPr eaLnBrk="1" hangingPunct="1">
              <a:lnSpc>
                <a:spcPct val="90000"/>
              </a:lnSpc>
            </a:pPr>
            <a:r>
              <a:rPr lang="en-US" dirty="0">
                <a:effectLst/>
              </a:rPr>
              <a:t>Regulatory Compliance</a:t>
            </a:r>
          </a:p>
          <a:p>
            <a:pPr eaLnBrk="1" hangingPunct="1">
              <a:lnSpc>
                <a:spcPct val="90000"/>
              </a:lnSpc>
            </a:pPr>
            <a:r>
              <a:rPr lang="en-US" dirty="0">
                <a:effectLst/>
              </a:rPr>
              <a:t>Customer Satisfaction</a:t>
            </a:r>
          </a:p>
          <a:p>
            <a:pPr eaLnBrk="1" hangingPunct="1">
              <a:lnSpc>
                <a:spcPct val="90000"/>
              </a:lnSpc>
            </a:pPr>
            <a:r>
              <a:rPr lang="en-US" dirty="0">
                <a:effectLst/>
              </a:rPr>
              <a:t>Employee Involvement</a:t>
            </a:r>
          </a:p>
          <a:p>
            <a:pPr eaLnBrk="1" hangingPunct="1">
              <a:lnSpc>
                <a:spcPct val="90000"/>
              </a:lnSpc>
            </a:pPr>
            <a:r>
              <a:rPr lang="en-US" dirty="0">
                <a:effectLst/>
              </a:rPr>
              <a:t>Understanding What’s Happening</a:t>
            </a:r>
          </a:p>
          <a:p>
            <a:pPr eaLnBrk="1" hangingPunct="1">
              <a:lnSpc>
                <a:spcPct val="90000"/>
              </a:lnSpc>
            </a:pPr>
            <a:r>
              <a:rPr lang="en-US" dirty="0">
                <a:effectLst/>
              </a:rPr>
              <a:t>Creation of an In-house Culture to Achieve Best Practices</a:t>
            </a:r>
          </a:p>
          <a:p>
            <a:pPr eaLnBrk="1" hangingPunct="1">
              <a:lnSpc>
                <a:spcPct val="90000"/>
              </a:lnSpc>
            </a:pPr>
            <a:r>
              <a:rPr lang="en-US" dirty="0">
                <a:effectLst/>
              </a:rPr>
              <a:t>Recognition Awards</a:t>
            </a:r>
          </a:p>
          <a:p>
            <a:pPr eaLnBrk="1" hangingPunct="1">
              <a:lnSpc>
                <a:spcPct val="90000"/>
              </a:lnSpc>
              <a:buFont typeface="Wingdings" pitchFamily="2" charset="2"/>
              <a:buNone/>
            </a:pPr>
            <a:endParaRPr lang="en-US" dirty="0"/>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V="1">
            <a:off x="6487876" y="1447800"/>
            <a:ext cx="1645550" cy="23068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Rot="1" noChangeArrowheads="1"/>
          </p:cNvSpPr>
          <p:nvPr>
            <p:ph type="title"/>
          </p:nvPr>
        </p:nvSpPr>
        <p:spPr>
          <a:xfrm>
            <a:off x="457200" y="274638"/>
            <a:ext cx="8229600" cy="1020762"/>
          </a:xfrm>
        </p:spPr>
        <p:txBody>
          <a:bodyPr/>
          <a:lstStyle/>
          <a:p>
            <a:pPr eaLnBrk="1" hangingPunct="1"/>
            <a:r>
              <a:rPr lang="en-US" dirty="0">
                <a:solidFill>
                  <a:schemeClr val="hlink"/>
                </a:solidFill>
                <a:effectLst/>
                <a:latin typeface="Arial" charset="0"/>
              </a:rPr>
              <a:t>PWD DSOP</a:t>
            </a:r>
          </a:p>
        </p:txBody>
      </p:sp>
      <p:sp>
        <p:nvSpPr>
          <p:cNvPr id="2" name="Content Placeholder 1"/>
          <p:cNvSpPr>
            <a:spLocks noGrp="1"/>
          </p:cNvSpPr>
          <p:nvPr>
            <p:ph idx="1"/>
          </p:nvPr>
        </p:nvSpPr>
        <p:spPr>
          <a:xfrm>
            <a:off x="457200" y="1371600"/>
            <a:ext cx="8229600" cy="4754563"/>
          </a:xfrm>
        </p:spPr>
        <p:txBody>
          <a:bodyPr/>
          <a:lstStyle/>
          <a:p>
            <a:pPr>
              <a:spcBef>
                <a:spcPts val="600"/>
              </a:spcBef>
            </a:pPr>
            <a:r>
              <a:rPr lang="en-US" dirty="0"/>
              <a:t>Lessons Learned: </a:t>
            </a:r>
          </a:p>
          <a:p>
            <a:pPr lvl="1">
              <a:spcBef>
                <a:spcPts val="600"/>
              </a:spcBef>
              <a:buClr>
                <a:srgbClr val="FFC000"/>
              </a:buClr>
            </a:pPr>
            <a:r>
              <a:rPr lang="en-US" sz="2600" dirty="0"/>
              <a:t>Differing perspectives </a:t>
            </a:r>
          </a:p>
          <a:p>
            <a:pPr lvl="1">
              <a:spcBef>
                <a:spcPts val="600"/>
              </a:spcBef>
              <a:buClr>
                <a:srgbClr val="FFC000"/>
              </a:buClr>
            </a:pPr>
            <a:r>
              <a:rPr lang="en-US" sz="2600" dirty="0"/>
              <a:t>SME interviews revealed differences in opinions </a:t>
            </a:r>
          </a:p>
          <a:p>
            <a:pPr lvl="1">
              <a:spcBef>
                <a:spcPts val="600"/>
              </a:spcBef>
              <a:buClr>
                <a:srgbClr val="FFC000"/>
              </a:buClr>
            </a:pPr>
            <a:r>
              <a:rPr lang="en-US" sz="2600" dirty="0"/>
              <a:t>Discuss to be sure that all perspectives are understood and heard </a:t>
            </a:r>
          </a:p>
          <a:p>
            <a:pPr>
              <a:spcBef>
                <a:spcPts val="600"/>
              </a:spcBef>
              <a:buClr>
                <a:srgbClr val="FFC000"/>
              </a:buClr>
            </a:pPr>
            <a:r>
              <a:rPr lang="en-US" dirty="0"/>
              <a:t>Beyond Partnership </a:t>
            </a:r>
          </a:p>
          <a:p>
            <a:pPr lvl="1">
              <a:spcBef>
                <a:spcPts val="600"/>
              </a:spcBef>
              <a:buClr>
                <a:srgbClr val="FFC000"/>
              </a:buClr>
            </a:pPr>
            <a:r>
              <a:rPr lang="en-US" sz="2600" dirty="0"/>
              <a:t>Actions suggested by SMEs were not limited to PSW topics – they are being addressed thru the PI</a:t>
            </a:r>
            <a:r>
              <a:rPr lang="en-US" sz="2600" baseline="30000" dirty="0"/>
              <a:t>2</a:t>
            </a:r>
            <a:r>
              <a:rPr lang="en-US" sz="2600" dirty="0"/>
              <a:t> list</a:t>
            </a:r>
          </a:p>
          <a:p>
            <a:pPr lvl="1">
              <a:spcBef>
                <a:spcPts val="600"/>
              </a:spcBef>
              <a:buClr>
                <a:srgbClr val="FFC000"/>
              </a:buClr>
            </a:pPr>
            <a:r>
              <a:rPr lang="en-US" sz="2600" dirty="0"/>
              <a:t>Self-assessment is not limited to PSW topics/questions and can be utility specific – it’s a resource</a:t>
            </a:r>
          </a:p>
          <a:p>
            <a:endParaRPr lang="en-US" dirty="0"/>
          </a:p>
        </p:txBody>
      </p:sp>
      <p:pic>
        <p:nvPicPr>
          <p:cNvPr id="276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4600" y="1066800"/>
            <a:ext cx="2057400"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latin typeface="Arial" panose="020B0604020202020204" pitchFamily="34" charset="0"/>
                <a:cs typeface="Arial" panose="020B0604020202020204" pitchFamily="34" charset="0"/>
              </a:rPr>
              <a:t>PWD DSOP</a:t>
            </a:r>
          </a:p>
        </p:txBody>
      </p:sp>
      <p:sp>
        <p:nvSpPr>
          <p:cNvPr id="3" name="Content Placeholder 2"/>
          <p:cNvSpPr>
            <a:spLocks noGrp="1"/>
          </p:cNvSpPr>
          <p:nvPr>
            <p:ph idx="1"/>
          </p:nvPr>
        </p:nvSpPr>
        <p:spPr/>
        <p:txBody>
          <a:bodyPr/>
          <a:lstStyle/>
          <a:p>
            <a:r>
              <a:rPr lang="en-US" sz="4000" dirty="0"/>
              <a:t>Most Valuable Lesson/Experience: </a:t>
            </a:r>
          </a:p>
          <a:p>
            <a:pPr lvl="1">
              <a:buClr>
                <a:srgbClr val="FFC000"/>
              </a:buClr>
            </a:pPr>
            <a:r>
              <a:rPr lang="en-US" sz="3600" dirty="0"/>
              <a:t>Role of Younger Professionals </a:t>
            </a:r>
          </a:p>
          <a:p>
            <a:pPr lvl="1">
              <a:buClr>
                <a:srgbClr val="FFC000"/>
              </a:buClr>
            </a:pPr>
            <a:r>
              <a:rPr lang="en-US" dirty="0"/>
              <a:t>Brought a lot of talent, enthusiasm, and tools (SharePoint) to the project </a:t>
            </a:r>
          </a:p>
          <a:p>
            <a:pPr lvl="1">
              <a:buClr>
                <a:srgbClr val="FFC000"/>
              </a:buClr>
            </a:pPr>
            <a:r>
              <a:rPr lang="en-US" dirty="0"/>
              <a:t>Give them the leeway to manage the project as self-assessment team members </a:t>
            </a:r>
          </a:p>
          <a:p>
            <a:pPr lvl="1">
              <a:buClr>
                <a:srgbClr val="FFC000"/>
              </a:buClr>
            </a:pPr>
            <a:r>
              <a:rPr lang="en-US" dirty="0"/>
              <a:t>Beneficial opportunity for learning, information transfer, and networking within organization </a:t>
            </a:r>
          </a:p>
          <a:p>
            <a:pPr lvl="1">
              <a:buClr>
                <a:srgbClr val="FFC000"/>
              </a:buClr>
            </a:pPr>
            <a:r>
              <a:rPr lang="en-US" dirty="0"/>
              <a:t>Career development potential </a:t>
            </a:r>
          </a:p>
          <a:p>
            <a:endParaRPr lang="en-US" dirty="0"/>
          </a:p>
        </p:txBody>
      </p:sp>
    </p:spTree>
    <p:extLst>
      <p:ext uri="{BB962C8B-B14F-4D97-AF65-F5344CB8AC3E}">
        <p14:creationId xmlns:p14="http://schemas.microsoft.com/office/powerpoint/2010/main" val="1685751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Rot="1" noChangeArrowheads="1"/>
          </p:cNvSpPr>
          <p:nvPr>
            <p:ph type="title"/>
          </p:nvPr>
        </p:nvSpPr>
        <p:spPr>
          <a:xfrm>
            <a:off x="533400" y="609600"/>
            <a:ext cx="8229600" cy="1143000"/>
          </a:xfrm>
        </p:spPr>
        <p:txBody>
          <a:bodyPr/>
          <a:lstStyle/>
          <a:p>
            <a:pPr eaLnBrk="1" hangingPunct="1"/>
            <a:r>
              <a:rPr lang="en-US" sz="4000" dirty="0">
                <a:solidFill>
                  <a:schemeClr val="hlink"/>
                </a:solidFill>
                <a:effectLst/>
                <a:latin typeface="Arial" charset="0"/>
              </a:rPr>
              <a:t>PWD is a Distribution System Optimization Program</a:t>
            </a:r>
            <a:br>
              <a:rPr lang="en-US" sz="4000" dirty="0">
                <a:solidFill>
                  <a:schemeClr val="hlink"/>
                </a:solidFill>
                <a:effectLst/>
                <a:latin typeface="Arial" charset="0"/>
              </a:rPr>
            </a:br>
            <a:r>
              <a:rPr lang="en-US" sz="4000" i="1" dirty="0">
                <a:solidFill>
                  <a:schemeClr val="hlink"/>
                </a:solidFill>
                <a:effectLst/>
              </a:rPr>
              <a:t>FOUNDER</a:t>
            </a:r>
          </a:p>
        </p:txBody>
      </p:sp>
      <p:sp>
        <p:nvSpPr>
          <p:cNvPr id="24579" name="Rectangle 3"/>
          <p:cNvSpPr>
            <a:spLocks noGrp="1" noChangeArrowheads="1"/>
          </p:cNvSpPr>
          <p:nvPr>
            <p:ph type="body" idx="1"/>
          </p:nvPr>
        </p:nvSpPr>
        <p:spPr>
          <a:xfrm>
            <a:off x="762000" y="2057400"/>
            <a:ext cx="8229600" cy="4525963"/>
          </a:xfrm>
        </p:spPr>
        <p:txBody>
          <a:bodyPr/>
          <a:lstStyle/>
          <a:p>
            <a:pPr eaLnBrk="1" hangingPunct="1"/>
            <a:r>
              <a:rPr lang="en-US" dirty="0">
                <a:effectLst/>
              </a:rPr>
              <a:t>PWD Joined the Distribution System Optimization Program on March 28, 2011</a:t>
            </a:r>
          </a:p>
          <a:p>
            <a:pPr eaLnBrk="1" hangingPunct="1"/>
            <a:r>
              <a:rPr lang="en-US" dirty="0">
                <a:effectLst/>
              </a:rPr>
              <a:t>PWD will be designated a </a:t>
            </a:r>
            <a:r>
              <a:rPr lang="en-US" b="1" i="1" dirty="0">
                <a:effectLst/>
              </a:rPr>
              <a:t>FOUNDING MEMBER </a:t>
            </a:r>
            <a:r>
              <a:rPr lang="en-US" dirty="0">
                <a:effectLst/>
              </a:rPr>
              <a:t>in all communications </a:t>
            </a:r>
            <a:r>
              <a:rPr lang="en-US" sz="2400" dirty="0">
                <a:effectLst/>
              </a:rPr>
              <a:t>&amp;</a:t>
            </a:r>
            <a:r>
              <a:rPr lang="en-US" dirty="0">
                <a:effectLst/>
              </a:rPr>
              <a:t> on awards</a:t>
            </a:r>
          </a:p>
          <a:p>
            <a:pPr lvl="1" eaLnBrk="1" hangingPunct="1">
              <a:buFont typeface="Wingdings" pitchFamily="2" charset="2"/>
              <a:buNone/>
            </a:pPr>
            <a:r>
              <a:rPr lang="en-US" dirty="0">
                <a:effectLst/>
              </a:rPr>
              <a:t>– Utility will be able to </a:t>
            </a:r>
            <a:r>
              <a:rPr lang="en-US" i="1" dirty="0">
                <a:effectLst/>
              </a:rPr>
              <a:t>fast-track </a:t>
            </a:r>
            <a:r>
              <a:rPr lang="en-US" dirty="0">
                <a:effectLst/>
              </a:rPr>
              <a:t>their self-assessment </a:t>
            </a:r>
          </a:p>
          <a:p>
            <a:pPr lvl="1" eaLnBrk="1" hangingPunct="1">
              <a:buFont typeface="Wingdings" pitchFamily="2" charset="2"/>
              <a:buNone/>
            </a:pPr>
            <a:r>
              <a:rPr lang="en-US" dirty="0">
                <a:effectLst/>
              </a:rPr>
              <a:t>– receive the Directors Award</a:t>
            </a:r>
          </a:p>
          <a:p>
            <a:pPr lvl="1" eaLnBrk="1" hangingPunct="1">
              <a:buFont typeface="Wingdings" pitchFamily="2" charset="2"/>
              <a:buNone/>
            </a:pPr>
            <a:r>
              <a:rPr lang="en-US" dirty="0">
                <a:effectLst/>
              </a:rPr>
              <a:t>– provide feedback to improve the program</a:t>
            </a:r>
          </a:p>
          <a:p>
            <a:pPr eaLnBrk="1" hangingPunct="1">
              <a:buFont typeface="Wingdings" pitchFamily="2" charset="2"/>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2"/>
          <p:cNvSpPr>
            <a:spLocks noGrp="1" noRot="1" noChangeArrowheads="1"/>
          </p:cNvSpPr>
          <p:nvPr>
            <p:ph type="title"/>
          </p:nvPr>
        </p:nvSpPr>
        <p:spPr>
          <a:xfrm>
            <a:off x="1752600" y="914400"/>
            <a:ext cx="4876800" cy="1143000"/>
          </a:xfrm>
        </p:spPr>
        <p:txBody>
          <a:bodyPr/>
          <a:lstStyle/>
          <a:p>
            <a:pPr eaLnBrk="1" hangingPunct="1"/>
            <a:r>
              <a:rPr lang="en-US" dirty="0">
                <a:solidFill>
                  <a:schemeClr val="hlink"/>
                </a:solidFill>
                <a:effectLst/>
                <a:latin typeface="Arial" charset="0"/>
              </a:rPr>
              <a:t>  PSW Contacts</a:t>
            </a:r>
          </a:p>
        </p:txBody>
      </p:sp>
      <p:sp>
        <p:nvSpPr>
          <p:cNvPr id="25607" name="Rectangle 3"/>
          <p:cNvSpPr>
            <a:spLocks noGrp="1" noChangeArrowheads="1"/>
          </p:cNvSpPr>
          <p:nvPr>
            <p:ph type="body" sz="half" idx="1"/>
          </p:nvPr>
        </p:nvSpPr>
        <p:spPr>
          <a:xfrm>
            <a:off x="1447800" y="2514600"/>
            <a:ext cx="7086600" cy="3352800"/>
          </a:xfrm>
        </p:spPr>
        <p:txBody>
          <a:bodyPr/>
          <a:lstStyle/>
          <a:p>
            <a:pPr eaLnBrk="1" hangingPunct="1"/>
            <a:r>
              <a:rPr lang="en-US" sz="2800" dirty="0">
                <a:effectLst/>
              </a:rPr>
              <a:t>Partnership for Safe Water Website, </a:t>
            </a:r>
            <a:r>
              <a:rPr lang="en-US" sz="2800" dirty="0">
                <a:effectLst/>
                <a:hlinkClick r:id="rId2"/>
              </a:rPr>
              <a:t>www.partnershipforsafewater.org</a:t>
            </a:r>
            <a:endParaRPr lang="en-US" sz="2800" dirty="0">
              <a:effectLst/>
            </a:endParaRPr>
          </a:p>
          <a:p>
            <a:pPr eaLnBrk="1" hangingPunct="1"/>
            <a:r>
              <a:rPr lang="en-US" sz="2800" dirty="0">
                <a:effectLst/>
              </a:rPr>
              <a:t>Barb Martin, AWWA Program Manager, </a:t>
            </a:r>
          </a:p>
          <a:p>
            <a:pPr eaLnBrk="1" hangingPunct="1">
              <a:buFont typeface="Wingdings" pitchFamily="2" charset="2"/>
              <a:buNone/>
            </a:pPr>
            <a:r>
              <a:rPr lang="en-US" sz="2800" dirty="0">
                <a:effectLst/>
              </a:rPr>
              <a:t>	303-347-6220, </a:t>
            </a:r>
            <a:r>
              <a:rPr lang="en-US" sz="2800" dirty="0">
                <a:effectLst/>
                <a:hlinkClick r:id="rId3"/>
              </a:rPr>
              <a:t>blauer@awwa.org</a:t>
            </a:r>
            <a:endParaRPr lang="en-US" sz="2800" dirty="0">
              <a:effectLst/>
            </a:endParaRPr>
          </a:p>
          <a:p>
            <a:pPr eaLnBrk="1" hangingPunct="1"/>
            <a:r>
              <a:rPr lang="en-US" sz="2800" dirty="0">
                <a:effectLst/>
              </a:rPr>
              <a:t>Bob Donnelly, PaAWWA Representative,</a:t>
            </a:r>
          </a:p>
          <a:p>
            <a:pPr eaLnBrk="1" hangingPunct="1">
              <a:buFont typeface="Wingdings" pitchFamily="2" charset="2"/>
              <a:buNone/>
            </a:pPr>
            <a:r>
              <a:rPr lang="en-US" sz="2800" dirty="0">
                <a:effectLst/>
              </a:rPr>
              <a:t>	</a:t>
            </a:r>
            <a:r>
              <a:rPr lang="en-US" altLang="ja-JP" sz="2800" dirty="0">
                <a:effectLst/>
                <a:ea typeface="ＭＳ Ｐゴシック" pitchFamily="34" charset="-128"/>
              </a:rPr>
              <a:t>570-239-6715, </a:t>
            </a:r>
            <a:r>
              <a:rPr lang="en-US" sz="2800" dirty="0">
                <a:effectLst/>
                <a:hlinkClick r:id="rId4"/>
              </a:rPr>
              <a:t>rdonnellypaawwa@aol.com</a:t>
            </a:r>
            <a:endParaRPr lang="en-US" sz="2800" dirty="0">
              <a:effectLst/>
            </a:endParaRPr>
          </a:p>
          <a:p>
            <a:pPr eaLnBrk="1" hangingPunct="1">
              <a:buFont typeface="Wingdings" pitchFamily="2" charset="2"/>
              <a:buNone/>
            </a:pPr>
            <a:endParaRPr lang="en-US" sz="2800" dirty="0">
              <a:effectLst/>
            </a:endParaRPr>
          </a:p>
        </p:txBody>
      </p:sp>
      <p:pic>
        <p:nvPicPr>
          <p:cNvPr id="25608" name="Picture 4"/>
          <p:cNvPicPr>
            <a:picLocks noChangeAspect="1" noChangeArrowheads="1"/>
          </p:cNvPicPr>
          <p:nvPr/>
        </p:nvPicPr>
        <p:blipFill>
          <a:blip r:embed="rId5"/>
          <a:srcRect/>
          <a:stretch>
            <a:fillRect/>
          </a:stretch>
        </p:blipFill>
        <p:spPr bwMode="auto">
          <a:xfrm>
            <a:off x="457200" y="457200"/>
            <a:ext cx="1651000" cy="1752600"/>
          </a:xfrm>
          <a:prstGeom prst="rect">
            <a:avLst/>
          </a:prstGeom>
          <a:noFill/>
          <a:ln w="9525">
            <a:noFill/>
            <a:miter lim="800000"/>
            <a:headEnd/>
            <a:tailEnd/>
          </a:ln>
        </p:spPr>
      </p:pic>
      <p:graphicFrame>
        <p:nvGraphicFramePr>
          <p:cNvPr id="25605" name="Object 5"/>
          <p:cNvGraphicFramePr>
            <a:graphicFrameLocks noGrp="1" noChangeAspect="1"/>
          </p:cNvGraphicFramePr>
          <p:nvPr>
            <p:ph sz="half" idx="2"/>
          </p:nvPr>
        </p:nvGraphicFramePr>
        <p:xfrm>
          <a:off x="6629400" y="685800"/>
          <a:ext cx="2157413" cy="1282700"/>
        </p:xfrm>
        <a:graphic>
          <a:graphicData uri="http://schemas.openxmlformats.org/presentationml/2006/ole">
            <mc:AlternateContent xmlns:mc="http://schemas.openxmlformats.org/markup-compatibility/2006">
              <mc:Choice xmlns:v="urn:schemas-microsoft-com:vml" Requires="v">
                <p:oleObj name="Document" r:id="rId6" imgW="2257920" imgH="1341360" progId="Word.Document.8">
                  <p:embed/>
                </p:oleObj>
              </mc:Choice>
              <mc:Fallback>
                <p:oleObj name="Document" r:id="rId6" imgW="2257920" imgH="1341360" progId="Word.Document.8">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9400" y="685800"/>
                        <a:ext cx="2157413"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latin typeface="Arial" pitchFamily="34" charset="0"/>
                <a:cs typeface="Arial" pitchFamily="34" charset="0"/>
              </a:rPr>
              <a:t>Distribution System Integrity</a:t>
            </a:r>
          </a:p>
        </p:txBody>
      </p:sp>
      <p:sp>
        <p:nvSpPr>
          <p:cNvPr id="3" name="Content Placeholder 2"/>
          <p:cNvSpPr>
            <a:spLocks noGrp="1"/>
          </p:cNvSpPr>
          <p:nvPr>
            <p:ph idx="1"/>
          </p:nvPr>
        </p:nvSpPr>
        <p:spPr>
          <a:xfrm>
            <a:off x="457200" y="1371600"/>
            <a:ext cx="8229600" cy="4876800"/>
          </a:xfrm>
        </p:spPr>
        <p:txBody>
          <a:bodyPr/>
          <a:lstStyle/>
          <a:p>
            <a:r>
              <a:rPr lang="en-US" dirty="0"/>
              <a:t>System Integrity Performance Indicators</a:t>
            </a:r>
          </a:p>
          <a:p>
            <a:pPr lvl="1"/>
            <a:r>
              <a:rPr lang="en-US" dirty="0"/>
              <a:t>Water Quality</a:t>
            </a:r>
          </a:p>
          <a:p>
            <a:pPr lvl="2"/>
            <a:r>
              <a:rPr lang="en-US" dirty="0"/>
              <a:t>Maintain Disinfectant Residual</a:t>
            </a:r>
          </a:p>
          <a:p>
            <a:pPr lvl="1"/>
            <a:r>
              <a:rPr lang="en-US" sz="4000" b="1" dirty="0"/>
              <a:t>Hydraulics</a:t>
            </a:r>
          </a:p>
          <a:p>
            <a:pPr lvl="2"/>
            <a:r>
              <a:rPr lang="en-US" sz="4000" b="1" dirty="0"/>
              <a:t>Maintain Positive Pressure</a:t>
            </a:r>
          </a:p>
          <a:p>
            <a:pPr lvl="1"/>
            <a:r>
              <a:rPr lang="en-US" dirty="0"/>
              <a:t>Physical</a:t>
            </a:r>
          </a:p>
          <a:p>
            <a:pPr lvl="2"/>
            <a:r>
              <a:rPr lang="en-US" dirty="0"/>
              <a:t>Main Break Frequency Reduction</a:t>
            </a:r>
          </a:p>
          <a:p>
            <a:r>
              <a:rPr lang="en-US" dirty="0"/>
              <a:t>System Integrity may be at risk when these performance indicators are not optimized</a:t>
            </a:r>
          </a:p>
          <a:p>
            <a:pPr marL="914400" lvl="2" indent="0">
              <a:buNone/>
            </a:pPr>
            <a:endParaRPr lang="en-US" dirty="0"/>
          </a:p>
        </p:txBody>
      </p:sp>
    </p:spTree>
    <p:extLst>
      <p:ext uri="{BB962C8B-B14F-4D97-AF65-F5344CB8AC3E}">
        <p14:creationId xmlns:p14="http://schemas.microsoft.com/office/powerpoint/2010/main" val="438506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457200" y="533400"/>
            <a:ext cx="8229600" cy="1143000"/>
          </a:xfrm>
        </p:spPr>
        <p:txBody>
          <a:bodyPr/>
          <a:lstStyle/>
          <a:p>
            <a:pPr eaLnBrk="1" hangingPunct="1">
              <a:defRPr/>
            </a:pPr>
            <a:r>
              <a:rPr lang="en-US" sz="4000" dirty="0">
                <a:solidFill>
                  <a:schemeClr val="hlink"/>
                </a:solidFill>
                <a:effectLst/>
                <a:latin typeface="Arial" charset="0"/>
              </a:rPr>
              <a:t>Pressure Data</a:t>
            </a:r>
            <a:endParaRPr lang="en-US" sz="2800" dirty="0">
              <a:solidFill>
                <a:schemeClr val="hlink"/>
              </a:solidFill>
            </a:endParaRPr>
          </a:p>
        </p:txBody>
      </p:sp>
      <p:sp>
        <p:nvSpPr>
          <p:cNvPr id="14339" name="Rectangle 3"/>
          <p:cNvSpPr>
            <a:spLocks noGrp="1" noChangeArrowheads="1"/>
          </p:cNvSpPr>
          <p:nvPr>
            <p:ph type="body" idx="1"/>
          </p:nvPr>
        </p:nvSpPr>
        <p:spPr>
          <a:xfrm>
            <a:off x="762000" y="1524000"/>
            <a:ext cx="8001000" cy="4191000"/>
          </a:xfrm>
        </p:spPr>
        <p:txBody>
          <a:bodyPr/>
          <a:lstStyle/>
          <a:p>
            <a:pPr eaLnBrk="1" hangingPunct="1">
              <a:defRPr/>
            </a:pPr>
            <a:r>
              <a:rPr lang="en-US" dirty="0">
                <a:effectLst/>
              </a:rPr>
              <a:t>13 separate pressure districts</a:t>
            </a:r>
          </a:p>
          <a:p>
            <a:pPr lvl="1" eaLnBrk="1" hangingPunct="1">
              <a:defRPr/>
            </a:pPr>
            <a:r>
              <a:rPr lang="en-US" dirty="0">
                <a:effectLst/>
              </a:rPr>
              <a:t>This year, each district was analyzed separately</a:t>
            </a:r>
          </a:p>
          <a:p>
            <a:pPr eaLnBrk="1" hangingPunct="1">
              <a:defRPr/>
            </a:pPr>
            <a:r>
              <a:rPr lang="en-US" dirty="0">
                <a:effectLst/>
              </a:rPr>
              <a:t>31 pressure sensors throughout the system</a:t>
            </a:r>
          </a:p>
          <a:p>
            <a:pPr lvl="1" eaLnBrk="1" hangingPunct="1">
              <a:defRPr/>
            </a:pPr>
            <a:r>
              <a:rPr lang="en-US" dirty="0">
                <a:effectLst/>
              </a:rPr>
              <a:t>13 pressure sensors studied; 1 for each pressure district</a:t>
            </a:r>
          </a:p>
          <a:p>
            <a:pPr eaLnBrk="1" hangingPunct="1">
              <a:defRPr/>
            </a:pPr>
            <a:r>
              <a:rPr lang="en-US" dirty="0">
                <a:effectLst/>
              </a:rPr>
              <a:t>Hydraulic model utilized to determine the low and high pressures</a:t>
            </a:r>
          </a:p>
          <a:p>
            <a:pPr eaLnBrk="1" hangingPunct="1">
              <a:buFont typeface="Wingdings" pitchFamily="2" charset="2"/>
              <a:buNone/>
              <a:defRPr/>
            </a:pPr>
            <a:endParaRPr lang="en-US" dirty="0"/>
          </a:p>
        </p:txBody>
      </p:sp>
    </p:spTree>
    <p:extLst>
      <p:ext uri="{BB962C8B-B14F-4D97-AF65-F5344CB8AC3E}">
        <p14:creationId xmlns:p14="http://schemas.microsoft.com/office/powerpoint/2010/main" val="1009935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457200" y="533400"/>
            <a:ext cx="8229600" cy="1143000"/>
          </a:xfrm>
        </p:spPr>
        <p:txBody>
          <a:bodyPr/>
          <a:lstStyle/>
          <a:p>
            <a:pPr eaLnBrk="1" hangingPunct="1">
              <a:defRPr/>
            </a:pPr>
            <a:r>
              <a:rPr lang="en-US" sz="4000" dirty="0">
                <a:solidFill>
                  <a:schemeClr val="hlink"/>
                </a:solidFill>
                <a:effectLst/>
                <a:latin typeface="Arial" charset="0"/>
              </a:rPr>
              <a:t>Pressure Data</a:t>
            </a:r>
            <a:endParaRPr lang="en-US" sz="2800" dirty="0">
              <a:solidFill>
                <a:schemeClr val="hlink"/>
              </a:solidFill>
            </a:endParaRPr>
          </a:p>
        </p:txBody>
      </p:sp>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23997"/>
            <a:ext cx="5725729" cy="3695329"/>
          </a:xfrm>
          <a:prstGeom prst="rect">
            <a:avLst/>
          </a:prstGeom>
          <a:solidFill>
            <a:schemeClr val="tx1"/>
          </a:solidFill>
          <a:ln>
            <a:solidFill>
              <a:srgbClr val="000000"/>
            </a:solidFill>
          </a:ln>
          <a:effectLst/>
        </p:spPr>
      </p:pic>
      <p:sp>
        <p:nvSpPr>
          <p:cNvPr id="6" name="Rectangle 3"/>
          <p:cNvSpPr txBox="1">
            <a:spLocks noChangeArrowheads="1"/>
          </p:cNvSpPr>
          <p:nvPr/>
        </p:nvSpPr>
        <p:spPr bwMode="auto">
          <a:xfrm>
            <a:off x="304800" y="5410200"/>
            <a:ext cx="8369643" cy="1066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a:lstStyle>
          <a:p>
            <a:pPr eaLnBrk="1" hangingPunct="1">
              <a:defRPr/>
            </a:pPr>
            <a:r>
              <a:rPr lang="en-US" dirty="0">
                <a:effectLst/>
              </a:rPr>
              <a:t>An optimized water system maintains </a:t>
            </a:r>
            <a:r>
              <a:rPr lang="en-US" dirty="0">
                <a:effectLst/>
                <a:cs typeface="Calibri"/>
              </a:rPr>
              <a:t>≥ 20 psi in 99.5% of measurements (from hourly readings)</a:t>
            </a:r>
            <a:endParaRPr lang="en-US" dirty="0">
              <a:effectLst/>
            </a:endParaRPr>
          </a:p>
          <a:p>
            <a:pPr eaLnBrk="1" hangingPunct="1">
              <a:buFont typeface="Wingdings" pitchFamily="2" charset="2"/>
              <a:buNone/>
              <a:defRPr/>
            </a:pPr>
            <a:endParaRPr lang="en-US" sz="3600" dirty="0"/>
          </a:p>
        </p:txBody>
      </p:sp>
    </p:spTree>
    <p:extLst>
      <p:ext uri="{BB962C8B-B14F-4D97-AF65-F5344CB8AC3E}">
        <p14:creationId xmlns:p14="http://schemas.microsoft.com/office/powerpoint/2010/main" val="4116111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457200" y="533400"/>
            <a:ext cx="8229600" cy="1143000"/>
          </a:xfrm>
        </p:spPr>
        <p:txBody>
          <a:bodyPr/>
          <a:lstStyle/>
          <a:p>
            <a:pPr eaLnBrk="1" hangingPunct="1">
              <a:defRPr/>
            </a:pPr>
            <a:r>
              <a:rPr lang="en-US" sz="4000" dirty="0">
                <a:solidFill>
                  <a:schemeClr val="hlink"/>
                </a:solidFill>
                <a:effectLst/>
                <a:latin typeface="Arial" charset="0"/>
              </a:rPr>
              <a:t>Pressure Data</a:t>
            </a:r>
            <a:endParaRPr lang="en-US" sz="2800" dirty="0">
              <a:solidFill>
                <a:schemeClr val="hlink"/>
              </a:solidFill>
            </a:endParaRPr>
          </a:p>
        </p:txBody>
      </p:sp>
      <p:sp>
        <p:nvSpPr>
          <p:cNvPr id="6" name="Rectangle 3"/>
          <p:cNvSpPr txBox="1">
            <a:spLocks noChangeArrowheads="1"/>
          </p:cNvSpPr>
          <p:nvPr/>
        </p:nvSpPr>
        <p:spPr bwMode="auto">
          <a:xfrm>
            <a:off x="304800" y="5562600"/>
            <a:ext cx="8369643"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a:lstStyle>
          <a:p>
            <a:pPr eaLnBrk="1" hangingPunct="1">
              <a:defRPr/>
            </a:pPr>
            <a:r>
              <a:rPr lang="en-US" dirty="0">
                <a:effectLst/>
              </a:rPr>
              <a:t>Partnership software pressure trend</a:t>
            </a:r>
          </a:p>
          <a:p>
            <a:pPr eaLnBrk="1" hangingPunct="1">
              <a:buFont typeface="Wingdings" pitchFamily="2" charset="2"/>
              <a:buNone/>
              <a:defRPr/>
            </a:pPr>
            <a:endParaRPr lang="en-US" sz="3600" dirty="0"/>
          </a:p>
        </p:txBody>
      </p:sp>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0721" y="1447800"/>
            <a:ext cx="5257800" cy="4003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01500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457200" y="533400"/>
            <a:ext cx="8229600" cy="1143000"/>
          </a:xfrm>
        </p:spPr>
        <p:txBody>
          <a:bodyPr/>
          <a:lstStyle/>
          <a:p>
            <a:pPr eaLnBrk="1" hangingPunct="1">
              <a:defRPr/>
            </a:pPr>
            <a:r>
              <a:rPr lang="en-US" sz="4000" dirty="0">
                <a:solidFill>
                  <a:schemeClr val="hlink"/>
                </a:solidFill>
                <a:effectLst/>
                <a:latin typeface="Arial" charset="0"/>
              </a:rPr>
              <a:t>Pressure Data</a:t>
            </a:r>
            <a:endParaRPr lang="en-US" sz="2800" dirty="0">
              <a:solidFill>
                <a:schemeClr val="hlink"/>
              </a:solidFill>
            </a:endParaRPr>
          </a:p>
        </p:txBody>
      </p:sp>
      <p:sp>
        <p:nvSpPr>
          <p:cNvPr id="6" name="Rectangle 3"/>
          <p:cNvSpPr txBox="1">
            <a:spLocks noChangeArrowheads="1"/>
          </p:cNvSpPr>
          <p:nvPr/>
        </p:nvSpPr>
        <p:spPr bwMode="auto">
          <a:xfrm>
            <a:off x="565321" y="5566719"/>
            <a:ext cx="66294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a:lstStyle>
          <a:p>
            <a:pPr eaLnBrk="1" hangingPunct="1">
              <a:defRPr/>
            </a:pPr>
            <a:r>
              <a:rPr lang="en-US" dirty="0">
                <a:effectLst/>
              </a:rPr>
              <a:t>Annual Pressure Data Summary Table</a:t>
            </a:r>
          </a:p>
          <a:p>
            <a:pPr eaLnBrk="1" hangingPunct="1">
              <a:buFont typeface="Wingdings" pitchFamily="2" charset="2"/>
              <a:buNone/>
              <a:defRPr/>
            </a:pPr>
            <a:endParaRPr lang="en-US" sz="3600" dirty="0"/>
          </a:p>
        </p:txBody>
      </p:sp>
      <p:pic>
        <p:nvPicPr>
          <p:cNvPr id="7" name="Picture 6"/>
          <p:cNvPicPr/>
          <p:nvPr/>
        </p:nvPicPr>
        <p:blipFill rotWithShape="1">
          <a:blip r:embed="rId3">
            <a:extLst>
              <a:ext uri="{28A0092B-C50C-407E-A947-70E740481C1C}">
                <a14:useLocalDpi xmlns:a14="http://schemas.microsoft.com/office/drawing/2010/main" val="0"/>
              </a:ext>
            </a:extLst>
          </a:blip>
          <a:srcRect b="14873"/>
          <a:stretch/>
        </p:blipFill>
        <p:spPr bwMode="auto">
          <a:xfrm>
            <a:off x="565321" y="1532238"/>
            <a:ext cx="7848600" cy="3886200"/>
          </a:xfrm>
          <a:prstGeom prst="rect">
            <a:avLst/>
          </a:prstGeom>
          <a:ln>
            <a:solidFill>
              <a:srgbClr val="000000"/>
            </a:solidFill>
          </a:ln>
          <a:effectLst>
            <a:outerShdw blurRad="50800" dist="38100" dir="2700000" sx="101000" sy="101000" algn="tl" rotWithShape="0">
              <a:prstClr val="black">
                <a:alpha val="40000"/>
              </a:prst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42073951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latin typeface="Arial" pitchFamily="34" charset="0"/>
                <a:cs typeface="Arial" pitchFamily="34" charset="0"/>
              </a:rPr>
              <a:t>Distribution System Integrity</a:t>
            </a:r>
          </a:p>
        </p:txBody>
      </p:sp>
      <p:sp>
        <p:nvSpPr>
          <p:cNvPr id="3" name="Content Placeholder 2"/>
          <p:cNvSpPr>
            <a:spLocks noGrp="1"/>
          </p:cNvSpPr>
          <p:nvPr>
            <p:ph idx="1"/>
          </p:nvPr>
        </p:nvSpPr>
        <p:spPr>
          <a:xfrm>
            <a:off x="457200" y="1371600"/>
            <a:ext cx="8229600" cy="4876800"/>
          </a:xfrm>
        </p:spPr>
        <p:txBody>
          <a:bodyPr/>
          <a:lstStyle/>
          <a:p>
            <a:r>
              <a:rPr lang="en-US" dirty="0"/>
              <a:t>System Integrity Performance Indicators</a:t>
            </a:r>
          </a:p>
          <a:p>
            <a:pPr lvl="1"/>
            <a:r>
              <a:rPr lang="en-US" dirty="0"/>
              <a:t>Water Quality</a:t>
            </a:r>
          </a:p>
          <a:p>
            <a:pPr lvl="2"/>
            <a:r>
              <a:rPr lang="en-US" dirty="0"/>
              <a:t>Maintain Disinfectant Residual</a:t>
            </a:r>
          </a:p>
          <a:p>
            <a:pPr lvl="1"/>
            <a:r>
              <a:rPr lang="en-US" dirty="0"/>
              <a:t>Hydraulics</a:t>
            </a:r>
          </a:p>
          <a:p>
            <a:pPr lvl="2"/>
            <a:r>
              <a:rPr lang="en-US" dirty="0"/>
              <a:t>Maintain Positive Pressure</a:t>
            </a:r>
          </a:p>
          <a:p>
            <a:pPr lvl="1"/>
            <a:r>
              <a:rPr lang="en-US" sz="3600" b="1" dirty="0"/>
              <a:t>Physical</a:t>
            </a:r>
          </a:p>
          <a:p>
            <a:pPr lvl="2"/>
            <a:r>
              <a:rPr lang="en-US" sz="3600" b="1" dirty="0"/>
              <a:t>Main Break Frequency Reduction</a:t>
            </a:r>
          </a:p>
          <a:p>
            <a:r>
              <a:rPr lang="en-US" dirty="0"/>
              <a:t>System Integrity may be at risk when these performance indicators are not optimized</a:t>
            </a:r>
          </a:p>
          <a:p>
            <a:pPr marL="914400" lvl="2" indent="0">
              <a:buNone/>
            </a:pPr>
            <a:endParaRPr lang="en-US" dirty="0"/>
          </a:p>
        </p:txBody>
      </p:sp>
    </p:spTree>
    <p:extLst>
      <p:ext uri="{BB962C8B-B14F-4D97-AF65-F5344CB8AC3E}">
        <p14:creationId xmlns:p14="http://schemas.microsoft.com/office/powerpoint/2010/main" val="438506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457200" y="533400"/>
            <a:ext cx="8229600" cy="1143000"/>
          </a:xfrm>
        </p:spPr>
        <p:txBody>
          <a:bodyPr/>
          <a:lstStyle/>
          <a:p>
            <a:pPr eaLnBrk="1" hangingPunct="1">
              <a:defRPr/>
            </a:pPr>
            <a:r>
              <a:rPr lang="en-US" sz="4000" dirty="0">
                <a:solidFill>
                  <a:schemeClr val="hlink"/>
                </a:solidFill>
                <a:effectLst/>
                <a:latin typeface="Arial" charset="0"/>
              </a:rPr>
              <a:t>Main Break Data</a:t>
            </a:r>
            <a:endParaRPr lang="en-US" sz="2800" dirty="0">
              <a:solidFill>
                <a:schemeClr val="hlink"/>
              </a:solidFill>
            </a:endParaRPr>
          </a:p>
        </p:txBody>
      </p:sp>
      <p:sp>
        <p:nvSpPr>
          <p:cNvPr id="14339" name="Rectangle 3"/>
          <p:cNvSpPr>
            <a:spLocks noGrp="1" noChangeArrowheads="1"/>
          </p:cNvSpPr>
          <p:nvPr>
            <p:ph type="body" idx="1"/>
          </p:nvPr>
        </p:nvSpPr>
        <p:spPr>
          <a:xfrm>
            <a:off x="762000" y="1828800"/>
            <a:ext cx="8001000" cy="4191000"/>
          </a:xfrm>
        </p:spPr>
        <p:txBody>
          <a:bodyPr/>
          <a:lstStyle/>
          <a:p>
            <a:pPr marL="0" indent="0" algn="ctr" eaLnBrk="1" hangingPunct="1">
              <a:buNone/>
              <a:defRPr/>
            </a:pPr>
            <a:r>
              <a:rPr lang="en-US" sz="2800" b="1" i="1" dirty="0">
                <a:effectLst/>
              </a:rPr>
              <a:t>PWD Main Break Definition:</a:t>
            </a:r>
            <a:r>
              <a:rPr lang="en-US" sz="2800" i="1" dirty="0">
                <a:effectLst/>
              </a:rPr>
              <a:t>  </a:t>
            </a:r>
          </a:p>
          <a:p>
            <a:pPr marL="0" indent="0" eaLnBrk="1" hangingPunct="1">
              <a:buNone/>
              <a:defRPr/>
            </a:pPr>
            <a:r>
              <a:rPr lang="en-US" sz="2400" dirty="0">
                <a:effectLst/>
              </a:rPr>
              <a:t>A water main break is defined as a structural defect in a water main, fire hydrant lateral, tapping sleeves or saddles that cause an interruption in service.   Breaks include pin hole leaks, circumferential, longitudinal and bell cracks on water mains.  Repair clamps are installed on pin hole, circumferential and longitudinal to stop the water flow.  Bell cracks are repaired by cutting out a section of the connecting pipes and inserting a straight piece to repair with clamps on each side. Hydrant laterals are included in the count of water main breaks recorded.</a:t>
            </a:r>
            <a:endParaRPr lang="en-US" sz="2400" dirty="0"/>
          </a:p>
        </p:txBody>
      </p:sp>
    </p:spTree>
    <p:extLst>
      <p:ext uri="{BB962C8B-B14F-4D97-AF65-F5344CB8AC3E}">
        <p14:creationId xmlns:p14="http://schemas.microsoft.com/office/powerpoint/2010/main" val="1243310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457200" y="533400"/>
            <a:ext cx="8229600" cy="1143000"/>
          </a:xfrm>
        </p:spPr>
        <p:txBody>
          <a:bodyPr/>
          <a:lstStyle/>
          <a:p>
            <a:pPr eaLnBrk="1" hangingPunct="1">
              <a:defRPr/>
            </a:pPr>
            <a:r>
              <a:rPr lang="en-US" sz="4000" dirty="0">
                <a:solidFill>
                  <a:schemeClr val="hlink"/>
                </a:solidFill>
                <a:effectLst/>
                <a:latin typeface="Arial" charset="0"/>
              </a:rPr>
              <a:t>Main Break Data</a:t>
            </a:r>
            <a:endParaRPr lang="en-US" sz="2800" dirty="0">
              <a:solidFill>
                <a:schemeClr val="hlink"/>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258898572"/>
              </p:ext>
            </p:extLst>
          </p:nvPr>
        </p:nvGraphicFramePr>
        <p:xfrm>
          <a:off x="228600" y="1447800"/>
          <a:ext cx="4343399" cy="5105396"/>
        </p:xfrm>
        <a:graphic>
          <a:graphicData uri="http://schemas.openxmlformats.org/drawingml/2006/table">
            <a:tbl>
              <a:tblPr firstRow="1" firstCol="1" lastRow="1" lastCol="1" bandRow="1" bandCol="1">
                <a:tableStyleId>{5C22544A-7EE6-4342-B048-85BDC9FD1C3A}</a:tableStyleId>
              </a:tblPr>
              <a:tblGrid>
                <a:gridCol w="1224564">
                  <a:extLst>
                    <a:ext uri="{9D8B030D-6E8A-4147-A177-3AD203B41FA5}">
                      <a16:colId xmlns:a16="http://schemas.microsoft.com/office/drawing/2014/main" val="20000"/>
                    </a:ext>
                  </a:extLst>
                </a:gridCol>
                <a:gridCol w="1141037">
                  <a:extLst>
                    <a:ext uri="{9D8B030D-6E8A-4147-A177-3AD203B41FA5}">
                      <a16:colId xmlns:a16="http://schemas.microsoft.com/office/drawing/2014/main" val="20001"/>
                    </a:ext>
                  </a:extLst>
                </a:gridCol>
                <a:gridCol w="1105240">
                  <a:extLst>
                    <a:ext uri="{9D8B030D-6E8A-4147-A177-3AD203B41FA5}">
                      <a16:colId xmlns:a16="http://schemas.microsoft.com/office/drawing/2014/main" val="20002"/>
                    </a:ext>
                  </a:extLst>
                </a:gridCol>
                <a:gridCol w="872558">
                  <a:extLst>
                    <a:ext uri="{9D8B030D-6E8A-4147-A177-3AD203B41FA5}">
                      <a16:colId xmlns:a16="http://schemas.microsoft.com/office/drawing/2014/main" val="20003"/>
                    </a:ext>
                  </a:extLst>
                </a:gridCol>
              </a:tblGrid>
              <a:tr h="529475">
                <a:tc>
                  <a:txBody>
                    <a:bodyPr/>
                    <a:lstStyle/>
                    <a:p>
                      <a:pPr marL="0" marR="0" algn="ctr">
                        <a:lnSpc>
                          <a:spcPct val="115000"/>
                        </a:lnSpc>
                        <a:spcBef>
                          <a:spcPts val="0"/>
                        </a:spcBef>
                        <a:spcAft>
                          <a:spcPts val="0"/>
                        </a:spcAft>
                      </a:pPr>
                      <a:r>
                        <a:rPr lang="en-US" sz="1100" dirty="0">
                          <a:effectLst/>
                        </a:rPr>
                        <a:t>PWD Fiscal </a:t>
                      </a:r>
                      <a:r>
                        <a:rPr lang="en-US" sz="1100" spc="-5" dirty="0">
                          <a:effectLst/>
                        </a:rPr>
                        <a:t>Ye</a:t>
                      </a:r>
                      <a:r>
                        <a:rPr lang="en-US" sz="1100" spc="5" dirty="0">
                          <a:effectLst/>
                        </a:rPr>
                        <a:t>a</a:t>
                      </a:r>
                      <a:r>
                        <a:rPr lang="en-US" sz="1100" dirty="0">
                          <a:effectLst/>
                        </a:rPr>
                        <a:t>r </a:t>
                      </a:r>
                      <a:r>
                        <a:rPr lang="en-US" sz="1100" u="sng" spc="5" dirty="0">
                          <a:effectLst/>
                          <a:uFill>
                            <a:solidFill>
                              <a:srgbClr val="000000"/>
                            </a:solidFill>
                          </a:uFill>
                        </a:rPr>
                        <a:t>(</a:t>
                      </a:r>
                      <a:r>
                        <a:rPr lang="en-US" sz="1100" u="sng" spc="-20" dirty="0">
                          <a:effectLst/>
                          <a:uFill>
                            <a:solidFill>
                              <a:srgbClr val="000000"/>
                            </a:solidFill>
                          </a:uFill>
                        </a:rPr>
                        <a:t>July</a:t>
                      </a:r>
                      <a:r>
                        <a:rPr lang="en-US" sz="1100" u="sng" spc="-10" dirty="0">
                          <a:effectLst/>
                          <a:uFill>
                            <a:solidFill>
                              <a:srgbClr val="000000"/>
                            </a:solidFill>
                          </a:uFill>
                        </a:rPr>
                        <a:t> </a:t>
                      </a:r>
                      <a:r>
                        <a:rPr lang="en-US" sz="1100" u="sng" dirty="0">
                          <a:effectLst/>
                          <a:uFill>
                            <a:solidFill>
                              <a:srgbClr val="000000"/>
                            </a:solidFill>
                          </a:uFill>
                        </a:rPr>
                        <a:t>1</a:t>
                      </a:r>
                      <a:r>
                        <a:rPr lang="en-US" sz="1100" u="sng" spc="10" dirty="0">
                          <a:effectLst/>
                          <a:uFill>
                            <a:solidFill>
                              <a:srgbClr val="000000"/>
                            </a:solidFill>
                          </a:uFill>
                        </a:rPr>
                        <a:t> </a:t>
                      </a:r>
                      <a:r>
                        <a:rPr lang="en-US" sz="1100" u="sng" dirty="0">
                          <a:effectLst/>
                          <a:uFill>
                            <a:solidFill>
                              <a:srgbClr val="000000"/>
                            </a:solidFill>
                          </a:uFill>
                        </a:rPr>
                        <a:t>-</a:t>
                      </a:r>
                      <a:r>
                        <a:rPr lang="en-US" sz="1100" u="sng" spc="-5" dirty="0">
                          <a:effectLst/>
                          <a:uFill>
                            <a:solidFill>
                              <a:srgbClr val="000000"/>
                            </a:solidFill>
                          </a:uFill>
                        </a:rPr>
                        <a:t> </a:t>
                      </a:r>
                      <a:r>
                        <a:rPr lang="en-US" sz="1100" u="sng" dirty="0">
                          <a:effectLst/>
                          <a:uFill>
                            <a:solidFill>
                              <a:srgbClr val="000000"/>
                            </a:solidFill>
                          </a:uFill>
                        </a:rPr>
                        <a:t>June 30)</a:t>
                      </a:r>
                      <a:endParaRPr lang="en-US" sz="1100" dirty="0">
                        <a:effectLst/>
                        <a:latin typeface="Calibri"/>
                        <a:ea typeface="Calibri"/>
                        <a:cs typeface="Times New Roman"/>
                      </a:endParaRPr>
                    </a:p>
                  </a:txBody>
                  <a:tcPr marL="0" marR="0" marT="0" marB="0" anchor="ctr">
                    <a:noFill/>
                  </a:tcPr>
                </a:tc>
                <a:tc>
                  <a:txBody>
                    <a:bodyPr/>
                    <a:lstStyle/>
                    <a:p>
                      <a:pPr marL="0" marR="0" algn="ctr">
                        <a:lnSpc>
                          <a:spcPct val="115000"/>
                        </a:lnSpc>
                        <a:spcBef>
                          <a:spcPts val="345"/>
                        </a:spcBef>
                        <a:spcAft>
                          <a:spcPts val="0"/>
                        </a:spcAft>
                      </a:pPr>
                      <a:r>
                        <a:rPr lang="en-US" sz="1100" spc="-5" dirty="0">
                          <a:effectLst/>
                        </a:rPr>
                        <a:t>M</a:t>
                      </a:r>
                      <a:r>
                        <a:rPr lang="en-US" sz="1100" spc="5" dirty="0">
                          <a:effectLst/>
                        </a:rPr>
                        <a:t>a</a:t>
                      </a:r>
                      <a:r>
                        <a:rPr lang="en-US" sz="1100" dirty="0">
                          <a:effectLst/>
                        </a:rPr>
                        <a:t>in</a:t>
                      </a:r>
                      <a:r>
                        <a:rPr lang="en-US" sz="1100" spc="5" dirty="0">
                          <a:effectLst/>
                        </a:rPr>
                        <a:t> </a:t>
                      </a:r>
                      <a:r>
                        <a:rPr lang="en-US" sz="1100" dirty="0">
                          <a:effectLst/>
                        </a:rPr>
                        <a:t>Bre</a:t>
                      </a:r>
                      <a:r>
                        <a:rPr lang="en-US" sz="1100" spc="5" dirty="0">
                          <a:effectLst/>
                        </a:rPr>
                        <a:t>a</a:t>
                      </a:r>
                      <a:r>
                        <a:rPr lang="en-US" sz="1100" dirty="0">
                          <a:effectLst/>
                        </a:rPr>
                        <a:t>ks</a:t>
                      </a:r>
                    </a:p>
                    <a:p>
                      <a:pPr marL="0" marR="0" algn="ctr">
                        <a:lnSpc>
                          <a:spcPct val="115000"/>
                        </a:lnSpc>
                        <a:spcBef>
                          <a:spcPts val="0"/>
                        </a:spcBef>
                        <a:spcAft>
                          <a:spcPts val="0"/>
                        </a:spcAft>
                      </a:pPr>
                      <a:r>
                        <a:rPr lang="en-US" sz="1100" u="sng" spc="-5" dirty="0">
                          <a:effectLst/>
                          <a:uFill>
                            <a:solidFill>
                              <a:srgbClr val="000000"/>
                            </a:solidFill>
                          </a:uFill>
                        </a:rPr>
                        <a:t>P</a:t>
                      </a:r>
                      <a:r>
                        <a:rPr lang="en-US" sz="1100" u="sng" dirty="0">
                          <a:effectLst/>
                          <a:uFill>
                            <a:solidFill>
                              <a:srgbClr val="000000"/>
                            </a:solidFill>
                          </a:uFill>
                        </a:rPr>
                        <a:t>er</a:t>
                      </a:r>
                      <a:r>
                        <a:rPr lang="en-US" sz="1100" u="sng" spc="5" dirty="0">
                          <a:effectLst/>
                          <a:uFill>
                            <a:solidFill>
                              <a:srgbClr val="000000"/>
                            </a:solidFill>
                          </a:uFill>
                        </a:rPr>
                        <a:t> </a:t>
                      </a:r>
                      <a:r>
                        <a:rPr lang="en-US" sz="1100" u="sng" dirty="0">
                          <a:effectLst/>
                          <a:uFill>
                            <a:solidFill>
                              <a:srgbClr val="000000"/>
                            </a:solidFill>
                          </a:uFill>
                        </a:rPr>
                        <a:t>1</a:t>
                      </a:r>
                      <a:r>
                        <a:rPr lang="en-US" sz="1100" u="sng" spc="-5" dirty="0">
                          <a:effectLst/>
                          <a:uFill>
                            <a:solidFill>
                              <a:srgbClr val="000000"/>
                            </a:solidFill>
                          </a:uFill>
                        </a:rPr>
                        <a:t>0</a:t>
                      </a:r>
                      <a:r>
                        <a:rPr lang="en-US" sz="1100" u="sng" dirty="0">
                          <a:effectLst/>
                          <a:uFill>
                            <a:solidFill>
                              <a:srgbClr val="000000"/>
                            </a:solidFill>
                          </a:uFill>
                        </a:rPr>
                        <a:t>0</a:t>
                      </a:r>
                      <a:r>
                        <a:rPr lang="en-US" sz="1100" u="sng" spc="-10" dirty="0">
                          <a:effectLst/>
                          <a:uFill>
                            <a:solidFill>
                              <a:srgbClr val="000000"/>
                            </a:solidFill>
                          </a:uFill>
                        </a:rPr>
                        <a:t> </a:t>
                      </a:r>
                      <a:r>
                        <a:rPr lang="en-US" sz="1100" u="sng" spc="5" dirty="0">
                          <a:effectLst/>
                          <a:uFill>
                            <a:solidFill>
                              <a:srgbClr val="000000"/>
                            </a:solidFill>
                          </a:uFill>
                        </a:rPr>
                        <a:t>m</a:t>
                      </a:r>
                      <a:r>
                        <a:rPr lang="en-US" sz="1100" u="sng" spc="-5" dirty="0">
                          <a:effectLst/>
                          <a:uFill>
                            <a:solidFill>
                              <a:srgbClr val="000000"/>
                            </a:solidFill>
                          </a:uFill>
                        </a:rPr>
                        <a:t>il</a:t>
                      </a:r>
                      <a:r>
                        <a:rPr lang="en-US" sz="1100" u="sng" dirty="0">
                          <a:effectLst/>
                          <a:uFill>
                            <a:solidFill>
                              <a:srgbClr val="000000"/>
                            </a:solidFill>
                          </a:uFill>
                        </a:rPr>
                        <a:t>es</a:t>
                      </a:r>
                      <a:endParaRPr lang="en-US" sz="1100" dirty="0">
                        <a:effectLst/>
                        <a:latin typeface="Calibri"/>
                        <a:ea typeface="Calibri"/>
                        <a:cs typeface="Times New Roman"/>
                      </a:endParaRPr>
                    </a:p>
                  </a:txBody>
                  <a:tcPr marL="0" marR="0" marT="0" marB="0" anchor="ctr">
                    <a:noFill/>
                  </a:tcPr>
                </a:tc>
                <a:tc>
                  <a:txBody>
                    <a:bodyPr/>
                    <a:lstStyle/>
                    <a:p>
                      <a:pPr marL="0" marR="0" algn="ctr">
                        <a:lnSpc>
                          <a:spcPct val="115000"/>
                        </a:lnSpc>
                        <a:spcBef>
                          <a:spcPts val="0"/>
                        </a:spcBef>
                        <a:spcAft>
                          <a:spcPts val="0"/>
                        </a:spcAft>
                      </a:pPr>
                      <a:r>
                        <a:rPr lang="en-US" sz="1100">
                          <a:effectLst/>
                        </a:rPr>
                        <a:t>5</a:t>
                      </a:r>
                      <a:r>
                        <a:rPr lang="en-US" sz="1100" spc="15">
                          <a:effectLst/>
                        </a:rPr>
                        <a:t>-</a:t>
                      </a:r>
                      <a:r>
                        <a:rPr lang="en-US" sz="1100" spc="-20">
                          <a:effectLst/>
                        </a:rPr>
                        <a:t>y</a:t>
                      </a:r>
                      <a:r>
                        <a:rPr lang="en-US" sz="1100">
                          <a:effectLst/>
                        </a:rPr>
                        <a:t>e</a:t>
                      </a:r>
                      <a:r>
                        <a:rPr lang="en-US" sz="1100" spc="-5">
                          <a:effectLst/>
                        </a:rPr>
                        <a:t>a</a:t>
                      </a:r>
                      <a:r>
                        <a:rPr lang="en-US" sz="1100">
                          <a:effectLst/>
                        </a:rPr>
                        <a:t>r </a:t>
                      </a:r>
                    </a:p>
                    <a:p>
                      <a:pPr marL="0" marR="0" algn="ctr">
                        <a:lnSpc>
                          <a:spcPct val="115000"/>
                        </a:lnSpc>
                        <a:spcBef>
                          <a:spcPts val="0"/>
                        </a:spcBef>
                        <a:spcAft>
                          <a:spcPts val="0"/>
                        </a:spcAft>
                      </a:pPr>
                      <a:r>
                        <a:rPr lang="en-US" sz="1100" u="sng" spc="-20">
                          <a:effectLst/>
                          <a:uFill>
                            <a:solidFill>
                              <a:srgbClr val="000000"/>
                            </a:solidFill>
                          </a:uFill>
                        </a:rPr>
                        <a:t>M</a:t>
                      </a:r>
                      <a:r>
                        <a:rPr lang="en-US" sz="1100" u="sng" spc="10">
                          <a:effectLst/>
                          <a:uFill>
                            <a:solidFill>
                              <a:srgbClr val="000000"/>
                            </a:solidFill>
                          </a:uFill>
                        </a:rPr>
                        <a:t>o</a:t>
                      </a:r>
                      <a:r>
                        <a:rPr lang="en-US" sz="1100" u="sng">
                          <a:effectLst/>
                          <a:uFill>
                            <a:solidFill>
                              <a:srgbClr val="000000"/>
                            </a:solidFill>
                          </a:uFill>
                        </a:rPr>
                        <a:t>v</a:t>
                      </a:r>
                      <a:r>
                        <a:rPr lang="en-US" sz="1100" u="sng" spc="-5">
                          <a:effectLst/>
                          <a:uFill>
                            <a:solidFill>
                              <a:srgbClr val="000000"/>
                            </a:solidFill>
                          </a:uFill>
                        </a:rPr>
                        <a:t>i</a:t>
                      </a:r>
                      <a:r>
                        <a:rPr lang="en-US" sz="1100" u="sng">
                          <a:effectLst/>
                          <a:uFill>
                            <a:solidFill>
                              <a:srgbClr val="000000"/>
                            </a:solidFill>
                          </a:uFill>
                        </a:rPr>
                        <a:t>ng</a:t>
                      </a:r>
                      <a:r>
                        <a:rPr lang="en-US" sz="1100">
                          <a:effectLst/>
                        </a:rPr>
                        <a:t> </a:t>
                      </a:r>
                      <a:r>
                        <a:rPr lang="en-US" sz="1100" u="sng" spc="-5">
                          <a:effectLst/>
                          <a:uFill>
                            <a:solidFill>
                              <a:srgbClr val="000000"/>
                            </a:solidFill>
                          </a:uFill>
                        </a:rPr>
                        <a:t>A</a:t>
                      </a:r>
                      <a:r>
                        <a:rPr lang="en-US" sz="1100" u="sng" spc="-10">
                          <a:effectLst/>
                          <a:uFill>
                            <a:solidFill>
                              <a:srgbClr val="000000"/>
                            </a:solidFill>
                          </a:uFill>
                        </a:rPr>
                        <a:t>v</a:t>
                      </a:r>
                      <a:r>
                        <a:rPr lang="en-US" sz="1100" u="sng" spc="10">
                          <a:effectLst/>
                          <a:uFill>
                            <a:solidFill>
                              <a:srgbClr val="000000"/>
                            </a:solidFill>
                          </a:uFill>
                        </a:rPr>
                        <a:t>g</a:t>
                      </a:r>
                      <a:r>
                        <a:rPr lang="en-US" sz="1100" u="sng">
                          <a:effectLst/>
                          <a:uFill>
                            <a:solidFill>
                              <a:srgbClr val="000000"/>
                            </a:solidFill>
                          </a:uFill>
                        </a:rPr>
                        <a:t>.</a:t>
                      </a:r>
                      <a:endParaRPr lang="en-US" sz="1100">
                        <a:effectLst/>
                        <a:latin typeface="Calibri"/>
                        <a:ea typeface="Calibri"/>
                        <a:cs typeface="Times New Roman"/>
                      </a:endParaRPr>
                    </a:p>
                  </a:txBody>
                  <a:tcPr marL="0" marR="0" marT="0" marB="0" anchor="ctr">
                    <a:noFill/>
                  </a:tcPr>
                </a:tc>
                <a:tc>
                  <a:txBody>
                    <a:bodyPr/>
                    <a:lstStyle/>
                    <a:p>
                      <a:pPr marL="0" marR="0" algn="ctr">
                        <a:lnSpc>
                          <a:spcPct val="115000"/>
                        </a:lnSpc>
                        <a:spcBef>
                          <a:spcPts val="30"/>
                        </a:spcBef>
                        <a:spcAft>
                          <a:spcPts val="0"/>
                        </a:spcAft>
                      </a:pPr>
                      <a:r>
                        <a:rPr lang="en-US" sz="1100">
                          <a:effectLst/>
                        </a:rPr>
                        <a:t>Total Miles </a:t>
                      </a:r>
                      <a:r>
                        <a:rPr lang="en-US" sz="1100" u="sng">
                          <a:effectLst/>
                        </a:rPr>
                        <a:t>of Pipe</a:t>
                      </a:r>
                      <a:endParaRPr lang="en-US" sz="1100">
                        <a:effectLst/>
                        <a:latin typeface="Calibri"/>
                        <a:ea typeface="Calibri"/>
                        <a:cs typeface="Times New Roman"/>
                      </a:endParaRPr>
                    </a:p>
                  </a:txBody>
                  <a:tcPr marL="0" marR="0" marT="0" marB="0" anchor="ctr">
                    <a:noFill/>
                  </a:tcPr>
                </a:tc>
                <a:extLst>
                  <a:ext uri="{0D108BD9-81ED-4DB2-BD59-A6C34878D82A}">
                    <a16:rowId xmlns:a16="http://schemas.microsoft.com/office/drawing/2014/main" val="10000"/>
                  </a:ext>
                </a:extLst>
              </a:tr>
              <a:tr h="217363">
                <a:tc>
                  <a:txBody>
                    <a:bodyPr/>
                    <a:lstStyle/>
                    <a:p>
                      <a:pPr marL="0" marR="0" algn="ctr">
                        <a:lnSpc>
                          <a:spcPct val="115000"/>
                        </a:lnSpc>
                        <a:spcBef>
                          <a:spcPts val="0"/>
                        </a:spcBef>
                        <a:spcAft>
                          <a:spcPts val="0"/>
                        </a:spcAft>
                      </a:pPr>
                      <a:r>
                        <a:rPr lang="en-US" sz="1100">
                          <a:effectLst/>
                        </a:rPr>
                        <a:t>1994</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42</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25</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01"/>
                  </a:ext>
                </a:extLst>
              </a:tr>
              <a:tr h="217363">
                <a:tc>
                  <a:txBody>
                    <a:bodyPr/>
                    <a:lstStyle/>
                    <a:p>
                      <a:pPr marL="0" marR="0" algn="ctr">
                        <a:lnSpc>
                          <a:spcPct val="115000"/>
                        </a:lnSpc>
                        <a:spcBef>
                          <a:spcPts val="0"/>
                        </a:spcBef>
                        <a:spcAft>
                          <a:spcPts val="0"/>
                        </a:spcAft>
                      </a:pPr>
                      <a:r>
                        <a:rPr lang="en-US" sz="1100">
                          <a:effectLst/>
                        </a:rPr>
                        <a:t>1995</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29</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26</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02"/>
                  </a:ext>
                </a:extLst>
              </a:tr>
              <a:tr h="217363">
                <a:tc>
                  <a:txBody>
                    <a:bodyPr/>
                    <a:lstStyle/>
                    <a:p>
                      <a:pPr marL="0" marR="0" algn="ctr">
                        <a:lnSpc>
                          <a:spcPct val="115000"/>
                        </a:lnSpc>
                        <a:spcBef>
                          <a:spcPts val="0"/>
                        </a:spcBef>
                        <a:spcAft>
                          <a:spcPts val="0"/>
                        </a:spcAft>
                      </a:pPr>
                      <a:r>
                        <a:rPr lang="en-US" sz="1100">
                          <a:effectLst/>
                        </a:rPr>
                        <a:t>1996</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23</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26</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03"/>
                  </a:ext>
                </a:extLst>
              </a:tr>
              <a:tr h="217363">
                <a:tc>
                  <a:txBody>
                    <a:bodyPr/>
                    <a:lstStyle/>
                    <a:p>
                      <a:pPr marL="0" marR="0" algn="ctr">
                        <a:lnSpc>
                          <a:spcPct val="115000"/>
                        </a:lnSpc>
                        <a:spcBef>
                          <a:spcPts val="0"/>
                        </a:spcBef>
                        <a:spcAft>
                          <a:spcPts val="0"/>
                        </a:spcAft>
                      </a:pPr>
                      <a:r>
                        <a:rPr lang="en-US" sz="1100">
                          <a:effectLst/>
                        </a:rPr>
                        <a:t>1997</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16</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26</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04"/>
                  </a:ext>
                </a:extLst>
              </a:tr>
              <a:tr h="217363">
                <a:tc>
                  <a:txBody>
                    <a:bodyPr/>
                    <a:lstStyle/>
                    <a:p>
                      <a:pPr marL="0" marR="0" algn="ctr">
                        <a:lnSpc>
                          <a:spcPct val="115000"/>
                        </a:lnSpc>
                        <a:spcBef>
                          <a:spcPts val="0"/>
                        </a:spcBef>
                        <a:spcAft>
                          <a:spcPts val="0"/>
                        </a:spcAft>
                      </a:pPr>
                      <a:r>
                        <a:rPr lang="en-US" sz="1100">
                          <a:effectLst/>
                        </a:rPr>
                        <a:t>1998</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14</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25</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05"/>
                  </a:ext>
                </a:extLst>
              </a:tr>
              <a:tr h="217363">
                <a:tc>
                  <a:txBody>
                    <a:bodyPr/>
                    <a:lstStyle/>
                    <a:p>
                      <a:pPr marL="0" marR="0" algn="ctr">
                        <a:lnSpc>
                          <a:spcPct val="115000"/>
                        </a:lnSpc>
                        <a:spcBef>
                          <a:spcPts val="0"/>
                        </a:spcBef>
                        <a:spcAft>
                          <a:spcPts val="0"/>
                        </a:spcAft>
                      </a:pPr>
                      <a:r>
                        <a:rPr lang="en-US" sz="1100">
                          <a:effectLst/>
                        </a:rPr>
                        <a:t>1999</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20</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20</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06"/>
                  </a:ext>
                </a:extLst>
              </a:tr>
              <a:tr h="217363">
                <a:tc>
                  <a:txBody>
                    <a:bodyPr/>
                    <a:lstStyle/>
                    <a:p>
                      <a:pPr marL="0" marR="0" algn="ctr">
                        <a:lnSpc>
                          <a:spcPct val="115000"/>
                        </a:lnSpc>
                        <a:spcBef>
                          <a:spcPts val="0"/>
                        </a:spcBef>
                        <a:spcAft>
                          <a:spcPts val="0"/>
                        </a:spcAft>
                      </a:pPr>
                      <a:r>
                        <a:rPr lang="en-US" sz="1100">
                          <a:effectLst/>
                        </a:rPr>
                        <a:t>2000</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27</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20</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07"/>
                  </a:ext>
                </a:extLst>
              </a:tr>
              <a:tr h="217363">
                <a:tc>
                  <a:txBody>
                    <a:bodyPr/>
                    <a:lstStyle/>
                    <a:p>
                      <a:pPr marL="0" marR="0" algn="ctr">
                        <a:lnSpc>
                          <a:spcPct val="115000"/>
                        </a:lnSpc>
                        <a:spcBef>
                          <a:spcPts val="0"/>
                        </a:spcBef>
                        <a:spcAft>
                          <a:spcPts val="0"/>
                        </a:spcAft>
                      </a:pPr>
                      <a:r>
                        <a:rPr lang="en-US" sz="1100">
                          <a:effectLst/>
                        </a:rPr>
                        <a:t>2001</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19</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19</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08"/>
                  </a:ext>
                </a:extLst>
              </a:tr>
              <a:tr h="217363">
                <a:tc>
                  <a:txBody>
                    <a:bodyPr/>
                    <a:lstStyle/>
                    <a:p>
                      <a:pPr marL="0" marR="0" algn="ctr">
                        <a:lnSpc>
                          <a:spcPct val="115000"/>
                        </a:lnSpc>
                        <a:spcBef>
                          <a:spcPts val="0"/>
                        </a:spcBef>
                        <a:spcAft>
                          <a:spcPts val="0"/>
                        </a:spcAft>
                      </a:pPr>
                      <a:r>
                        <a:rPr lang="en-US" sz="1100">
                          <a:effectLst/>
                        </a:rPr>
                        <a:t>2002</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21</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20</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09"/>
                  </a:ext>
                </a:extLst>
              </a:tr>
              <a:tr h="217363">
                <a:tc>
                  <a:txBody>
                    <a:bodyPr/>
                    <a:lstStyle/>
                    <a:p>
                      <a:pPr marL="0" marR="0" algn="ctr">
                        <a:lnSpc>
                          <a:spcPct val="115000"/>
                        </a:lnSpc>
                        <a:spcBef>
                          <a:spcPts val="0"/>
                        </a:spcBef>
                        <a:spcAft>
                          <a:spcPts val="0"/>
                        </a:spcAft>
                      </a:pPr>
                      <a:r>
                        <a:rPr lang="en-US" sz="1100">
                          <a:effectLst/>
                        </a:rPr>
                        <a:t>2003</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26</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23</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10"/>
                  </a:ext>
                </a:extLst>
              </a:tr>
              <a:tr h="217363">
                <a:tc>
                  <a:txBody>
                    <a:bodyPr/>
                    <a:lstStyle/>
                    <a:p>
                      <a:pPr marL="0" marR="0" algn="ctr">
                        <a:lnSpc>
                          <a:spcPct val="115000"/>
                        </a:lnSpc>
                        <a:spcBef>
                          <a:spcPts val="0"/>
                        </a:spcBef>
                        <a:spcAft>
                          <a:spcPts val="0"/>
                        </a:spcAft>
                      </a:pPr>
                      <a:r>
                        <a:rPr lang="en-US" sz="1100">
                          <a:effectLst/>
                        </a:rPr>
                        <a:t>2004</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25</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24</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11"/>
                  </a:ext>
                </a:extLst>
              </a:tr>
              <a:tr h="217363">
                <a:tc>
                  <a:txBody>
                    <a:bodyPr/>
                    <a:lstStyle/>
                    <a:p>
                      <a:pPr marL="0" marR="0" algn="ctr">
                        <a:lnSpc>
                          <a:spcPct val="115000"/>
                        </a:lnSpc>
                        <a:spcBef>
                          <a:spcPts val="0"/>
                        </a:spcBef>
                        <a:spcAft>
                          <a:spcPts val="0"/>
                        </a:spcAft>
                      </a:pPr>
                      <a:r>
                        <a:rPr lang="en-US" sz="1100">
                          <a:effectLst/>
                        </a:rPr>
                        <a:t>2005</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25</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23</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3,300</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12"/>
                  </a:ext>
                </a:extLst>
              </a:tr>
              <a:tr h="217363">
                <a:tc>
                  <a:txBody>
                    <a:bodyPr/>
                    <a:lstStyle/>
                    <a:p>
                      <a:pPr marL="0" marR="0" algn="ctr">
                        <a:lnSpc>
                          <a:spcPct val="115000"/>
                        </a:lnSpc>
                        <a:spcBef>
                          <a:spcPts val="0"/>
                        </a:spcBef>
                        <a:spcAft>
                          <a:spcPts val="0"/>
                        </a:spcAft>
                      </a:pPr>
                      <a:r>
                        <a:rPr lang="en-US" sz="1100">
                          <a:effectLst/>
                        </a:rPr>
                        <a:t>2006*</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17</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23</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3,133</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13"/>
                  </a:ext>
                </a:extLst>
              </a:tr>
              <a:tr h="217363">
                <a:tc>
                  <a:txBody>
                    <a:bodyPr/>
                    <a:lstStyle/>
                    <a:p>
                      <a:pPr marL="0" marR="0" algn="ctr">
                        <a:lnSpc>
                          <a:spcPct val="115000"/>
                        </a:lnSpc>
                        <a:spcBef>
                          <a:spcPts val="0"/>
                        </a:spcBef>
                        <a:spcAft>
                          <a:spcPts val="0"/>
                        </a:spcAft>
                      </a:pPr>
                      <a:r>
                        <a:rPr lang="en-US" sz="1100">
                          <a:effectLst/>
                        </a:rPr>
                        <a:t>2007*</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26</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24</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3,137</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14"/>
                  </a:ext>
                </a:extLst>
              </a:tr>
              <a:tr h="217363">
                <a:tc>
                  <a:txBody>
                    <a:bodyPr/>
                    <a:lstStyle/>
                    <a:p>
                      <a:pPr marL="0" marR="0" algn="ctr">
                        <a:lnSpc>
                          <a:spcPct val="115000"/>
                        </a:lnSpc>
                        <a:spcBef>
                          <a:spcPts val="0"/>
                        </a:spcBef>
                        <a:spcAft>
                          <a:spcPts val="0"/>
                        </a:spcAft>
                      </a:pPr>
                      <a:r>
                        <a:rPr lang="en-US" sz="1100">
                          <a:effectLst/>
                        </a:rPr>
                        <a:t>2008</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19</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22</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3,137</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15"/>
                  </a:ext>
                </a:extLst>
              </a:tr>
              <a:tr h="217363">
                <a:tc>
                  <a:txBody>
                    <a:bodyPr/>
                    <a:lstStyle/>
                    <a:p>
                      <a:pPr marL="0" marR="0" algn="ctr">
                        <a:lnSpc>
                          <a:spcPct val="115000"/>
                        </a:lnSpc>
                        <a:spcBef>
                          <a:spcPts val="0"/>
                        </a:spcBef>
                        <a:spcAft>
                          <a:spcPts val="0"/>
                        </a:spcAft>
                      </a:pPr>
                      <a:r>
                        <a:rPr lang="en-US" sz="1100">
                          <a:effectLst/>
                        </a:rPr>
                        <a:t>2009</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22</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22</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3,145</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16"/>
                  </a:ext>
                </a:extLst>
              </a:tr>
              <a:tr h="217363">
                <a:tc>
                  <a:txBody>
                    <a:bodyPr/>
                    <a:lstStyle/>
                    <a:p>
                      <a:pPr marL="0" marR="0" algn="ctr">
                        <a:lnSpc>
                          <a:spcPct val="115000"/>
                        </a:lnSpc>
                        <a:spcBef>
                          <a:spcPts val="0"/>
                        </a:spcBef>
                        <a:spcAft>
                          <a:spcPts val="0"/>
                        </a:spcAft>
                      </a:pPr>
                      <a:r>
                        <a:rPr lang="en-US" sz="1100">
                          <a:effectLst/>
                        </a:rPr>
                        <a:t>2010</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22</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21</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3,159</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17"/>
                  </a:ext>
                </a:extLst>
              </a:tr>
              <a:tr h="217363">
                <a:tc>
                  <a:txBody>
                    <a:bodyPr/>
                    <a:lstStyle/>
                    <a:p>
                      <a:pPr marL="0" marR="0" algn="ctr">
                        <a:lnSpc>
                          <a:spcPct val="115000"/>
                        </a:lnSpc>
                        <a:spcBef>
                          <a:spcPts val="0"/>
                        </a:spcBef>
                        <a:spcAft>
                          <a:spcPts val="0"/>
                        </a:spcAft>
                      </a:pPr>
                      <a:r>
                        <a:rPr lang="en-US" sz="1100">
                          <a:effectLst/>
                        </a:rPr>
                        <a:t>2011</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31</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24</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3,164</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18"/>
                  </a:ext>
                </a:extLst>
              </a:tr>
              <a:tr h="217363">
                <a:tc>
                  <a:txBody>
                    <a:bodyPr/>
                    <a:lstStyle/>
                    <a:p>
                      <a:pPr marL="0" marR="0" algn="ctr">
                        <a:lnSpc>
                          <a:spcPct val="115000"/>
                        </a:lnSpc>
                        <a:spcBef>
                          <a:spcPts val="0"/>
                        </a:spcBef>
                        <a:spcAft>
                          <a:spcPts val="0"/>
                        </a:spcAft>
                      </a:pPr>
                      <a:r>
                        <a:rPr lang="en-US" sz="1100">
                          <a:effectLst/>
                        </a:rPr>
                        <a:t>2012</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solidFill>
                            <a:schemeClr val="tx1"/>
                          </a:solidFill>
                          <a:effectLst/>
                        </a:rPr>
                        <a:t>17</a:t>
                      </a:r>
                      <a:endParaRPr lang="en-US" sz="110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solidFill>
                            <a:schemeClr val="tx1"/>
                          </a:solidFill>
                          <a:effectLst/>
                        </a:rPr>
                        <a:t>22</a:t>
                      </a:r>
                      <a:endParaRPr lang="en-US" sz="1100" dirty="0">
                        <a:solidFill>
                          <a:schemeClr val="tx1"/>
                        </a:solidFill>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3,172</a:t>
                      </a:r>
                      <a:endParaRPr lang="en-US" sz="1100">
                        <a:effectLst/>
                        <a:latin typeface="Calibri"/>
                        <a:ea typeface="Calibri"/>
                        <a:cs typeface="Times New Roman"/>
                      </a:endParaRPr>
                    </a:p>
                  </a:txBody>
                  <a:tcPr marL="0" marR="0" marT="0" marB="0">
                    <a:noFill/>
                  </a:tcPr>
                </a:tc>
                <a:extLst>
                  <a:ext uri="{0D108BD9-81ED-4DB2-BD59-A6C34878D82A}">
                    <a16:rowId xmlns:a16="http://schemas.microsoft.com/office/drawing/2014/main" val="10019"/>
                  </a:ext>
                </a:extLst>
              </a:tr>
              <a:tr h="446024">
                <a:tc>
                  <a:txBody>
                    <a:bodyPr/>
                    <a:lstStyle/>
                    <a:p>
                      <a:pPr marL="0" marR="0" algn="ctr">
                        <a:lnSpc>
                          <a:spcPct val="115000"/>
                        </a:lnSpc>
                        <a:spcBef>
                          <a:spcPts val="0"/>
                        </a:spcBef>
                        <a:spcAft>
                          <a:spcPts val="0"/>
                        </a:spcAft>
                      </a:pPr>
                      <a:r>
                        <a:rPr lang="en-US" sz="1100">
                          <a:effectLst/>
                        </a:rPr>
                        <a:t>2013</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effectLst/>
                        </a:rPr>
                        <a:t>30</a:t>
                      </a:r>
                      <a:endParaRPr lang="en-US" sz="1100" dirty="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a:effectLst/>
                        </a:rPr>
                        <a:t>24</a:t>
                      </a:r>
                      <a:endParaRPr lang="en-US" sz="1100">
                        <a:effectLst/>
                        <a:latin typeface="Calibri"/>
                        <a:ea typeface="Calibri"/>
                        <a:cs typeface="Times New Roman"/>
                      </a:endParaRPr>
                    </a:p>
                  </a:txBody>
                  <a:tcPr marL="0" marR="0" marT="0" marB="0">
                    <a:noFill/>
                  </a:tcPr>
                </a:tc>
                <a:tc>
                  <a:txBody>
                    <a:bodyPr/>
                    <a:lstStyle/>
                    <a:p>
                      <a:pPr marL="0" marR="0" algn="ctr">
                        <a:lnSpc>
                          <a:spcPct val="115000"/>
                        </a:lnSpc>
                        <a:spcBef>
                          <a:spcPts val="0"/>
                        </a:spcBef>
                        <a:spcAft>
                          <a:spcPts val="0"/>
                        </a:spcAft>
                      </a:pPr>
                      <a:r>
                        <a:rPr lang="en-US" sz="1100" dirty="0">
                          <a:effectLst/>
                        </a:rPr>
                        <a:t>3,174</a:t>
                      </a:r>
                    </a:p>
                    <a:p>
                      <a:pPr marL="0" marR="0">
                        <a:lnSpc>
                          <a:spcPct val="115000"/>
                        </a:lnSpc>
                        <a:spcBef>
                          <a:spcPts val="0"/>
                        </a:spcBef>
                        <a:spcAft>
                          <a:spcPts val="0"/>
                        </a:spcAft>
                      </a:pPr>
                      <a:r>
                        <a:rPr lang="en-US" sz="1100" dirty="0">
                          <a:effectLst/>
                        </a:rPr>
                        <a:t> </a:t>
                      </a:r>
                      <a:endParaRPr lang="en-US" sz="1100" dirty="0">
                        <a:effectLst/>
                        <a:latin typeface="Calibri"/>
                        <a:ea typeface="Calibri"/>
                        <a:cs typeface="Times New Roman"/>
                      </a:endParaRPr>
                    </a:p>
                  </a:txBody>
                  <a:tcPr marL="0" marR="0" marT="0" marB="0">
                    <a:noFill/>
                  </a:tcPr>
                </a:tc>
                <a:extLst>
                  <a:ext uri="{0D108BD9-81ED-4DB2-BD59-A6C34878D82A}">
                    <a16:rowId xmlns:a16="http://schemas.microsoft.com/office/drawing/2014/main" val="10020"/>
                  </a:ext>
                </a:extLst>
              </a:tr>
            </a:tbl>
          </a:graphicData>
        </a:graphic>
      </p:graphicFrame>
      <p:sp>
        <p:nvSpPr>
          <p:cNvPr id="6" name="Rectangle 3"/>
          <p:cNvSpPr txBox="1">
            <a:spLocks noChangeArrowheads="1"/>
          </p:cNvSpPr>
          <p:nvPr/>
        </p:nvSpPr>
        <p:spPr bwMode="auto">
          <a:xfrm>
            <a:off x="4762500" y="1524000"/>
            <a:ext cx="4229100" cy="419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a:lstStyle>
          <a:p>
            <a:pPr eaLnBrk="1" hangingPunct="1">
              <a:defRPr/>
            </a:pPr>
            <a:r>
              <a:rPr lang="en-US" sz="2800" dirty="0">
                <a:effectLst/>
              </a:rPr>
              <a:t>DSOP Performance goals:</a:t>
            </a:r>
          </a:p>
          <a:p>
            <a:pPr marL="0" indent="0" eaLnBrk="1" hangingPunct="1">
              <a:buNone/>
              <a:defRPr/>
            </a:pPr>
            <a:endParaRPr lang="en-US" sz="2800" dirty="0">
              <a:effectLst/>
              <a:cs typeface="Calibri"/>
            </a:endParaRPr>
          </a:p>
          <a:p>
            <a:pPr marL="0" indent="0" eaLnBrk="1" hangingPunct="1">
              <a:buNone/>
              <a:defRPr/>
            </a:pPr>
            <a:r>
              <a:rPr lang="en-US" sz="2800" dirty="0">
                <a:effectLst/>
                <a:cs typeface="Calibri"/>
              </a:rPr>
              <a:t>1) ≥ 15 reported breaks per 100 miles</a:t>
            </a:r>
            <a:r>
              <a:rPr lang="en-US" sz="2800" dirty="0">
                <a:effectLst/>
              </a:rPr>
              <a:t> </a:t>
            </a:r>
          </a:p>
          <a:p>
            <a:pPr marL="0" indent="0" eaLnBrk="1" hangingPunct="1">
              <a:buNone/>
              <a:defRPr/>
            </a:pPr>
            <a:endParaRPr lang="en-US" sz="2800" dirty="0">
              <a:effectLst/>
            </a:endParaRPr>
          </a:p>
          <a:p>
            <a:pPr marL="0" indent="0" eaLnBrk="1" hangingPunct="1">
              <a:buNone/>
              <a:defRPr/>
            </a:pPr>
            <a:r>
              <a:rPr lang="en-US" sz="2800" dirty="0">
                <a:effectLst/>
              </a:rPr>
              <a:t>2) Declining 5-year trend</a:t>
            </a:r>
          </a:p>
          <a:p>
            <a:pPr eaLnBrk="1" hangingPunct="1">
              <a:buFont typeface="Wingdings" pitchFamily="2" charset="2"/>
              <a:buNone/>
              <a:defRPr/>
            </a:pPr>
            <a:endParaRPr lang="en-US" dirty="0"/>
          </a:p>
        </p:txBody>
      </p:sp>
    </p:spTree>
    <p:extLst>
      <p:ext uri="{BB962C8B-B14F-4D97-AF65-F5344CB8AC3E}">
        <p14:creationId xmlns:p14="http://schemas.microsoft.com/office/powerpoint/2010/main" val="27271522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457200" y="533400"/>
            <a:ext cx="8229600" cy="1143000"/>
          </a:xfrm>
        </p:spPr>
        <p:txBody>
          <a:bodyPr/>
          <a:lstStyle/>
          <a:p>
            <a:pPr eaLnBrk="1" hangingPunct="1">
              <a:defRPr/>
            </a:pPr>
            <a:r>
              <a:rPr lang="en-US" sz="4000" dirty="0">
                <a:solidFill>
                  <a:schemeClr val="hlink"/>
                </a:solidFill>
                <a:effectLst/>
                <a:latin typeface="Arial" charset="0"/>
              </a:rPr>
              <a:t>Main Break Data</a:t>
            </a:r>
            <a:endParaRPr lang="en-US" sz="2800" dirty="0">
              <a:solidFill>
                <a:schemeClr val="hlink"/>
              </a:solidFill>
            </a:endParaRPr>
          </a:p>
        </p:txBody>
      </p:sp>
      <p:graphicFrame>
        <p:nvGraphicFramePr>
          <p:cNvPr id="4" name="Chart 3"/>
          <p:cNvGraphicFramePr/>
          <p:nvPr>
            <p:extLst>
              <p:ext uri="{D42A27DB-BD31-4B8C-83A1-F6EECF244321}">
                <p14:modId xmlns:p14="http://schemas.microsoft.com/office/powerpoint/2010/main" val="52363318"/>
              </p:ext>
            </p:extLst>
          </p:nvPr>
        </p:nvGraphicFramePr>
        <p:xfrm>
          <a:off x="304800" y="1524000"/>
          <a:ext cx="8534400" cy="5105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9016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457200" y="533400"/>
            <a:ext cx="8229600" cy="1143000"/>
          </a:xfrm>
        </p:spPr>
        <p:txBody>
          <a:bodyPr/>
          <a:lstStyle/>
          <a:p>
            <a:pPr eaLnBrk="1" hangingPunct="1">
              <a:defRPr/>
            </a:pPr>
            <a:r>
              <a:rPr lang="en-US" sz="4000" dirty="0">
                <a:solidFill>
                  <a:schemeClr val="hlink"/>
                </a:solidFill>
                <a:effectLst/>
                <a:latin typeface="Arial" charset="0"/>
              </a:rPr>
              <a:t>Main Break Data</a:t>
            </a:r>
            <a:endParaRPr lang="en-US" sz="2800" dirty="0">
              <a:solidFill>
                <a:schemeClr val="hlink"/>
              </a:solidFill>
            </a:endParaRPr>
          </a:p>
        </p:txBody>
      </p:sp>
      <p:graphicFrame>
        <p:nvGraphicFramePr>
          <p:cNvPr id="6" name="Chart 5"/>
          <p:cNvGraphicFramePr/>
          <p:nvPr>
            <p:extLst>
              <p:ext uri="{D42A27DB-BD31-4B8C-83A1-F6EECF244321}">
                <p14:modId xmlns:p14="http://schemas.microsoft.com/office/powerpoint/2010/main" val="1092454062"/>
              </p:ext>
            </p:extLst>
          </p:nvPr>
        </p:nvGraphicFramePr>
        <p:xfrm>
          <a:off x="304800" y="1524000"/>
          <a:ext cx="8534400" cy="5105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478834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latin typeface="Arial" pitchFamily="34" charset="0"/>
                <a:cs typeface="Arial" pitchFamily="34" charset="0"/>
              </a:rPr>
              <a:t>Distribution System Integrity</a:t>
            </a:r>
          </a:p>
        </p:txBody>
      </p:sp>
      <p:sp>
        <p:nvSpPr>
          <p:cNvPr id="3" name="Content Placeholder 2"/>
          <p:cNvSpPr>
            <a:spLocks noGrp="1"/>
          </p:cNvSpPr>
          <p:nvPr>
            <p:ph idx="1"/>
          </p:nvPr>
        </p:nvSpPr>
        <p:spPr>
          <a:xfrm>
            <a:off x="457200" y="1371600"/>
            <a:ext cx="8229600" cy="4876800"/>
          </a:xfrm>
        </p:spPr>
        <p:txBody>
          <a:bodyPr/>
          <a:lstStyle/>
          <a:p>
            <a:r>
              <a:rPr lang="en-US" dirty="0"/>
              <a:t>System Integrity Performance Indicators</a:t>
            </a:r>
          </a:p>
          <a:p>
            <a:pPr lvl="1"/>
            <a:r>
              <a:rPr lang="en-US" sz="4000" b="1" dirty="0"/>
              <a:t>Water Quality</a:t>
            </a:r>
          </a:p>
          <a:p>
            <a:pPr lvl="2"/>
            <a:r>
              <a:rPr lang="en-US" sz="4000" b="1" dirty="0"/>
              <a:t>Maintain Disinfectant Residual</a:t>
            </a:r>
          </a:p>
          <a:p>
            <a:pPr lvl="1"/>
            <a:r>
              <a:rPr lang="en-US" dirty="0"/>
              <a:t>Hydraulics</a:t>
            </a:r>
          </a:p>
          <a:p>
            <a:pPr lvl="2"/>
            <a:r>
              <a:rPr lang="en-US" dirty="0"/>
              <a:t>Maintain Positive Pressure</a:t>
            </a:r>
          </a:p>
          <a:p>
            <a:pPr lvl="1"/>
            <a:r>
              <a:rPr lang="en-US" dirty="0"/>
              <a:t>Physical</a:t>
            </a:r>
          </a:p>
          <a:p>
            <a:pPr lvl="2"/>
            <a:r>
              <a:rPr lang="en-US" dirty="0"/>
              <a:t>Main Break Frequency Reduction</a:t>
            </a:r>
          </a:p>
          <a:p>
            <a:r>
              <a:rPr lang="en-US" dirty="0"/>
              <a:t>System Integrity may be at risk when these performance indicators are not optimized</a:t>
            </a:r>
          </a:p>
          <a:p>
            <a:pPr marL="914400" lvl="2" indent="0">
              <a:buNone/>
            </a:pPr>
            <a:endParaRPr lang="en-US" dirty="0"/>
          </a:p>
        </p:txBody>
      </p:sp>
    </p:spTree>
    <p:extLst>
      <p:ext uri="{BB962C8B-B14F-4D97-AF65-F5344CB8AC3E}">
        <p14:creationId xmlns:p14="http://schemas.microsoft.com/office/powerpoint/2010/main" val="19255935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FFC000"/>
                </a:solidFill>
                <a:latin typeface="Arial" pitchFamily="34" charset="0"/>
                <a:cs typeface="Arial" pitchFamily="34" charset="0"/>
              </a:rPr>
              <a:t>System Integrity Performance Indicators – Water Quality</a:t>
            </a:r>
          </a:p>
        </p:txBody>
      </p:sp>
      <p:sp>
        <p:nvSpPr>
          <p:cNvPr id="3" name="Content Placeholder 2"/>
          <p:cNvSpPr>
            <a:spLocks noGrp="1"/>
          </p:cNvSpPr>
          <p:nvPr>
            <p:ph idx="1"/>
          </p:nvPr>
        </p:nvSpPr>
        <p:spPr>
          <a:xfrm>
            <a:off x="457200" y="1752600"/>
            <a:ext cx="8229600" cy="4876800"/>
          </a:xfrm>
        </p:spPr>
        <p:txBody>
          <a:bodyPr/>
          <a:lstStyle/>
          <a:p>
            <a:r>
              <a:rPr lang="en-US" sz="3400" dirty="0"/>
              <a:t>Maintaining adequate Disinfectant Residual throughout the distribution system is integral to ensuring drinking water quality</a:t>
            </a:r>
          </a:p>
          <a:p>
            <a:pPr lvl="1"/>
            <a:r>
              <a:rPr lang="en-US" sz="3200" dirty="0"/>
              <a:t>State and federal requirements:</a:t>
            </a:r>
          </a:p>
          <a:p>
            <a:pPr lvl="2"/>
            <a:r>
              <a:rPr lang="en-US" dirty="0"/>
              <a:t>MRDL (</a:t>
            </a:r>
            <a:r>
              <a:rPr lang="en-US" dirty="0" err="1"/>
              <a:t>chloraminated</a:t>
            </a:r>
            <a:r>
              <a:rPr lang="en-US" dirty="0"/>
              <a:t> systems) = 4.0 mg/L</a:t>
            </a:r>
          </a:p>
          <a:p>
            <a:pPr lvl="2"/>
            <a:r>
              <a:rPr lang="en-US" dirty="0"/>
              <a:t>Entry Point Minimum  = 0.2 mg/L</a:t>
            </a:r>
          </a:p>
          <a:p>
            <a:pPr lvl="2"/>
            <a:r>
              <a:rPr lang="en-US" dirty="0"/>
              <a:t>Distribution System Minimum = 0.02 mg/L</a:t>
            </a:r>
          </a:p>
          <a:p>
            <a:pPr lvl="3"/>
            <a:r>
              <a:rPr lang="en-US" sz="2400" dirty="0"/>
              <a:t>&lt; 0.02 mg/L is considered non-detectable</a:t>
            </a:r>
          </a:p>
          <a:p>
            <a:pPr lvl="2"/>
            <a:endParaRPr lang="en-US" dirty="0"/>
          </a:p>
          <a:p>
            <a:pPr lvl="2"/>
            <a:endParaRPr lang="en-US" dirty="0"/>
          </a:p>
          <a:p>
            <a:pPr lvl="2"/>
            <a:endParaRPr lang="en-US" dirty="0"/>
          </a:p>
          <a:p>
            <a:pPr lvl="1"/>
            <a:endParaRPr lang="en-US" dirty="0"/>
          </a:p>
          <a:p>
            <a:r>
              <a:rPr lang="en-US" dirty="0"/>
              <a:t>System Integrity may be at risk when these performance indicators are not optimized</a:t>
            </a:r>
          </a:p>
          <a:p>
            <a:pPr marL="914400" lvl="2" indent="0">
              <a:buNone/>
            </a:pPr>
            <a:endParaRPr lang="en-US" dirty="0"/>
          </a:p>
        </p:txBody>
      </p:sp>
    </p:spTree>
    <p:extLst>
      <p:ext uri="{BB962C8B-B14F-4D97-AF65-F5344CB8AC3E}">
        <p14:creationId xmlns:p14="http://schemas.microsoft.com/office/powerpoint/2010/main" val="29149461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1143000"/>
          </a:xfrm>
        </p:spPr>
        <p:txBody>
          <a:bodyPr/>
          <a:lstStyle/>
          <a:p>
            <a:r>
              <a:rPr lang="en-US" sz="3600" dirty="0">
                <a:solidFill>
                  <a:srgbClr val="FFC000"/>
                </a:solidFill>
                <a:latin typeface="Arial" pitchFamily="34" charset="0"/>
                <a:cs typeface="Arial" pitchFamily="34" charset="0"/>
              </a:rPr>
              <a:t>Water Quality – Disinfectant Residual</a:t>
            </a:r>
          </a:p>
        </p:txBody>
      </p:sp>
      <p:sp>
        <p:nvSpPr>
          <p:cNvPr id="3" name="Text Placeholder 2"/>
          <p:cNvSpPr>
            <a:spLocks noGrp="1"/>
          </p:cNvSpPr>
          <p:nvPr>
            <p:ph type="body" sz="half" idx="1"/>
          </p:nvPr>
        </p:nvSpPr>
        <p:spPr>
          <a:xfrm>
            <a:off x="0" y="609600"/>
            <a:ext cx="4876800" cy="6172200"/>
          </a:xfrm>
        </p:spPr>
        <p:txBody>
          <a:bodyPr/>
          <a:lstStyle/>
          <a:p>
            <a:r>
              <a:rPr lang="en-US" dirty="0"/>
              <a:t>Routine Sampling Program</a:t>
            </a:r>
          </a:p>
          <a:p>
            <a:pPr lvl="1"/>
            <a:r>
              <a:rPr lang="en-US" sz="2600" dirty="0"/>
              <a:t>Grab samples are collected at representative locations throughout the distribution system </a:t>
            </a:r>
          </a:p>
          <a:p>
            <a:pPr lvl="2"/>
            <a:r>
              <a:rPr lang="en-US" sz="2200" dirty="0"/>
              <a:t>80+ grab sample locations</a:t>
            </a:r>
          </a:p>
          <a:p>
            <a:pPr lvl="2"/>
            <a:r>
              <a:rPr lang="en-US" i="1" dirty="0"/>
              <a:t>Pre-determined</a:t>
            </a:r>
            <a:r>
              <a:rPr lang="en-US" dirty="0"/>
              <a:t>  sampling frequency schedule</a:t>
            </a:r>
          </a:p>
          <a:p>
            <a:pPr lvl="2"/>
            <a:r>
              <a:rPr lang="en-US" dirty="0"/>
              <a:t>Cl</a:t>
            </a:r>
            <a:r>
              <a:rPr lang="en-US" baseline="-25000" dirty="0"/>
              <a:t>2 </a:t>
            </a:r>
            <a:r>
              <a:rPr lang="en-US" dirty="0"/>
              <a:t> values represent water “from the main”</a:t>
            </a:r>
          </a:p>
          <a:p>
            <a:pPr lvl="1"/>
            <a:r>
              <a:rPr lang="en-US" sz="2600" dirty="0"/>
              <a:t>Continuous online analyzers</a:t>
            </a:r>
          </a:p>
          <a:p>
            <a:pPr lvl="2"/>
            <a:r>
              <a:rPr lang="en-US" dirty="0"/>
              <a:t>36 stations with multiple sensors: Cl</a:t>
            </a:r>
            <a:r>
              <a:rPr lang="en-US" baseline="-25000" dirty="0"/>
              <a:t>2</a:t>
            </a:r>
            <a:r>
              <a:rPr lang="en-US" dirty="0"/>
              <a:t>, pH, turbidity, temperature, conductivity, ORP, pressure, flow</a:t>
            </a:r>
          </a:p>
          <a:p>
            <a:pPr lvl="2"/>
            <a:endParaRPr lang="en-US" dirty="0"/>
          </a:p>
        </p:txBody>
      </p:sp>
      <p:pic>
        <p:nvPicPr>
          <p:cNvPr id="10" name="Content Placeholder 9"/>
          <p:cNvPicPr>
            <a:picLocks noGrp="1"/>
          </p:cNvPicPr>
          <p:nvPr>
            <p:ph sz="half" idx="2"/>
          </p:nvPr>
        </p:nvPicPr>
        <p:blipFill>
          <a:blip r:embed="rId3">
            <a:extLst>
              <a:ext uri="{28A0092B-C50C-407E-A947-70E740481C1C}">
                <a14:useLocalDpi xmlns:a14="http://schemas.microsoft.com/office/drawing/2010/main" val="0"/>
              </a:ext>
            </a:extLst>
          </a:blip>
          <a:stretch>
            <a:fillRect/>
          </a:stretch>
        </p:blipFill>
        <p:spPr>
          <a:xfrm>
            <a:off x="4800600" y="762000"/>
            <a:ext cx="2895600" cy="3657600"/>
          </a:xfrm>
          <a:prstGeom prst="rect">
            <a:avLst/>
          </a:prstGeom>
          <a:ln>
            <a:solidFill>
              <a:schemeClr val="bg2"/>
            </a:solidFill>
          </a:ln>
        </p:spPr>
      </p:pic>
      <p:pic>
        <p:nvPicPr>
          <p:cNvPr id="11" name="Picture 10"/>
          <p:cNvPicPr/>
          <p:nvPr/>
        </p:nvPicPr>
        <p:blipFill>
          <a:blip r:embed="rId4">
            <a:extLst>
              <a:ext uri="{28A0092B-C50C-407E-A947-70E740481C1C}">
                <a14:useLocalDpi xmlns:a14="http://schemas.microsoft.com/office/drawing/2010/main" val="0"/>
              </a:ext>
            </a:extLst>
          </a:blip>
          <a:stretch>
            <a:fillRect/>
          </a:stretch>
        </p:blipFill>
        <p:spPr>
          <a:xfrm>
            <a:off x="6172200" y="3124200"/>
            <a:ext cx="2895600" cy="3657600"/>
          </a:xfrm>
          <a:prstGeom prst="rect">
            <a:avLst/>
          </a:prstGeom>
          <a:ln>
            <a:solidFill>
              <a:schemeClr val="bg2"/>
            </a:solidFill>
          </a:ln>
        </p:spPr>
      </p:pic>
    </p:spTree>
    <p:extLst>
      <p:ext uri="{BB962C8B-B14F-4D97-AF65-F5344CB8AC3E}">
        <p14:creationId xmlns:p14="http://schemas.microsoft.com/office/powerpoint/2010/main" val="20997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sz="4000" dirty="0">
                <a:solidFill>
                  <a:srgbClr val="FFC000"/>
                </a:solidFill>
                <a:latin typeface="Arial" pitchFamily="34" charset="0"/>
                <a:cs typeface="Arial" pitchFamily="34" charset="0"/>
              </a:rPr>
              <a:t>PSW Water Quality Site Location Parameters</a:t>
            </a:r>
          </a:p>
        </p:txBody>
      </p:sp>
      <p:sp>
        <p:nvSpPr>
          <p:cNvPr id="3" name="Content Placeholder 2"/>
          <p:cNvSpPr>
            <a:spLocks noGrp="1"/>
          </p:cNvSpPr>
          <p:nvPr>
            <p:ph idx="1"/>
          </p:nvPr>
        </p:nvSpPr>
        <p:spPr>
          <a:xfrm>
            <a:off x="457200" y="1295400"/>
            <a:ext cx="8610600" cy="5867400"/>
          </a:xfrm>
        </p:spPr>
        <p:txBody>
          <a:bodyPr/>
          <a:lstStyle/>
          <a:p>
            <a:r>
              <a:rPr lang="en-US" sz="3000" dirty="0"/>
              <a:t>Key optimization site testing locations include:</a:t>
            </a:r>
          </a:p>
          <a:p>
            <a:pPr lvl="1"/>
            <a:r>
              <a:rPr lang="en-US" sz="2600" dirty="0"/>
              <a:t>All finished water entry points and metering points to other systems</a:t>
            </a:r>
          </a:p>
          <a:p>
            <a:pPr lvl="1"/>
            <a:r>
              <a:rPr lang="en-US" sz="2600" dirty="0"/>
              <a:t>Stage 1 and/or Stage 2 DBP sites</a:t>
            </a:r>
          </a:p>
          <a:p>
            <a:pPr lvl="1"/>
            <a:r>
              <a:rPr lang="en-US" sz="2600" dirty="0"/>
              <a:t>IDSE or “IDSE-type” sites</a:t>
            </a:r>
          </a:p>
          <a:p>
            <a:pPr lvl="1"/>
            <a:r>
              <a:rPr lang="en-US" sz="2600" dirty="0"/>
              <a:t>Downstream of storage facilities</a:t>
            </a:r>
          </a:p>
          <a:p>
            <a:pPr lvl="1"/>
            <a:r>
              <a:rPr lang="en-US" sz="2600" dirty="0"/>
              <a:t>Areas served by older unlined cast iron mains</a:t>
            </a:r>
          </a:p>
          <a:p>
            <a:pPr lvl="1"/>
            <a:r>
              <a:rPr lang="en-US" sz="2600" dirty="0"/>
              <a:t>Low flow areas</a:t>
            </a:r>
          </a:p>
          <a:p>
            <a:pPr lvl="1"/>
            <a:r>
              <a:rPr lang="en-US" sz="2600" dirty="0"/>
              <a:t>Known high water age areas </a:t>
            </a:r>
          </a:p>
        </p:txBody>
      </p:sp>
    </p:spTree>
    <p:extLst>
      <p:ext uri="{BB962C8B-B14F-4D97-AF65-F5344CB8AC3E}">
        <p14:creationId xmlns:p14="http://schemas.microsoft.com/office/powerpoint/2010/main" val="313102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sz="4000" dirty="0">
                <a:solidFill>
                  <a:srgbClr val="FFC000"/>
                </a:solidFill>
                <a:latin typeface="Arial" pitchFamily="34" charset="0"/>
                <a:cs typeface="Arial" pitchFamily="34" charset="0"/>
              </a:rPr>
              <a:t>PSW Water Quality Goals</a:t>
            </a:r>
          </a:p>
        </p:txBody>
      </p:sp>
      <p:sp>
        <p:nvSpPr>
          <p:cNvPr id="3" name="Content Placeholder 2"/>
          <p:cNvSpPr>
            <a:spLocks noGrp="1"/>
          </p:cNvSpPr>
          <p:nvPr>
            <p:ph idx="1"/>
          </p:nvPr>
        </p:nvSpPr>
        <p:spPr>
          <a:xfrm>
            <a:off x="457200" y="838200"/>
            <a:ext cx="8610600" cy="5867400"/>
          </a:xfrm>
        </p:spPr>
        <p:txBody>
          <a:bodyPr/>
          <a:lstStyle/>
          <a:p>
            <a:r>
              <a:rPr lang="en-US" sz="3000" dirty="0"/>
              <a:t>Optimized systems must meet the following criteria:</a:t>
            </a:r>
          </a:p>
          <a:p>
            <a:pPr lvl="1"/>
            <a:r>
              <a:rPr lang="en-US" sz="2600" dirty="0" err="1"/>
              <a:t>Chloraminated</a:t>
            </a:r>
            <a:r>
              <a:rPr lang="en-US" sz="2600" dirty="0"/>
              <a:t> systems - 95% of monthly measurements at each sample site and for the system overall:</a:t>
            </a:r>
          </a:p>
          <a:p>
            <a:pPr lvl="2"/>
            <a:r>
              <a:rPr lang="en-US" b="1" dirty="0"/>
              <a:t>Total Chlorine ≥ 0.50 mg/L and </a:t>
            </a:r>
            <a:r>
              <a:rPr lang="en-US" b="1" dirty="0">
                <a:cs typeface="Calibri"/>
              </a:rPr>
              <a:t>≤ 4.0 mg/L</a:t>
            </a:r>
          </a:p>
          <a:p>
            <a:pPr lvl="1"/>
            <a:r>
              <a:rPr lang="en-US" sz="2600" dirty="0"/>
              <a:t>No consecutive disinfectant residual measurements at optimized individual routine sample locations </a:t>
            </a:r>
            <a:r>
              <a:rPr lang="en-US" sz="2600" dirty="0">
                <a:cs typeface="Calibri"/>
              </a:rPr>
              <a:t>&lt; 0.50 mg/L and &gt; 4.0 mg/L</a:t>
            </a:r>
          </a:p>
          <a:p>
            <a:pPr lvl="1"/>
            <a:r>
              <a:rPr lang="en-US" sz="2600" dirty="0">
                <a:cs typeface="Calibri"/>
              </a:rPr>
              <a:t>Sample locations include all optimization site testing locations meeting the previously mentioned site location parameters</a:t>
            </a:r>
          </a:p>
          <a:p>
            <a:pPr lvl="1"/>
            <a:r>
              <a:rPr lang="en-US" sz="2600" dirty="0">
                <a:cs typeface="Calibri"/>
              </a:rPr>
              <a:t>DBPs do not exceed regulatory limits and methods are employed to maintain or reduce DBPs</a:t>
            </a:r>
            <a:endParaRPr lang="en-US" sz="2600" dirty="0"/>
          </a:p>
        </p:txBody>
      </p:sp>
    </p:spTree>
    <p:extLst>
      <p:ext uri="{BB962C8B-B14F-4D97-AF65-F5344CB8AC3E}">
        <p14:creationId xmlns:p14="http://schemas.microsoft.com/office/powerpoint/2010/main" val="40641688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sz="3700" dirty="0">
                <a:solidFill>
                  <a:srgbClr val="FFC000"/>
                </a:solidFill>
                <a:latin typeface="Arial" pitchFamily="34" charset="0"/>
                <a:cs typeface="Arial" pitchFamily="34" charset="0"/>
              </a:rPr>
              <a:t>PSW Water Quality Software</a:t>
            </a:r>
          </a:p>
        </p:txBody>
      </p:sp>
      <p:sp>
        <p:nvSpPr>
          <p:cNvPr id="3" name="Content Placeholder 2"/>
          <p:cNvSpPr>
            <a:spLocks noGrp="1"/>
          </p:cNvSpPr>
          <p:nvPr>
            <p:ph idx="1"/>
          </p:nvPr>
        </p:nvSpPr>
        <p:spPr>
          <a:xfrm>
            <a:off x="457200" y="838200"/>
            <a:ext cx="8610600" cy="5867400"/>
          </a:xfrm>
        </p:spPr>
        <p:txBody>
          <a:bodyPr/>
          <a:lstStyle/>
          <a:p>
            <a:r>
              <a:rPr lang="en-US" sz="3000" dirty="0"/>
              <a:t>Data collection software allows data to be inputted  for a 12-month period (June 1 – May 31)</a:t>
            </a:r>
          </a:p>
          <a:p>
            <a:r>
              <a:rPr lang="en-US" sz="3000" dirty="0"/>
              <a:t>Software calculates statistics to help aid in data analysis</a:t>
            </a:r>
          </a:p>
          <a:p>
            <a:r>
              <a:rPr lang="en-US" sz="3000" dirty="0"/>
              <a:t>Data requirements:</a:t>
            </a:r>
          </a:p>
          <a:p>
            <a:pPr lvl="1"/>
            <a:r>
              <a:rPr lang="en-US" sz="2600" dirty="0"/>
              <a:t>Daily average Cl</a:t>
            </a:r>
            <a:r>
              <a:rPr lang="en-US" sz="2600" baseline="-25000" dirty="0"/>
              <a:t>2</a:t>
            </a:r>
            <a:r>
              <a:rPr lang="en-US" sz="2600" dirty="0"/>
              <a:t> residual for all entry points (from continuous online monitors at WTPs)</a:t>
            </a:r>
          </a:p>
          <a:p>
            <a:pPr lvl="1"/>
            <a:r>
              <a:rPr lang="en-US" sz="2600" dirty="0"/>
              <a:t>Daily </a:t>
            </a:r>
            <a:r>
              <a:rPr lang="en-US" sz="2400" dirty="0"/>
              <a:t>Cl</a:t>
            </a:r>
            <a:r>
              <a:rPr lang="en-US" sz="2400" baseline="-25000" dirty="0"/>
              <a:t>2</a:t>
            </a:r>
            <a:r>
              <a:rPr lang="en-US" sz="2600" dirty="0"/>
              <a:t> residual results</a:t>
            </a:r>
            <a:r>
              <a:rPr lang="en-US" sz="2200" dirty="0"/>
              <a:t>, software tracks:</a:t>
            </a:r>
          </a:p>
          <a:p>
            <a:pPr lvl="2"/>
            <a:r>
              <a:rPr lang="en-US" sz="2200" dirty="0"/>
              <a:t>Daily minimum Cl</a:t>
            </a:r>
            <a:r>
              <a:rPr lang="en-US" sz="2200" baseline="-25000" dirty="0"/>
              <a:t>2</a:t>
            </a:r>
            <a:r>
              <a:rPr lang="en-US" sz="2200" dirty="0"/>
              <a:t> residual</a:t>
            </a:r>
          </a:p>
          <a:p>
            <a:pPr lvl="2"/>
            <a:r>
              <a:rPr lang="en-US" sz="2200" dirty="0"/>
              <a:t>Sites with Cl</a:t>
            </a:r>
            <a:r>
              <a:rPr lang="en-US" sz="2200" baseline="-25000" dirty="0"/>
              <a:t>2</a:t>
            </a:r>
            <a:r>
              <a:rPr lang="en-US" sz="2200" dirty="0"/>
              <a:t> </a:t>
            </a:r>
            <a:r>
              <a:rPr lang="en-US" sz="2200" dirty="0">
                <a:cs typeface="Calibri"/>
              </a:rPr>
              <a:t>&lt; 0.50 mg/L</a:t>
            </a:r>
            <a:endParaRPr lang="en-US" sz="2200" dirty="0"/>
          </a:p>
          <a:p>
            <a:pPr lvl="1"/>
            <a:r>
              <a:rPr lang="en-US" sz="2600" dirty="0"/>
              <a:t>DBP monthly results</a:t>
            </a:r>
            <a:r>
              <a:rPr lang="en-US" sz="2200" dirty="0"/>
              <a:t> – software tracks:</a:t>
            </a:r>
          </a:p>
          <a:p>
            <a:pPr lvl="2"/>
            <a:r>
              <a:rPr lang="en-US" sz="2200" dirty="0"/>
              <a:t>Max DBP results</a:t>
            </a:r>
          </a:p>
        </p:txBody>
      </p:sp>
    </p:spTree>
    <p:extLst>
      <p:ext uri="{BB962C8B-B14F-4D97-AF65-F5344CB8AC3E}">
        <p14:creationId xmlns:p14="http://schemas.microsoft.com/office/powerpoint/2010/main" val="2074764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sz="3700" dirty="0">
                <a:solidFill>
                  <a:srgbClr val="FFC000"/>
                </a:solidFill>
                <a:latin typeface="Arial" pitchFamily="34" charset="0"/>
                <a:cs typeface="Arial" pitchFamily="34" charset="0"/>
              </a:rPr>
              <a:t>PWD Water Quality Performance</a:t>
            </a:r>
          </a:p>
        </p:txBody>
      </p:sp>
      <p:sp>
        <p:nvSpPr>
          <p:cNvPr id="3" name="Content Placeholder 2"/>
          <p:cNvSpPr>
            <a:spLocks noGrp="1"/>
          </p:cNvSpPr>
          <p:nvPr>
            <p:ph sz="half" idx="1"/>
          </p:nvPr>
        </p:nvSpPr>
        <p:spPr>
          <a:xfrm>
            <a:off x="0" y="762000"/>
            <a:ext cx="4648200" cy="3886200"/>
          </a:xfrm>
        </p:spPr>
        <p:txBody>
          <a:bodyPr/>
          <a:lstStyle/>
          <a:p>
            <a:r>
              <a:rPr lang="en-US" sz="2600" dirty="0"/>
              <a:t>June 1, 2013 – May 31, 2014:</a:t>
            </a:r>
          </a:p>
          <a:p>
            <a:pPr lvl="1"/>
            <a:r>
              <a:rPr lang="en-US"/>
              <a:t>8,784 </a:t>
            </a:r>
            <a:r>
              <a:rPr lang="en-US" dirty="0"/>
              <a:t>routine samples</a:t>
            </a:r>
          </a:p>
          <a:p>
            <a:pPr lvl="1"/>
            <a:r>
              <a:rPr lang="en-US" dirty="0"/>
              <a:t>98.9% Cl</a:t>
            </a:r>
            <a:r>
              <a:rPr lang="en-US" baseline="-25000" dirty="0"/>
              <a:t>2</a:t>
            </a:r>
            <a:r>
              <a:rPr lang="en-US" dirty="0"/>
              <a:t> results ≥ 0.50 mg/L</a:t>
            </a:r>
          </a:p>
          <a:p>
            <a:pPr lvl="2"/>
            <a:r>
              <a:rPr lang="en-US" sz="2400" dirty="0"/>
              <a:t>1.1% </a:t>
            </a:r>
            <a:r>
              <a:rPr lang="en-US" sz="2400" dirty="0">
                <a:cs typeface="Calibri"/>
              </a:rPr>
              <a:t>&lt; 0.50 mg/L</a:t>
            </a:r>
          </a:p>
          <a:p>
            <a:pPr lvl="1"/>
            <a:r>
              <a:rPr lang="en-US" dirty="0"/>
              <a:t> 23 </a:t>
            </a:r>
            <a:r>
              <a:rPr lang="en-US" i="1" dirty="0"/>
              <a:t>repeat</a:t>
            </a:r>
            <a:r>
              <a:rPr lang="en-US" dirty="0"/>
              <a:t> </a:t>
            </a:r>
            <a:r>
              <a:rPr lang="en-US" i="1" dirty="0"/>
              <a:t>non-conforming*</a:t>
            </a:r>
            <a:r>
              <a:rPr lang="en-US" dirty="0"/>
              <a:t> sites</a:t>
            </a:r>
          </a:p>
        </p:txBody>
      </p:sp>
      <p:graphicFrame>
        <p:nvGraphicFramePr>
          <p:cNvPr id="15" name="Content Placeholder 14"/>
          <p:cNvGraphicFramePr>
            <a:graphicFrameLocks noGrp="1"/>
          </p:cNvGraphicFramePr>
          <p:nvPr>
            <p:ph sz="half" idx="2"/>
            <p:extLst>
              <p:ext uri="{D42A27DB-BD31-4B8C-83A1-F6EECF244321}">
                <p14:modId xmlns:p14="http://schemas.microsoft.com/office/powerpoint/2010/main" val="2730403614"/>
              </p:ext>
            </p:extLst>
          </p:nvPr>
        </p:nvGraphicFramePr>
        <p:xfrm>
          <a:off x="228595" y="3200400"/>
          <a:ext cx="8686810" cy="3276601"/>
        </p:xfrm>
        <a:graphic>
          <a:graphicData uri="http://schemas.openxmlformats.org/drawingml/2006/table">
            <a:tbl>
              <a:tblPr firstRow="1" firstCol="1" bandRow="1"/>
              <a:tblGrid>
                <a:gridCol w="1275848">
                  <a:extLst>
                    <a:ext uri="{9D8B030D-6E8A-4147-A177-3AD203B41FA5}">
                      <a16:colId xmlns:a16="http://schemas.microsoft.com/office/drawing/2014/main" val="20000"/>
                    </a:ext>
                  </a:extLst>
                </a:gridCol>
                <a:gridCol w="570074">
                  <a:extLst>
                    <a:ext uri="{9D8B030D-6E8A-4147-A177-3AD203B41FA5}">
                      <a16:colId xmlns:a16="http://schemas.microsoft.com/office/drawing/2014/main" val="20001"/>
                    </a:ext>
                  </a:extLst>
                </a:gridCol>
                <a:gridCol w="570074">
                  <a:extLst>
                    <a:ext uri="{9D8B030D-6E8A-4147-A177-3AD203B41FA5}">
                      <a16:colId xmlns:a16="http://schemas.microsoft.com/office/drawing/2014/main" val="20002"/>
                    </a:ext>
                  </a:extLst>
                </a:gridCol>
                <a:gridCol w="570074">
                  <a:extLst>
                    <a:ext uri="{9D8B030D-6E8A-4147-A177-3AD203B41FA5}">
                      <a16:colId xmlns:a16="http://schemas.microsoft.com/office/drawing/2014/main" val="20003"/>
                    </a:ext>
                  </a:extLst>
                </a:gridCol>
                <a:gridCol w="570074">
                  <a:extLst>
                    <a:ext uri="{9D8B030D-6E8A-4147-A177-3AD203B41FA5}">
                      <a16:colId xmlns:a16="http://schemas.microsoft.com/office/drawing/2014/main" val="20004"/>
                    </a:ext>
                  </a:extLst>
                </a:gridCol>
                <a:gridCol w="570074">
                  <a:extLst>
                    <a:ext uri="{9D8B030D-6E8A-4147-A177-3AD203B41FA5}">
                      <a16:colId xmlns:a16="http://schemas.microsoft.com/office/drawing/2014/main" val="20005"/>
                    </a:ext>
                  </a:extLst>
                </a:gridCol>
                <a:gridCol w="570074">
                  <a:extLst>
                    <a:ext uri="{9D8B030D-6E8A-4147-A177-3AD203B41FA5}">
                      <a16:colId xmlns:a16="http://schemas.microsoft.com/office/drawing/2014/main" val="20006"/>
                    </a:ext>
                  </a:extLst>
                </a:gridCol>
                <a:gridCol w="570074">
                  <a:extLst>
                    <a:ext uri="{9D8B030D-6E8A-4147-A177-3AD203B41FA5}">
                      <a16:colId xmlns:a16="http://schemas.microsoft.com/office/drawing/2014/main" val="20007"/>
                    </a:ext>
                  </a:extLst>
                </a:gridCol>
                <a:gridCol w="570074">
                  <a:extLst>
                    <a:ext uri="{9D8B030D-6E8A-4147-A177-3AD203B41FA5}">
                      <a16:colId xmlns:a16="http://schemas.microsoft.com/office/drawing/2014/main" val="20008"/>
                    </a:ext>
                  </a:extLst>
                </a:gridCol>
                <a:gridCol w="570074">
                  <a:extLst>
                    <a:ext uri="{9D8B030D-6E8A-4147-A177-3AD203B41FA5}">
                      <a16:colId xmlns:a16="http://schemas.microsoft.com/office/drawing/2014/main" val="20009"/>
                    </a:ext>
                  </a:extLst>
                </a:gridCol>
                <a:gridCol w="570074">
                  <a:extLst>
                    <a:ext uri="{9D8B030D-6E8A-4147-A177-3AD203B41FA5}">
                      <a16:colId xmlns:a16="http://schemas.microsoft.com/office/drawing/2014/main" val="20010"/>
                    </a:ext>
                  </a:extLst>
                </a:gridCol>
                <a:gridCol w="570074">
                  <a:extLst>
                    <a:ext uri="{9D8B030D-6E8A-4147-A177-3AD203B41FA5}">
                      <a16:colId xmlns:a16="http://schemas.microsoft.com/office/drawing/2014/main" val="20011"/>
                    </a:ext>
                  </a:extLst>
                </a:gridCol>
                <a:gridCol w="570074">
                  <a:extLst>
                    <a:ext uri="{9D8B030D-6E8A-4147-A177-3AD203B41FA5}">
                      <a16:colId xmlns:a16="http://schemas.microsoft.com/office/drawing/2014/main" val="20012"/>
                    </a:ext>
                  </a:extLst>
                </a:gridCol>
                <a:gridCol w="570074">
                  <a:extLst>
                    <a:ext uri="{9D8B030D-6E8A-4147-A177-3AD203B41FA5}">
                      <a16:colId xmlns:a16="http://schemas.microsoft.com/office/drawing/2014/main" val="20013"/>
                    </a:ext>
                  </a:extLst>
                </a:gridCol>
              </a:tblGrid>
              <a:tr h="349461">
                <a:tc>
                  <a:txBody>
                    <a:bodyPr/>
                    <a:lstStyle/>
                    <a:p>
                      <a:pPr>
                        <a:lnSpc>
                          <a:spcPct val="115000"/>
                        </a:lnSpc>
                      </a:pPr>
                      <a:endParaRPr lang="en-US" sz="800" dirty="0">
                        <a:solidFill>
                          <a:schemeClr val="bg2"/>
                        </a:solidFill>
                        <a:effectLst/>
                        <a:latin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b="1" i="1" dirty="0">
                          <a:solidFill>
                            <a:schemeClr val="bg2"/>
                          </a:solidFill>
                          <a:effectLst/>
                          <a:latin typeface="Arial"/>
                          <a:ea typeface="Times New Roman"/>
                          <a:cs typeface="Times New Roman"/>
                        </a:rPr>
                        <a:t>Annual</a:t>
                      </a:r>
                      <a:endParaRPr lang="en-US" sz="800" dirty="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dirty="0">
                          <a:solidFill>
                            <a:schemeClr val="bg2"/>
                          </a:solidFill>
                          <a:effectLst/>
                          <a:latin typeface="Arial"/>
                          <a:ea typeface="Times New Roman"/>
                          <a:cs typeface="Times New Roman"/>
                        </a:rPr>
                        <a:t>Jun</a:t>
                      </a:r>
                      <a:endParaRPr lang="en-US" sz="800" dirty="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Jul</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Aug</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Sep</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Oct</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Nov</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Dec</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Jan</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Feb</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Mar</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Apr</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May</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81420">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Entry Points Residual Average (mg/L)</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2.32</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2.44</a:t>
                      </a:r>
                      <a:endParaRPr lang="en-US" sz="800" dirty="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2.56</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2.56</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2.38</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2.41</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2.19</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2.16</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2.20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2.24</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2.25</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2.25</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2.22</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CC"/>
                    </a:solidFill>
                  </a:tcPr>
                </a:tc>
                <a:extLst>
                  <a:ext uri="{0D108BD9-81ED-4DB2-BD59-A6C34878D82A}">
                    <a16:rowId xmlns:a16="http://schemas.microsoft.com/office/drawing/2014/main" val="10001"/>
                  </a:ext>
                </a:extLst>
              </a:tr>
              <a:tr h="353571">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Number of Routine Samples</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8784</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730</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805</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791</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737</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805</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661</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732</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694</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584</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723</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761</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761</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extLst>
                  <a:ext uri="{0D108BD9-81ED-4DB2-BD59-A6C34878D82A}">
                    <a16:rowId xmlns:a16="http://schemas.microsoft.com/office/drawing/2014/main" val="10002"/>
                  </a:ext>
                </a:extLst>
              </a:tr>
              <a:tr h="530359">
                <a:tc>
                  <a:txBody>
                    <a:bodyPr/>
                    <a:lstStyle/>
                    <a:p>
                      <a:pPr marL="0" marR="0" algn="r">
                        <a:lnSpc>
                          <a:spcPct val="115000"/>
                        </a:lnSpc>
                        <a:spcBef>
                          <a:spcPts val="0"/>
                        </a:spcBef>
                        <a:spcAft>
                          <a:spcPts val="0"/>
                        </a:spcAft>
                      </a:pPr>
                      <a:r>
                        <a:rPr lang="en-US" sz="800" i="1" dirty="0">
                          <a:solidFill>
                            <a:schemeClr val="bg2"/>
                          </a:solidFill>
                          <a:effectLst/>
                          <a:latin typeface="Arial"/>
                          <a:ea typeface="Times New Roman"/>
                          <a:cs typeface="Times New Roman"/>
                        </a:rPr>
                        <a:t>Number of Routine Test Results Not meeting Goals</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96</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8</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26</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35</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20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6</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1</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extLst>
                  <a:ext uri="{0D108BD9-81ED-4DB2-BD59-A6C34878D82A}">
                    <a16:rowId xmlns:a16="http://schemas.microsoft.com/office/drawing/2014/main" val="10003"/>
                  </a:ext>
                </a:extLst>
              </a:tr>
              <a:tr h="375167">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 Routine Test Results Not Meeting Goals</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a:solidFill>
                            <a:schemeClr val="bg2"/>
                          </a:solidFill>
                          <a:effectLst/>
                          <a:latin typeface="Arial"/>
                          <a:ea typeface="Times New Roman"/>
                          <a:cs typeface="Times New Roman"/>
                        </a:rPr>
                        <a:t>1.09</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a:solidFill>
                            <a:schemeClr val="bg2"/>
                          </a:solidFill>
                          <a:effectLst/>
                          <a:latin typeface="Arial"/>
                          <a:ea typeface="Times New Roman"/>
                          <a:cs typeface="Times New Roman"/>
                        </a:rPr>
                        <a:t>0.00</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a:solidFill>
                            <a:schemeClr val="bg2"/>
                          </a:solidFill>
                          <a:effectLst/>
                          <a:latin typeface="Arial"/>
                          <a:ea typeface="Times New Roman"/>
                          <a:cs typeface="Times New Roman"/>
                        </a:rPr>
                        <a:t>0.99</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a:solidFill>
                            <a:schemeClr val="bg2"/>
                          </a:solidFill>
                          <a:effectLst/>
                          <a:latin typeface="Arial"/>
                          <a:ea typeface="Times New Roman"/>
                          <a:cs typeface="Times New Roman"/>
                        </a:rPr>
                        <a:t>3.29</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a:solidFill>
                            <a:schemeClr val="bg2"/>
                          </a:solidFill>
                          <a:effectLst/>
                          <a:latin typeface="Arial"/>
                          <a:ea typeface="Times New Roman"/>
                          <a:cs typeface="Times New Roman"/>
                        </a:rPr>
                        <a:t>4.75</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a:solidFill>
                            <a:schemeClr val="bg2"/>
                          </a:solidFill>
                          <a:effectLst/>
                          <a:latin typeface="Arial"/>
                          <a:ea typeface="Times New Roman"/>
                          <a:cs typeface="Times New Roman"/>
                        </a:rPr>
                        <a:t>2.48</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dirty="0">
                          <a:solidFill>
                            <a:schemeClr val="bg2"/>
                          </a:solidFill>
                          <a:effectLst/>
                          <a:latin typeface="Arial"/>
                          <a:ea typeface="Times New Roman"/>
                          <a:cs typeface="Times New Roman"/>
                        </a:rPr>
                        <a:t>0.91</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dirty="0">
                          <a:solidFill>
                            <a:schemeClr val="bg2"/>
                          </a:solidFill>
                          <a:effectLst/>
                          <a:latin typeface="Arial"/>
                          <a:ea typeface="Times New Roman"/>
                          <a:cs typeface="Times New Roman"/>
                        </a:rPr>
                        <a:t>0.00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dirty="0">
                          <a:solidFill>
                            <a:schemeClr val="bg2"/>
                          </a:solidFill>
                          <a:effectLst/>
                          <a:latin typeface="Arial"/>
                          <a:ea typeface="Times New Roman"/>
                          <a:cs typeface="Times New Roman"/>
                        </a:rPr>
                        <a:t>0.14</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a:solidFill>
                            <a:schemeClr val="bg2"/>
                          </a:solidFill>
                          <a:effectLst/>
                          <a:latin typeface="Arial"/>
                          <a:ea typeface="Times New Roman"/>
                          <a:cs typeface="Times New Roman"/>
                        </a:rPr>
                        <a:t>0.00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a:solidFill>
                            <a:schemeClr val="bg2"/>
                          </a:solidFill>
                          <a:effectLst/>
                          <a:latin typeface="Arial"/>
                          <a:ea typeface="Times New Roman"/>
                          <a:cs typeface="Times New Roman"/>
                        </a:rPr>
                        <a:t>0.00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dirty="0">
                          <a:solidFill>
                            <a:schemeClr val="bg2"/>
                          </a:solidFill>
                          <a:effectLst/>
                          <a:latin typeface="Arial"/>
                          <a:ea typeface="Times New Roman"/>
                          <a:cs typeface="Times New Roman"/>
                        </a:rPr>
                        <a:t>0.00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b="1" dirty="0">
                          <a:solidFill>
                            <a:schemeClr val="bg2"/>
                          </a:solidFill>
                          <a:effectLst/>
                          <a:latin typeface="Arial"/>
                          <a:ea typeface="Times New Roman"/>
                          <a:cs typeface="Times New Roman"/>
                        </a:rPr>
                        <a:t>0.00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extLst>
                  <a:ext uri="{0D108BD9-81ED-4DB2-BD59-A6C34878D82A}">
                    <a16:rowId xmlns:a16="http://schemas.microsoft.com/office/drawing/2014/main" val="10004"/>
                  </a:ext>
                </a:extLst>
              </a:tr>
              <a:tr h="432830">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Minimum Daily Residual Value (mg/L)</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0.05</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0.70</a:t>
                      </a:r>
                      <a:endParaRPr lang="en-US" sz="800" dirty="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0.15</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0.15</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0.10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0.20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0.05</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0.64</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0.05</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1.10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1.48</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1.10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0.95</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extLst>
                  <a:ext uri="{0D108BD9-81ED-4DB2-BD59-A6C34878D82A}">
                    <a16:rowId xmlns:a16="http://schemas.microsoft.com/office/drawing/2014/main" val="10005"/>
                  </a:ext>
                </a:extLst>
              </a:tr>
              <a:tr h="353571">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Number of repeat non-conforming sites</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23</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6</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9</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5</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1</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06"/>
                  </a:ext>
                </a:extLst>
              </a:tr>
              <a:tr h="250111">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TTHM Maximum (µg/L)</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143.00</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115.00</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143.00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81.40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82.30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69.10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50.10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39.10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24.20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18.20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27.20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34.90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37.10</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10007"/>
                  </a:ext>
                </a:extLst>
              </a:tr>
              <a:tr h="250111">
                <a:tc>
                  <a:txBody>
                    <a:bodyPr/>
                    <a:lstStyle/>
                    <a:p>
                      <a:pPr marL="0" marR="0" algn="r">
                        <a:lnSpc>
                          <a:spcPct val="115000"/>
                        </a:lnSpc>
                        <a:spcBef>
                          <a:spcPts val="0"/>
                        </a:spcBef>
                        <a:spcAft>
                          <a:spcPts val="0"/>
                        </a:spcAft>
                      </a:pPr>
                      <a:r>
                        <a:rPr lang="en-US" sz="800" i="1">
                          <a:solidFill>
                            <a:schemeClr val="bg2"/>
                          </a:solidFill>
                          <a:effectLst/>
                          <a:latin typeface="Arial"/>
                          <a:ea typeface="Times New Roman"/>
                          <a:cs typeface="Times New Roman"/>
                        </a:rPr>
                        <a:t>HAA5 Maximum (µg/L)</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136.21</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90.81</a:t>
                      </a:r>
                      <a:endParaRPr lang="en-US" sz="800">
                        <a:solidFill>
                          <a:schemeClr val="bg2"/>
                        </a:solidFill>
                        <a:effectLst/>
                        <a:latin typeface="Calibri"/>
                        <a:ea typeface="Calibri"/>
                        <a:cs typeface="Times New Roman"/>
                      </a:endParaRPr>
                    </a:p>
                  </a:txBody>
                  <a:tcPr marL="29754" marR="29754"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136.21</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77.65</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31.87</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25.01</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25.40</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63.94</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32.88</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22.44</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a:solidFill>
                            <a:schemeClr val="bg2"/>
                          </a:solidFill>
                          <a:effectLst/>
                          <a:latin typeface="Arial"/>
                          <a:ea typeface="Times New Roman"/>
                          <a:cs typeface="Times New Roman"/>
                        </a:rPr>
                        <a:t>30.97</a:t>
                      </a:r>
                      <a:endParaRPr lang="en-US" sz="80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33.83</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tc>
                  <a:txBody>
                    <a:bodyPr/>
                    <a:lstStyle/>
                    <a:p>
                      <a:pPr marL="0" marR="0" algn="r">
                        <a:lnSpc>
                          <a:spcPct val="115000"/>
                        </a:lnSpc>
                        <a:spcBef>
                          <a:spcPts val="0"/>
                        </a:spcBef>
                        <a:spcAft>
                          <a:spcPts val="0"/>
                        </a:spcAft>
                      </a:pPr>
                      <a:r>
                        <a:rPr lang="en-US" sz="800" dirty="0">
                          <a:solidFill>
                            <a:schemeClr val="bg2"/>
                          </a:solidFill>
                          <a:effectLst/>
                          <a:latin typeface="Arial"/>
                          <a:ea typeface="Times New Roman"/>
                          <a:cs typeface="Times New Roman"/>
                        </a:rPr>
                        <a:t>59.71</a:t>
                      </a:r>
                      <a:endParaRPr lang="en-US" sz="800" dirty="0">
                        <a:solidFill>
                          <a:schemeClr val="bg2"/>
                        </a:solidFill>
                        <a:effectLst/>
                        <a:latin typeface="Calibri"/>
                        <a:ea typeface="Calibri"/>
                        <a:cs typeface="Times New Roman"/>
                      </a:endParaRPr>
                    </a:p>
                  </a:txBody>
                  <a:tcPr marL="29754" marR="297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10008"/>
                  </a:ext>
                </a:extLst>
              </a:tr>
            </a:tbl>
          </a:graphicData>
        </a:graphic>
      </p:graphicFrame>
      <p:sp>
        <p:nvSpPr>
          <p:cNvPr id="30" name="Content Placeholder 2"/>
          <p:cNvSpPr txBox="1">
            <a:spLocks/>
          </p:cNvSpPr>
          <p:nvPr/>
        </p:nvSpPr>
        <p:spPr bwMode="auto">
          <a:xfrm>
            <a:off x="4495800" y="762000"/>
            <a:ext cx="4724400" cy="3886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70000"/>
              <a:buFont typeface="Wingdings" pitchFamily="2" charset="2"/>
              <a:buChar char="n"/>
              <a:defRPr sz="28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18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18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18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18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18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1800">
                <a:solidFill>
                  <a:schemeClr val="tx1"/>
                </a:solidFill>
                <a:effectLst>
                  <a:outerShdw blurRad="38100" dist="38100" dir="2700000" algn="tl">
                    <a:srgbClr val="000000"/>
                  </a:outerShdw>
                </a:effectLst>
                <a:latin typeface="+mn-lt"/>
                <a:cs typeface="+mn-cs"/>
              </a:defRPr>
            </a:lvl9pPr>
          </a:lstStyle>
          <a:p>
            <a:r>
              <a:rPr lang="en-US" sz="2600" dirty="0"/>
              <a:t>June 1, 2012 – May 31, 2013:</a:t>
            </a:r>
          </a:p>
          <a:p>
            <a:pPr lvl="1"/>
            <a:r>
              <a:rPr lang="en-US" dirty="0"/>
              <a:t>8,543 routine sample</a:t>
            </a:r>
          </a:p>
          <a:p>
            <a:pPr lvl="1"/>
            <a:r>
              <a:rPr lang="en-US" dirty="0"/>
              <a:t>97.8% Cl</a:t>
            </a:r>
            <a:r>
              <a:rPr lang="en-US" baseline="-25000" dirty="0"/>
              <a:t>2</a:t>
            </a:r>
            <a:r>
              <a:rPr lang="en-US" dirty="0"/>
              <a:t> results ≥ 0.50 mg/L</a:t>
            </a:r>
          </a:p>
          <a:p>
            <a:pPr lvl="2"/>
            <a:r>
              <a:rPr lang="en-US" sz="2400" dirty="0"/>
              <a:t>2.2% </a:t>
            </a:r>
            <a:r>
              <a:rPr lang="en-US" sz="2400" dirty="0">
                <a:cs typeface="Calibri"/>
              </a:rPr>
              <a:t>&lt; 0.50 mg/L</a:t>
            </a:r>
          </a:p>
          <a:p>
            <a:pPr lvl="1"/>
            <a:r>
              <a:rPr lang="en-US" dirty="0"/>
              <a:t> 42 </a:t>
            </a:r>
            <a:r>
              <a:rPr lang="en-US" i="1" dirty="0"/>
              <a:t>repeat non-conforming*</a:t>
            </a:r>
            <a:r>
              <a:rPr lang="en-US" dirty="0"/>
              <a:t> sites</a:t>
            </a:r>
          </a:p>
        </p:txBody>
      </p:sp>
    </p:spTree>
    <p:extLst>
      <p:ext uri="{BB962C8B-B14F-4D97-AF65-F5344CB8AC3E}">
        <p14:creationId xmlns:p14="http://schemas.microsoft.com/office/powerpoint/2010/main" val="4265852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sz="3700" dirty="0">
                <a:solidFill>
                  <a:srgbClr val="FFC000"/>
                </a:solidFill>
                <a:latin typeface="Arial" pitchFamily="34" charset="0"/>
                <a:cs typeface="Arial" pitchFamily="34" charset="0"/>
              </a:rPr>
              <a:t>PWD Water Quality Performance</a:t>
            </a:r>
          </a:p>
        </p:txBody>
      </p:sp>
      <p:sp>
        <p:nvSpPr>
          <p:cNvPr id="3" name="Content Placeholder 2"/>
          <p:cNvSpPr>
            <a:spLocks noGrp="1"/>
          </p:cNvSpPr>
          <p:nvPr>
            <p:ph sz="half" idx="1"/>
          </p:nvPr>
        </p:nvSpPr>
        <p:spPr>
          <a:xfrm>
            <a:off x="76200" y="762000"/>
            <a:ext cx="8686800" cy="2286000"/>
          </a:xfrm>
        </p:spPr>
        <p:txBody>
          <a:bodyPr/>
          <a:lstStyle/>
          <a:p>
            <a:r>
              <a:rPr lang="en-US" sz="2600" dirty="0"/>
              <a:t>For PWD, sample results not meeting the PSW Cl</a:t>
            </a:r>
            <a:r>
              <a:rPr lang="en-US" sz="2600" baseline="-25000" dirty="0"/>
              <a:t>2</a:t>
            </a:r>
            <a:r>
              <a:rPr lang="en-US" sz="2600" dirty="0"/>
              <a:t> goal, usually occur when water temperatures are elevated</a:t>
            </a:r>
            <a:endParaRPr lang="en-US" sz="1400" dirty="0"/>
          </a:p>
          <a:p>
            <a:pPr lvl="1"/>
            <a:r>
              <a:rPr lang="en-US" sz="2200" dirty="0"/>
              <a:t>August, September – almost always difficult to meet PSW Cl</a:t>
            </a:r>
            <a:r>
              <a:rPr lang="en-US" sz="2200" baseline="-25000" dirty="0"/>
              <a:t>2</a:t>
            </a:r>
            <a:r>
              <a:rPr lang="en-US" sz="2200" dirty="0"/>
              <a:t> goal</a:t>
            </a:r>
          </a:p>
          <a:p>
            <a:pPr lvl="1"/>
            <a:r>
              <a:rPr lang="en-US" sz="2200" dirty="0"/>
              <a:t>July, October – can provide challenges to meeting PSW Cl</a:t>
            </a:r>
            <a:r>
              <a:rPr lang="en-US" sz="2200" baseline="-25000" dirty="0"/>
              <a:t>2</a:t>
            </a:r>
            <a:r>
              <a:rPr lang="en-US" sz="2200" dirty="0"/>
              <a:t> goal</a:t>
            </a:r>
          </a:p>
          <a:p>
            <a:r>
              <a:rPr lang="en-US" sz="2600" dirty="0"/>
              <a:t>Most recent study period</a:t>
            </a:r>
          </a:p>
          <a:p>
            <a:pPr lvl="1"/>
            <a:r>
              <a:rPr lang="en-US" sz="2200" dirty="0"/>
              <a:t>significant improvement from previous study period</a:t>
            </a:r>
          </a:p>
          <a:p>
            <a:pPr marL="457200" lvl="1" indent="0">
              <a:buNone/>
            </a:pPr>
            <a:endParaRPr lang="en-US" sz="2400" dirty="0">
              <a:cs typeface="Calibri"/>
            </a:endParaRPr>
          </a:p>
        </p:txBody>
      </p:sp>
      <p:pic>
        <p:nvPicPr>
          <p:cNvPr id="1430" name="Picture 1"/>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650" t="1097" r="937" b="23125"/>
          <a:stretch/>
        </p:blipFill>
        <p:spPr bwMode="auto">
          <a:xfrm>
            <a:off x="152400" y="3394144"/>
            <a:ext cx="7239000" cy="3311456"/>
          </a:xfrm>
          <a:prstGeom prst="rect">
            <a:avLst/>
          </a:prstGeom>
          <a:solidFill>
            <a:schemeClr val="tx1"/>
          </a:solidFill>
          <a:ln>
            <a:noFill/>
          </a:ln>
          <a:effectLst/>
        </p:spPr>
      </p:pic>
      <p:pic>
        <p:nvPicPr>
          <p:cNvPr id="1433" name="Picture 1"/>
          <p:cNvPicPr>
            <a:picLocks noChangeAspect="1" noChangeArrowheads="1"/>
          </p:cNvPicPr>
          <p:nvPr/>
        </p:nvPicPr>
        <p:blipFill rotWithShape="1">
          <a:blip r:embed="rId3">
            <a:extLst>
              <a:ext uri="{28A0092B-C50C-407E-A947-70E740481C1C}">
                <a14:useLocalDpi xmlns:a14="http://schemas.microsoft.com/office/drawing/2010/main" val="0"/>
              </a:ext>
            </a:extLst>
          </a:blip>
          <a:srcRect l="650" t="76953" r="78859" b="1007"/>
          <a:stretch/>
        </p:blipFill>
        <p:spPr bwMode="auto">
          <a:xfrm>
            <a:off x="7543800" y="5402178"/>
            <a:ext cx="1371600" cy="1227221"/>
          </a:xfrm>
          <a:prstGeom prst="rect">
            <a:avLst/>
          </a:prstGeom>
          <a:solidFill>
            <a:schemeClr val="tx1"/>
          </a:solidFill>
          <a:ln w="9525">
            <a:noFill/>
            <a:miter lim="800000"/>
            <a:headEnd/>
            <a:tailEnd/>
          </a:ln>
          <a:effectLst/>
        </p:spPr>
      </p:pic>
    </p:spTree>
    <p:extLst>
      <p:ext uri="{BB962C8B-B14F-4D97-AF65-F5344CB8AC3E}">
        <p14:creationId xmlns:p14="http://schemas.microsoft.com/office/powerpoint/2010/main" val="22446121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1447800" y="152400"/>
            <a:ext cx="6324600" cy="1143000"/>
          </a:xfrm>
        </p:spPr>
        <p:txBody>
          <a:bodyPr/>
          <a:lstStyle/>
          <a:p>
            <a:r>
              <a:rPr lang="en-US" sz="3700" dirty="0">
                <a:solidFill>
                  <a:srgbClr val="FFC000"/>
                </a:solidFill>
                <a:latin typeface="Arial" pitchFamily="34" charset="0"/>
                <a:cs typeface="Arial" pitchFamily="34" charset="0"/>
              </a:rPr>
              <a:t>PWD Response to Declining Water Quality</a:t>
            </a:r>
          </a:p>
        </p:txBody>
      </p:sp>
      <p:sp>
        <p:nvSpPr>
          <p:cNvPr id="16" name="Content Placeholder 15"/>
          <p:cNvSpPr>
            <a:spLocks noGrp="1"/>
          </p:cNvSpPr>
          <p:nvPr>
            <p:ph sz="half" idx="1"/>
          </p:nvPr>
        </p:nvSpPr>
        <p:spPr>
          <a:xfrm>
            <a:off x="152400" y="1341437"/>
            <a:ext cx="4800600" cy="4525963"/>
          </a:xfrm>
        </p:spPr>
        <p:txBody>
          <a:bodyPr/>
          <a:lstStyle/>
          <a:p>
            <a:r>
              <a:rPr lang="en-US" dirty="0"/>
              <a:t>Continual, cyclical effort among various PWD units:</a:t>
            </a:r>
          </a:p>
          <a:p>
            <a:pPr lvl="1"/>
            <a:r>
              <a:rPr lang="en-US" dirty="0"/>
              <a:t>Treatment</a:t>
            </a:r>
          </a:p>
          <a:p>
            <a:pPr lvl="2"/>
            <a:r>
              <a:rPr lang="en-US" dirty="0"/>
              <a:t>Cl</a:t>
            </a:r>
            <a:r>
              <a:rPr lang="en-US" baseline="-25000" dirty="0"/>
              <a:t>2</a:t>
            </a:r>
            <a:r>
              <a:rPr lang="en-US" dirty="0"/>
              <a:t> progressions</a:t>
            </a:r>
          </a:p>
          <a:p>
            <a:pPr lvl="1"/>
            <a:r>
              <a:rPr lang="en-US" dirty="0"/>
              <a:t>BLS &amp; Load Control</a:t>
            </a:r>
          </a:p>
          <a:p>
            <a:pPr lvl="2"/>
            <a:r>
              <a:rPr lang="en-US" dirty="0"/>
              <a:t>WQ monitoring</a:t>
            </a:r>
          </a:p>
          <a:p>
            <a:pPr lvl="2"/>
            <a:r>
              <a:rPr lang="en-US" dirty="0"/>
              <a:t> Trigger levels</a:t>
            </a:r>
          </a:p>
          <a:p>
            <a:pPr lvl="2"/>
            <a:r>
              <a:rPr lang="en-US" dirty="0"/>
              <a:t> Investigation &amp; remedial actions</a:t>
            </a:r>
          </a:p>
          <a:p>
            <a:pPr lvl="3"/>
            <a:r>
              <a:rPr lang="en-US" dirty="0"/>
              <a:t>Flushing, </a:t>
            </a:r>
            <a:r>
              <a:rPr lang="en-US" dirty="0" err="1"/>
              <a:t>valving</a:t>
            </a:r>
            <a:r>
              <a:rPr lang="en-US" dirty="0"/>
              <a:t>, and water movement operations</a:t>
            </a:r>
          </a:p>
          <a:p>
            <a:r>
              <a:rPr lang="en-US" dirty="0"/>
              <a:t>Improves response to declining water quality</a:t>
            </a:r>
          </a:p>
        </p:txBody>
      </p:sp>
      <p:grpSp>
        <p:nvGrpSpPr>
          <p:cNvPr id="29708" name="Group 29707"/>
          <p:cNvGrpSpPr/>
          <p:nvPr/>
        </p:nvGrpSpPr>
        <p:grpSpPr>
          <a:xfrm>
            <a:off x="4800600" y="1676400"/>
            <a:ext cx="4114460" cy="3936625"/>
            <a:chOff x="4877140" y="2126715"/>
            <a:chExt cx="4037918" cy="3455553"/>
          </a:xfrm>
        </p:grpSpPr>
        <p:grpSp>
          <p:nvGrpSpPr>
            <p:cNvPr id="29696" name="Group 29695"/>
            <p:cNvGrpSpPr/>
            <p:nvPr/>
          </p:nvGrpSpPr>
          <p:grpSpPr>
            <a:xfrm>
              <a:off x="4877140" y="2126715"/>
              <a:ext cx="4037918" cy="3455553"/>
              <a:chOff x="4877140" y="2126715"/>
              <a:chExt cx="4037918" cy="3455553"/>
            </a:xfrm>
          </p:grpSpPr>
          <p:sp>
            <p:nvSpPr>
              <p:cNvPr id="29698" name="Freeform 29697"/>
              <p:cNvSpPr/>
              <p:nvPr/>
            </p:nvSpPr>
            <p:spPr>
              <a:xfrm>
                <a:off x="6314368" y="2126715"/>
                <a:ext cx="1163463" cy="866346"/>
              </a:xfrm>
              <a:custGeom>
                <a:avLst/>
                <a:gdLst>
                  <a:gd name="connsiteX0" fmla="*/ 0 w 1163463"/>
                  <a:gd name="connsiteY0" fmla="*/ 144394 h 866346"/>
                  <a:gd name="connsiteX1" fmla="*/ 144394 w 1163463"/>
                  <a:gd name="connsiteY1" fmla="*/ 0 h 866346"/>
                  <a:gd name="connsiteX2" fmla="*/ 1019069 w 1163463"/>
                  <a:gd name="connsiteY2" fmla="*/ 0 h 866346"/>
                  <a:gd name="connsiteX3" fmla="*/ 1163463 w 1163463"/>
                  <a:gd name="connsiteY3" fmla="*/ 144394 h 866346"/>
                  <a:gd name="connsiteX4" fmla="*/ 1163463 w 1163463"/>
                  <a:gd name="connsiteY4" fmla="*/ 721952 h 866346"/>
                  <a:gd name="connsiteX5" fmla="*/ 1019069 w 1163463"/>
                  <a:gd name="connsiteY5" fmla="*/ 866346 h 866346"/>
                  <a:gd name="connsiteX6" fmla="*/ 144394 w 1163463"/>
                  <a:gd name="connsiteY6" fmla="*/ 866346 h 866346"/>
                  <a:gd name="connsiteX7" fmla="*/ 0 w 1163463"/>
                  <a:gd name="connsiteY7" fmla="*/ 721952 h 866346"/>
                  <a:gd name="connsiteX8" fmla="*/ 0 w 1163463"/>
                  <a:gd name="connsiteY8" fmla="*/ 144394 h 8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3463" h="866346">
                    <a:moveTo>
                      <a:pt x="0" y="144394"/>
                    </a:moveTo>
                    <a:cubicBezTo>
                      <a:pt x="0" y="64647"/>
                      <a:pt x="64647" y="0"/>
                      <a:pt x="144394" y="0"/>
                    </a:cubicBezTo>
                    <a:lnTo>
                      <a:pt x="1019069" y="0"/>
                    </a:lnTo>
                    <a:cubicBezTo>
                      <a:pt x="1098816" y="0"/>
                      <a:pt x="1163463" y="64647"/>
                      <a:pt x="1163463" y="144394"/>
                    </a:cubicBezTo>
                    <a:lnTo>
                      <a:pt x="1163463" y="721952"/>
                    </a:lnTo>
                    <a:cubicBezTo>
                      <a:pt x="1163463" y="801699"/>
                      <a:pt x="1098816" y="866346"/>
                      <a:pt x="1019069" y="866346"/>
                    </a:cubicBezTo>
                    <a:lnTo>
                      <a:pt x="144394" y="866346"/>
                    </a:lnTo>
                    <a:cubicBezTo>
                      <a:pt x="64647" y="866346"/>
                      <a:pt x="0" y="801699"/>
                      <a:pt x="0" y="721952"/>
                    </a:cubicBezTo>
                    <a:lnTo>
                      <a:pt x="0" y="14439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252" tIns="103252" rIns="103252" bIns="103252" numCol="1" spcCol="1270" anchor="ctr" anchorCtr="0">
                <a:noAutofit/>
              </a:bodyPr>
              <a:lstStyle/>
              <a:p>
                <a:pPr lvl="0" algn="ctr" defTabSz="711200">
                  <a:lnSpc>
                    <a:spcPct val="90000"/>
                  </a:lnSpc>
                  <a:spcBef>
                    <a:spcPct val="0"/>
                  </a:spcBef>
                  <a:spcAft>
                    <a:spcPct val="35000"/>
                  </a:spcAft>
                </a:pPr>
                <a:r>
                  <a:rPr lang="en-US" sz="1600" b="1" i="1" kern="1200" dirty="0">
                    <a:solidFill>
                      <a:schemeClr val="bg2"/>
                    </a:solidFill>
                  </a:rPr>
                  <a:t>Treatment</a:t>
                </a:r>
                <a:r>
                  <a:rPr lang="en-US" sz="1600" kern="1200" dirty="0">
                    <a:solidFill>
                      <a:schemeClr val="bg2"/>
                    </a:solidFill>
                  </a:rPr>
                  <a:t> </a:t>
                </a:r>
                <a:r>
                  <a:rPr lang="en-US" sz="1000" kern="1200" dirty="0"/>
                  <a:t>establishes and provides  various PWD units with  target </a:t>
                </a:r>
                <a:r>
                  <a:rPr lang="en-US" sz="1000" i="1" u="sng" kern="1200" dirty="0"/>
                  <a:t>Cl</a:t>
                </a:r>
                <a:r>
                  <a:rPr lang="en-US" sz="1000" i="1" u="sng" kern="1200" baseline="-25000" dirty="0"/>
                  <a:t>2 </a:t>
                </a:r>
                <a:r>
                  <a:rPr lang="en-US" sz="1000" i="1" u="sng" kern="1200" baseline="0" dirty="0"/>
                  <a:t>goals</a:t>
                </a:r>
                <a:endParaRPr lang="en-US" sz="1000" i="1" u="sng" kern="1200" dirty="0"/>
              </a:p>
            </p:txBody>
          </p:sp>
          <p:sp>
            <p:nvSpPr>
              <p:cNvPr id="29699" name="Freeform 29698"/>
              <p:cNvSpPr/>
              <p:nvPr/>
            </p:nvSpPr>
            <p:spPr>
              <a:xfrm>
                <a:off x="5384909" y="2559888"/>
                <a:ext cx="3022380" cy="3022380"/>
              </a:xfrm>
              <a:custGeom>
                <a:avLst/>
                <a:gdLst/>
                <a:ahLst/>
                <a:cxnLst/>
                <a:rect l="0" t="0" r="0" b="0"/>
                <a:pathLst>
                  <a:path>
                    <a:moveTo>
                      <a:pt x="2248855" y="192271"/>
                    </a:moveTo>
                    <a:arcTo wR="1511190" hR="1511190" stAng="17953086" swAng="1212094"/>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9700" name="Freeform 29699"/>
              <p:cNvSpPr/>
              <p:nvPr/>
            </p:nvSpPr>
            <p:spPr>
              <a:xfrm>
                <a:off x="7751595" y="3130036"/>
                <a:ext cx="1163463" cy="756251"/>
              </a:xfrm>
              <a:custGeom>
                <a:avLst/>
                <a:gdLst>
                  <a:gd name="connsiteX0" fmla="*/ 0 w 1163463"/>
                  <a:gd name="connsiteY0" fmla="*/ 126044 h 756251"/>
                  <a:gd name="connsiteX1" fmla="*/ 126044 w 1163463"/>
                  <a:gd name="connsiteY1" fmla="*/ 0 h 756251"/>
                  <a:gd name="connsiteX2" fmla="*/ 1037419 w 1163463"/>
                  <a:gd name="connsiteY2" fmla="*/ 0 h 756251"/>
                  <a:gd name="connsiteX3" fmla="*/ 1163463 w 1163463"/>
                  <a:gd name="connsiteY3" fmla="*/ 126044 h 756251"/>
                  <a:gd name="connsiteX4" fmla="*/ 1163463 w 1163463"/>
                  <a:gd name="connsiteY4" fmla="*/ 630207 h 756251"/>
                  <a:gd name="connsiteX5" fmla="*/ 1037419 w 1163463"/>
                  <a:gd name="connsiteY5" fmla="*/ 756251 h 756251"/>
                  <a:gd name="connsiteX6" fmla="*/ 126044 w 1163463"/>
                  <a:gd name="connsiteY6" fmla="*/ 756251 h 756251"/>
                  <a:gd name="connsiteX7" fmla="*/ 0 w 1163463"/>
                  <a:gd name="connsiteY7" fmla="*/ 630207 h 756251"/>
                  <a:gd name="connsiteX8" fmla="*/ 0 w 1163463"/>
                  <a:gd name="connsiteY8" fmla="*/ 126044 h 75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3463" h="756251">
                    <a:moveTo>
                      <a:pt x="0" y="126044"/>
                    </a:moveTo>
                    <a:cubicBezTo>
                      <a:pt x="0" y="56432"/>
                      <a:pt x="56432" y="0"/>
                      <a:pt x="126044" y="0"/>
                    </a:cubicBezTo>
                    <a:lnTo>
                      <a:pt x="1037419" y="0"/>
                    </a:lnTo>
                    <a:cubicBezTo>
                      <a:pt x="1107031" y="0"/>
                      <a:pt x="1163463" y="56432"/>
                      <a:pt x="1163463" y="126044"/>
                    </a:cubicBezTo>
                    <a:lnTo>
                      <a:pt x="1163463" y="630207"/>
                    </a:lnTo>
                    <a:cubicBezTo>
                      <a:pt x="1163463" y="699819"/>
                      <a:pt x="1107031" y="756251"/>
                      <a:pt x="1037419" y="756251"/>
                    </a:cubicBezTo>
                    <a:lnTo>
                      <a:pt x="126044" y="756251"/>
                    </a:lnTo>
                    <a:cubicBezTo>
                      <a:pt x="56432" y="756251"/>
                      <a:pt x="0" y="699819"/>
                      <a:pt x="0" y="630207"/>
                    </a:cubicBezTo>
                    <a:lnTo>
                      <a:pt x="0" y="12604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7877" tIns="97877" rIns="97877" bIns="97877" numCol="1" spcCol="1270" anchor="ctr" anchorCtr="0">
                <a:noAutofit/>
              </a:bodyPr>
              <a:lstStyle/>
              <a:p>
                <a:pPr lvl="0" algn="ctr" defTabSz="711200">
                  <a:lnSpc>
                    <a:spcPct val="90000"/>
                  </a:lnSpc>
                  <a:spcBef>
                    <a:spcPct val="0"/>
                  </a:spcBef>
                  <a:spcAft>
                    <a:spcPct val="35000"/>
                  </a:spcAft>
                </a:pPr>
                <a:r>
                  <a:rPr lang="en-US" sz="1600" b="1" i="1" kern="1200" dirty="0">
                    <a:solidFill>
                      <a:schemeClr val="bg2"/>
                    </a:solidFill>
                  </a:rPr>
                  <a:t>BLS</a:t>
                </a:r>
                <a:r>
                  <a:rPr lang="en-US" sz="1000" dirty="0"/>
                  <a:t> </a:t>
                </a:r>
                <a:r>
                  <a:rPr lang="en-US" sz="1000" kern="1200" dirty="0"/>
                  <a:t>performs daily </a:t>
                </a:r>
                <a:r>
                  <a:rPr lang="en-US" sz="1000" i="1" kern="1200" dirty="0"/>
                  <a:t>monitoring</a:t>
                </a:r>
                <a:r>
                  <a:rPr lang="en-US" sz="1000" kern="1200" dirty="0"/>
                  <a:t> (chemistry &amp; bacteriological)</a:t>
                </a:r>
                <a:endParaRPr lang="en-US" sz="1000" kern="1200" baseline="-25000" dirty="0"/>
              </a:p>
            </p:txBody>
          </p:sp>
          <p:sp>
            <p:nvSpPr>
              <p:cNvPr id="29701" name="Freeform 29700"/>
              <p:cNvSpPr/>
              <p:nvPr/>
            </p:nvSpPr>
            <p:spPr>
              <a:xfrm>
                <a:off x="5384909" y="2559888"/>
                <a:ext cx="3022380" cy="3022380"/>
              </a:xfrm>
              <a:custGeom>
                <a:avLst/>
                <a:gdLst/>
                <a:ahLst/>
                <a:cxnLst/>
                <a:rect l="0" t="0" r="0" b="0"/>
                <a:pathLst>
                  <a:path>
                    <a:moveTo>
                      <a:pt x="3018761" y="1615719"/>
                    </a:moveTo>
                    <a:arcTo wR="1511190" hR="1511190" stAng="21837980" swAng="1360155"/>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9702" name="Freeform 29701"/>
              <p:cNvSpPr/>
              <p:nvPr/>
            </p:nvSpPr>
            <p:spPr>
              <a:xfrm>
                <a:off x="7228452" y="4601573"/>
                <a:ext cx="1163463" cy="756251"/>
              </a:xfrm>
              <a:custGeom>
                <a:avLst/>
                <a:gdLst>
                  <a:gd name="connsiteX0" fmla="*/ 0 w 1163463"/>
                  <a:gd name="connsiteY0" fmla="*/ 126044 h 756251"/>
                  <a:gd name="connsiteX1" fmla="*/ 126044 w 1163463"/>
                  <a:gd name="connsiteY1" fmla="*/ 0 h 756251"/>
                  <a:gd name="connsiteX2" fmla="*/ 1037419 w 1163463"/>
                  <a:gd name="connsiteY2" fmla="*/ 0 h 756251"/>
                  <a:gd name="connsiteX3" fmla="*/ 1163463 w 1163463"/>
                  <a:gd name="connsiteY3" fmla="*/ 126044 h 756251"/>
                  <a:gd name="connsiteX4" fmla="*/ 1163463 w 1163463"/>
                  <a:gd name="connsiteY4" fmla="*/ 630207 h 756251"/>
                  <a:gd name="connsiteX5" fmla="*/ 1037419 w 1163463"/>
                  <a:gd name="connsiteY5" fmla="*/ 756251 h 756251"/>
                  <a:gd name="connsiteX6" fmla="*/ 126044 w 1163463"/>
                  <a:gd name="connsiteY6" fmla="*/ 756251 h 756251"/>
                  <a:gd name="connsiteX7" fmla="*/ 0 w 1163463"/>
                  <a:gd name="connsiteY7" fmla="*/ 630207 h 756251"/>
                  <a:gd name="connsiteX8" fmla="*/ 0 w 1163463"/>
                  <a:gd name="connsiteY8" fmla="*/ 126044 h 75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3463" h="756251">
                    <a:moveTo>
                      <a:pt x="0" y="126044"/>
                    </a:moveTo>
                    <a:cubicBezTo>
                      <a:pt x="0" y="56432"/>
                      <a:pt x="56432" y="0"/>
                      <a:pt x="126044" y="0"/>
                    </a:cubicBezTo>
                    <a:lnTo>
                      <a:pt x="1037419" y="0"/>
                    </a:lnTo>
                    <a:cubicBezTo>
                      <a:pt x="1107031" y="0"/>
                      <a:pt x="1163463" y="56432"/>
                      <a:pt x="1163463" y="126044"/>
                    </a:cubicBezTo>
                    <a:lnTo>
                      <a:pt x="1163463" y="630207"/>
                    </a:lnTo>
                    <a:cubicBezTo>
                      <a:pt x="1163463" y="699819"/>
                      <a:pt x="1107031" y="756251"/>
                      <a:pt x="1037419" y="756251"/>
                    </a:cubicBezTo>
                    <a:lnTo>
                      <a:pt x="126044" y="756251"/>
                    </a:lnTo>
                    <a:cubicBezTo>
                      <a:pt x="56432" y="756251"/>
                      <a:pt x="0" y="699819"/>
                      <a:pt x="0" y="630207"/>
                    </a:cubicBezTo>
                    <a:lnTo>
                      <a:pt x="0" y="12604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8827" tIns="78827" rIns="78827" bIns="78827" numCol="1" spcCol="1270" anchor="ctr" anchorCtr="0">
                <a:noAutofit/>
              </a:bodyPr>
              <a:lstStyle/>
              <a:p>
                <a:pPr lvl="0" algn="ctr" defTabSz="488950">
                  <a:lnSpc>
                    <a:spcPct val="90000"/>
                  </a:lnSpc>
                  <a:spcBef>
                    <a:spcPct val="0"/>
                  </a:spcBef>
                  <a:spcAft>
                    <a:spcPct val="35000"/>
                  </a:spcAft>
                </a:pPr>
                <a:r>
                  <a:rPr lang="en-US" sz="1000" i="1" u="sng" kern="1200" dirty="0"/>
                  <a:t>Trigger values </a:t>
                </a:r>
                <a:r>
                  <a:rPr lang="en-US" sz="1000" kern="1200" dirty="0"/>
                  <a:t>may indicate enhanced monitoring is needed</a:t>
                </a:r>
              </a:p>
            </p:txBody>
          </p:sp>
          <p:sp>
            <p:nvSpPr>
              <p:cNvPr id="29703" name="Freeform 29702"/>
              <p:cNvSpPr/>
              <p:nvPr/>
            </p:nvSpPr>
            <p:spPr>
              <a:xfrm>
                <a:off x="5384909" y="2559888"/>
                <a:ext cx="3022380" cy="3022380"/>
              </a:xfrm>
              <a:custGeom>
                <a:avLst/>
                <a:gdLst/>
                <a:ahLst/>
                <a:cxnLst/>
                <a:rect l="0" t="0" r="0" b="0"/>
                <a:pathLst>
                  <a:path>
                    <a:moveTo>
                      <a:pt x="1696776" y="3010941"/>
                    </a:moveTo>
                    <a:arcTo wR="1511190" hR="1511190" stAng="4976749" swAng="846502"/>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9704" name="Freeform 29703"/>
              <p:cNvSpPr/>
              <p:nvPr/>
            </p:nvSpPr>
            <p:spPr>
              <a:xfrm>
                <a:off x="5284109" y="4601573"/>
                <a:ext cx="1163463" cy="756251"/>
              </a:xfrm>
              <a:custGeom>
                <a:avLst/>
                <a:gdLst>
                  <a:gd name="connsiteX0" fmla="*/ 0 w 1163463"/>
                  <a:gd name="connsiteY0" fmla="*/ 126044 h 756251"/>
                  <a:gd name="connsiteX1" fmla="*/ 126044 w 1163463"/>
                  <a:gd name="connsiteY1" fmla="*/ 0 h 756251"/>
                  <a:gd name="connsiteX2" fmla="*/ 1037419 w 1163463"/>
                  <a:gd name="connsiteY2" fmla="*/ 0 h 756251"/>
                  <a:gd name="connsiteX3" fmla="*/ 1163463 w 1163463"/>
                  <a:gd name="connsiteY3" fmla="*/ 126044 h 756251"/>
                  <a:gd name="connsiteX4" fmla="*/ 1163463 w 1163463"/>
                  <a:gd name="connsiteY4" fmla="*/ 630207 h 756251"/>
                  <a:gd name="connsiteX5" fmla="*/ 1037419 w 1163463"/>
                  <a:gd name="connsiteY5" fmla="*/ 756251 h 756251"/>
                  <a:gd name="connsiteX6" fmla="*/ 126044 w 1163463"/>
                  <a:gd name="connsiteY6" fmla="*/ 756251 h 756251"/>
                  <a:gd name="connsiteX7" fmla="*/ 0 w 1163463"/>
                  <a:gd name="connsiteY7" fmla="*/ 630207 h 756251"/>
                  <a:gd name="connsiteX8" fmla="*/ 0 w 1163463"/>
                  <a:gd name="connsiteY8" fmla="*/ 126044 h 75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3463" h="756251">
                    <a:moveTo>
                      <a:pt x="0" y="126044"/>
                    </a:moveTo>
                    <a:cubicBezTo>
                      <a:pt x="0" y="56432"/>
                      <a:pt x="56432" y="0"/>
                      <a:pt x="126044" y="0"/>
                    </a:cubicBezTo>
                    <a:lnTo>
                      <a:pt x="1037419" y="0"/>
                    </a:lnTo>
                    <a:cubicBezTo>
                      <a:pt x="1107031" y="0"/>
                      <a:pt x="1163463" y="56432"/>
                      <a:pt x="1163463" y="126044"/>
                    </a:cubicBezTo>
                    <a:lnTo>
                      <a:pt x="1163463" y="630207"/>
                    </a:lnTo>
                    <a:cubicBezTo>
                      <a:pt x="1163463" y="699819"/>
                      <a:pt x="1107031" y="756251"/>
                      <a:pt x="1037419" y="756251"/>
                    </a:cubicBezTo>
                    <a:lnTo>
                      <a:pt x="126044" y="756251"/>
                    </a:lnTo>
                    <a:cubicBezTo>
                      <a:pt x="56432" y="756251"/>
                      <a:pt x="0" y="699819"/>
                      <a:pt x="0" y="630207"/>
                    </a:cubicBezTo>
                    <a:lnTo>
                      <a:pt x="0" y="12604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7877" tIns="97877" rIns="97877" bIns="97877" numCol="1" spcCol="1270" anchor="ctr" anchorCtr="0">
                <a:noAutofit/>
              </a:bodyPr>
              <a:lstStyle/>
              <a:p>
                <a:pPr lvl="0" algn="ctr" defTabSz="711200">
                  <a:lnSpc>
                    <a:spcPct val="90000"/>
                  </a:lnSpc>
                  <a:spcBef>
                    <a:spcPct val="0"/>
                  </a:spcBef>
                  <a:spcAft>
                    <a:spcPct val="35000"/>
                  </a:spcAft>
                </a:pPr>
                <a:r>
                  <a:rPr lang="en-US" sz="1600" b="1" i="1" kern="1200" dirty="0">
                    <a:solidFill>
                      <a:schemeClr val="bg2"/>
                    </a:solidFill>
                  </a:rPr>
                  <a:t>BLS</a:t>
                </a:r>
                <a:r>
                  <a:rPr lang="en-US" sz="1000" kern="1200" dirty="0"/>
                  <a:t> performs investigation &amp; remedial actions</a:t>
                </a:r>
              </a:p>
            </p:txBody>
          </p:sp>
          <p:sp>
            <p:nvSpPr>
              <p:cNvPr id="29705" name="Freeform 29704"/>
              <p:cNvSpPr/>
              <p:nvPr/>
            </p:nvSpPr>
            <p:spPr>
              <a:xfrm>
                <a:off x="5384909" y="2559888"/>
                <a:ext cx="3022380" cy="3022380"/>
              </a:xfrm>
              <a:custGeom>
                <a:avLst/>
                <a:gdLst/>
                <a:ahLst/>
                <a:cxnLst/>
                <a:rect l="0" t="0" r="0" b="0"/>
                <a:pathLst>
                  <a:path>
                    <a:moveTo>
                      <a:pt x="160373" y="2188678"/>
                    </a:moveTo>
                    <a:arcTo wR="1511190" hR="1511190" stAng="9201865" swAng="1360155"/>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9706" name="Freeform 29705"/>
              <p:cNvSpPr/>
              <p:nvPr/>
            </p:nvSpPr>
            <p:spPr>
              <a:xfrm>
                <a:off x="4877140" y="3126946"/>
                <a:ext cx="1163463" cy="805746"/>
              </a:xfrm>
              <a:custGeom>
                <a:avLst/>
                <a:gdLst>
                  <a:gd name="connsiteX0" fmla="*/ 0 w 1163463"/>
                  <a:gd name="connsiteY0" fmla="*/ 126044 h 756251"/>
                  <a:gd name="connsiteX1" fmla="*/ 126044 w 1163463"/>
                  <a:gd name="connsiteY1" fmla="*/ 0 h 756251"/>
                  <a:gd name="connsiteX2" fmla="*/ 1037419 w 1163463"/>
                  <a:gd name="connsiteY2" fmla="*/ 0 h 756251"/>
                  <a:gd name="connsiteX3" fmla="*/ 1163463 w 1163463"/>
                  <a:gd name="connsiteY3" fmla="*/ 126044 h 756251"/>
                  <a:gd name="connsiteX4" fmla="*/ 1163463 w 1163463"/>
                  <a:gd name="connsiteY4" fmla="*/ 630207 h 756251"/>
                  <a:gd name="connsiteX5" fmla="*/ 1037419 w 1163463"/>
                  <a:gd name="connsiteY5" fmla="*/ 756251 h 756251"/>
                  <a:gd name="connsiteX6" fmla="*/ 126044 w 1163463"/>
                  <a:gd name="connsiteY6" fmla="*/ 756251 h 756251"/>
                  <a:gd name="connsiteX7" fmla="*/ 0 w 1163463"/>
                  <a:gd name="connsiteY7" fmla="*/ 630207 h 756251"/>
                  <a:gd name="connsiteX8" fmla="*/ 0 w 1163463"/>
                  <a:gd name="connsiteY8" fmla="*/ 126044 h 75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3463" h="756251">
                    <a:moveTo>
                      <a:pt x="0" y="126044"/>
                    </a:moveTo>
                    <a:cubicBezTo>
                      <a:pt x="0" y="56432"/>
                      <a:pt x="56432" y="0"/>
                      <a:pt x="126044" y="0"/>
                    </a:cubicBezTo>
                    <a:lnTo>
                      <a:pt x="1037419" y="0"/>
                    </a:lnTo>
                    <a:cubicBezTo>
                      <a:pt x="1107031" y="0"/>
                      <a:pt x="1163463" y="56432"/>
                      <a:pt x="1163463" y="126044"/>
                    </a:cubicBezTo>
                    <a:lnTo>
                      <a:pt x="1163463" y="630207"/>
                    </a:lnTo>
                    <a:cubicBezTo>
                      <a:pt x="1163463" y="699819"/>
                      <a:pt x="1107031" y="756251"/>
                      <a:pt x="1037419" y="756251"/>
                    </a:cubicBezTo>
                    <a:lnTo>
                      <a:pt x="126044" y="756251"/>
                    </a:lnTo>
                    <a:cubicBezTo>
                      <a:pt x="56432" y="756251"/>
                      <a:pt x="0" y="699819"/>
                      <a:pt x="0" y="630207"/>
                    </a:cubicBezTo>
                    <a:lnTo>
                      <a:pt x="0" y="12604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5017" tIns="75017" rIns="75017" bIns="75017" numCol="1" spcCol="1270" anchor="ctr" anchorCtr="0">
                <a:noAutofit/>
              </a:bodyPr>
              <a:lstStyle/>
              <a:p>
                <a:pPr lvl="0" algn="ctr" defTabSz="444500">
                  <a:lnSpc>
                    <a:spcPct val="90000"/>
                  </a:lnSpc>
                  <a:spcBef>
                    <a:spcPct val="0"/>
                  </a:spcBef>
                  <a:spcAft>
                    <a:spcPct val="35000"/>
                  </a:spcAft>
                </a:pPr>
                <a:r>
                  <a:rPr lang="en-US" sz="1000" kern="1200" dirty="0"/>
                  <a:t>If needed, </a:t>
                </a:r>
                <a:r>
                  <a:rPr lang="en-US" sz="1600" b="1" i="1" kern="1200" dirty="0">
                    <a:solidFill>
                      <a:schemeClr val="bg2"/>
                    </a:solidFill>
                  </a:rPr>
                  <a:t>Load Control </a:t>
                </a:r>
                <a:r>
                  <a:rPr lang="en-US" sz="1000" kern="1200" dirty="0"/>
                  <a:t>performs investigation  &amp; remedial actions</a:t>
                </a:r>
              </a:p>
            </p:txBody>
          </p:sp>
          <p:sp>
            <p:nvSpPr>
              <p:cNvPr id="29707" name="Freeform 29706"/>
              <p:cNvSpPr/>
              <p:nvPr/>
            </p:nvSpPr>
            <p:spPr>
              <a:xfrm>
                <a:off x="5384909" y="2559888"/>
                <a:ext cx="3022380" cy="3022380"/>
              </a:xfrm>
              <a:custGeom>
                <a:avLst/>
                <a:gdLst/>
                <a:ahLst/>
                <a:cxnLst/>
                <a:rect l="0" t="0" r="0" b="0"/>
                <a:pathLst>
                  <a:path>
                    <a:moveTo>
                      <a:pt x="363449" y="528140"/>
                    </a:moveTo>
                    <a:arcTo wR="1511190" hR="1511190" stAng="13234821" swAng="1212094"/>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grpSp>
        <p:sp>
          <p:nvSpPr>
            <p:cNvPr id="21" name="Text Box 2"/>
            <p:cNvSpPr txBox="1"/>
            <p:nvPr/>
          </p:nvSpPr>
          <p:spPr>
            <a:xfrm>
              <a:off x="6148441" y="3373060"/>
              <a:ext cx="1524000" cy="1295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Bef>
                  <a:spcPts val="0"/>
                </a:spcBef>
                <a:spcAft>
                  <a:spcPts val="1000"/>
                </a:spcAft>
              </a:pPr>
              <a:r>
                <a:rPr lang="en-US" sz="1500" b="1" dirty="0">
                  <a:solidFill>
                    <a:schemeClr val="tx1"/>
                  </a:solidFill>
                  <a:effectLst/>
                  <a:ea typeface="Calibri"/>
                  <a:cs typeface="Times New Roman"/>
                </a:rPr>
                <a:t>Water Quality Monitoring        and          Response Cycle</a:t>
              </a:r>
              <a:endParaRPr lang="en-US" sz="1500" dirty="0">
                <a:solidFill>
                  <a:schemeClr val="tx1"/>
                </a:solidFill>
                <a:effectLst/>
                <a:ea typeface="Calibri"/>
                <a:cs typeface="Times New Roman"/>
              </a:endParaRPr>
            </a:p>
          </p:txBody>
        </p:sp>
      </p:grpSp>
    </p:spTree>
    <p:extLst>
      <p:ext uri="{BB962C8B-B14F-4D97-AF65-F5344CB8AC3E}">
        <p14:creationId xmlns:p14="http://schemas.microsoft.com/office/powerpoint/2010/main" val="22369279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solidFill>
                  <a:srgbClr val="FFC000"/>
                </a:solidFill>
                <a:latin typeface="Arial" pitchFamily="34" charset="0"/>
                <a:cs typeface="Arial" pitchFamily="34" charset="0"/>
              </a:rPr>
              <a:t>Under PSW DSOP …</a:t>
            </a:r>
          </a:p>
        </p:txBody>
      </p:sp>
      <p:sp>
        <p:nvSpPr>
          <p:cNvPr id="5" name="Content Placeholder 4"/>
          <p:cNvSpPr>
            <a:spLocks noGrp="1"/>
          </p:cNvSpPr>
          <p:nvPr>
            <p:ph idx="1"/>
          </p:nvPr>
        </p:nvSpPr>
        <p:spPr>
          <a:xfrm>
            <a:off x="457200" y="1295400"/>
            <a:ext cx="8534400" cy="4525963"/>
          </a:xfrm>
        </p:spPr>
        <p:txBody>
          <a:bodyPr/>
          <a:lstStyle/>
          <a:p>
            <a:r>
              <a:rPr lang="en-US" dirty="0"/>
              <a:t>Significant improvements in water quality</a:t>
            </a:r>
          </a:p>
          <a:p>
            <a:r>
              <a:rPr lang="en-US" dirty="0"/>
              <a:t>PWD can better track and trend Cl</a:t>
            </a:r>
            <a:r>
              <a:rPr lang="en-US" baseline="-25000" dirty="0"/>
              <a:t>2</a:t>
            </a:r>
            <a:r>
              <a:rPr lang="en-US" dirty="0"/>
              <a:t> levels as changes are identified and implemented</a:t>
            </a:r>
          </a:p>
          <a:p>
            <a:pPr lvl="1"/>
            <a:r>
              <a:rPr lang="en-US" dirty="0"/>
              <a:t>Identify “problematic sites”</a:t>
            </a:r>
          </a:p>
          <a:p>
            <a:pPr lvl="1"/>
            <a:r>
              <a:rPr lang="en-US" dirty="0"/>
              <a:t>Improve water quality response &amp; mitigation</a:t>
            </a:r>
          </a:p>
          <a:p>
            <a:r>
              <a:rPr lang="en-US" dirty="0"/>
              <a:t>Multiple PWD units collaborate to solve water quality problems and gain knowledge of practices in other units</a:t>
            </a:r>
          </a:p>
          <a:p>
            <a:endParaRPr lang="en-US" dirty="0"/>
          </a:p>
        </p:txBody>
      </p:sp>
    </p:spTree>
    <p:extLst>
      <p:ext uri="{BB962C8B-B14F-4D97-AF65-F5344CB8AC3E}">
        <p14:creationId xmlns:p14="http://schemas.microsoft.com/office/powerpoint/2010/main" val="2288748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latin typeface="Arial" panose="020B0604020202020204" pitchFamily="34" charset="0"/>
                <a:cs typeface="Arial" panose="020B0604020202020204" pitchFamily="34" charset="0"/>
              </a:rPr>
              <a:t>PSW &amp; </a:t>
            </a:r>
            <a:r>
              <a:rPr lang="en-US" dirty="0" err="1">
                <a:solidFill>
                  <a:srgbClr val="FFC000"/>
                </a:solidFill>
                <a:latin typeface="Arial" panose="020B0604020202020204" pitchFamily="34" charset="0"/>
                <a:cs typeface="Arial" panose="020B0604020202020204" pitchFamily="34" charset="0"/>
              </a:rPr>
              <a:t>PaDEP</a:t>
            </a:r>
            <a:r>
              <a:rPr lang="en-US" dirty="0">
                <a:solidFill>
                  <a:srgbClr val="FFC000"/>
                </a:solidFill>
                <a:latin typeface="Arial" panose="020B0604020202020204" pitchFamily="34" charset="0"/>
                <a:cs typeface="Arial" panose="020B0604020202020204" pitchFamily="34" charset="0"/>
              </a:rPr>
              <a:t> Reporting of Disinfectant Residual</a:t>
            </a:r>
          </a:p>
        </p:txBody>
      </p:sp>
      <p:sp>
        <p:nvSpPr>
          <p:cNvPr id="3" name="Content Placeholder 2"/>
          <p:cNvSpPr>
            <a:spLocks noGrp="1"/>
          </p:cNvSpPr>
          <p:nvPr>
            <p:ph idx="1"/>
          </p:nvPr>
        </p:nvSpPr>
        <p:spPr>
          <a:xfrm>
            <a:off x="152400" y="1600200"/>
            <a:ext cx="8991600" cy="5105400"/>
          </a:xfrm>
        </p:spPr>
        <p:txBody>
          <a:bodyPr/>
          <a:lstStyle/>
          <a:p>
            <a:r>
              <a:rPr lang="en-US" dirty="0" err="1"/>
              <a:t>PaDEP</a:t>
            </a:r>
            <a:r>
              <a:rPr lang="en-US" dirty="0"/>
              <a:t> requirement at the entry point: </a:t>
            </a:r>
          </a:p>
          <a:p>
            <a:pPr lvl="1"/>
            <a:r>
              <a:rPr lang="en-US" dirty="0"/>
              <a:t>0.2 mg/L</a:t>
            </a:r>
          </a:p>
          <a:p>
            <a:r>
              <a:rPr lang="en-US" dirty="0" err="1"/>
              <a:t>PaDEP</a:t>
            </a:r>
            <a:r>
              <a:rPr lang="en-US" dirty="0"/>
              <a:t> minimum requirement in distribution system:</a:t>
            </a:r>
          </a:p>
          <a:p>
            <a:pPr lvl="1"/>
            <a:r>
              <a:rPr lang="en-US" dirty="0"/>
              <a:t>0.02 mg/L</a:t>
            </a:r>
          </a:p>
          <a:p>
            <a:r>
              <a:rPr lang="en-US" dirty="0"/>
              <a:t>PSW DSOP goal disinfectant residual</a:t>
            </a:r>
          </a:p>
          <a:p>
            <a:pPr lvl="1"/>
            <a:r>
              <a:rPr lang="en-US" dirty="0"/>
              <a:t>≥ 0.5 mg/L</a:t>
            </a:r>
          </a:p>
          <a:p>
            <a:pPr lvl="2"/>
            <a:r>
              <a:rPr lang="en-US" dirty="0"/>
              <a:t>Difficult to meet this goal</a:t>
            </a:r>
          </a:p>
          <a:p>
            <a:pPr lvl="2"/>
            <a:r>
              <a:rPr lang="en-US" dirty="0"/>
              <a:t>During summer months, PWD comes close to not meeting the PSW disinfectant goal</a:t>
            </a:r>
          </a:p>
          <a:p>
            <a:pPr lvl="2"/>
            <a:r>
              <a:rPr lang="en-US" dirty="0"/>
              <a:t>In some years, PWD has not met this goal</a:t>
            </a:r>
          </a:p>
          <a:p>
            <a:pPr lvl="1"/>
            <a:endParaRPr lang="en-US" dirty="0"/>
          </a:p>
        </p:txBody>
      </p:sp>
    </p:spTree>
    <p:extLst>
      <p:ext uri="{BB962C8B-B14F-4D97-AF65-F5344CB8AC3E}">
        <p14:creationId xmlns:p14="http://schemas.microsoft.com/office/powerpoint/2010/main" val="29694169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rrowheads="1"/>
          </p:cNvSpPr>
          <p:nvPr>
            <p:ph type="title"/>
          </p:nvPr>
        </p:nvSpPr>
        <p:spPr>
          <a:xfrm>
            <a:off x="457200" y="152400"/>
            <a:ext cx="8229600" cy="1066800"/>
          </a:xfrm>
        </p:spPr>
        <p:txBody>
          <a:bodyPr/>
          <a:lstStyle/>
          <a:p>
            <a:pPr eaLnBrk="1" hangingPunct="1"/>
            <a:r>
              <a:rPr lang="en-US" dirty="0">
                <a:solidFill>
                  <a:schemeClr val="hlink"/>
                </a:solidFill>
                <a:effectLst/>
                <a:latin typeface="Arial" charset="0"/>
              </a:rPr>
              <a:t>DSOP PLF Identification</a:t>
            </a:r>
          </a:p>
        </p:txBody>
      </p:sp>
      <p:sp>
        <p:nvSpPr>
          <p:cNvPr id="21507" name="Rectangle 3"/>
          <p:cNvSpPr>
            <a:spLocks noGrp="1" noChangeArrowheads="1"/>
          </p:cNvSpPr>
          <p:nvPr>
            <p:ph type="body" idx="1"/>
          </p:nvPr>
        </p:nvSpPr>
        <p:spPr>
          <a:xfrm>
            <a:off x="533400" y="1219200"/>
            <a:ext cx="8305800" cy="5410200"/>
          </a:xfrm>
        </p:spPr>
        <p:txBody>
          <a:bodyPr/>
          <a:lstStyle/>
          <a:p>
            <a:pPr eaLnBrk="1" hangingPunct="1">
              <a:spcBef>
                <a:spcPts val="600"/>
              </a:spcBef>
              <a:defRPr/>
            </a:pPr>
            <a:r>
              <a:rPr lang="en-US" sz="3000" dirty="0">
                <a:effectLst/>
              </a:rPr>
              <a:t>During the SA process, a comprehensive summary of questions for assessing optimization were  examined and responded to as:</a:t>
            </a:r>
          </a:p>
          <a:p>
            <a:pPr lvl="1" eaLnBrk="1" hangingPunct="1">
              <a:spcBef>
                <a:spcPts val="600"/>
              </a:spcBef>
              <a:defRPr/>
            </a:pPr>
            <a:r>
              <a:rPr lang="en-US" sz="2600" dirty="0">
                <a:effectLst/>
              </a:rPr>
              <a:t>Optimized &amp; Documented</a:t>
            </a:r>
          </a:p>
          <a:p>
            <a:pPr lvl="1" eaLnBrk="1" hangingPunct="1">
              <a:spcBef>
                <a:spcPts val="600"/>
              </a:spcBef>
              <a:defRPr/>
            </a:pPr>
            <a:r>
              <a:rPr lang="en-US" sz="2600" dirty="0">
                <a:effectLst/>
              </a:rPr>
              <a:t>Partially Optimized</a:t>
            </a:r>
            <a:endParaRPr lang="en-US" sz="2200" dirty="0">
              <a:effectLst/>
            </a:endParaRPr>
          </a:p>
          <a:p>
            <a:pPr lvl="1" eaLnBrk="1" hangingPunct="1">
              <a:spcBef>
                <a:spcPts val="600"/>
              </a:spcBef>
              <a:defRPr/>
            </a:pPr>
            <a:r>
              <a:rPr lang="en-US" sz="2600" dirty="0">
                <a:effectLst/>
              </a:rPr>
              <a:t>Not Optimized</a:t>
            </a:r>
            <a:endParaRPr lang="en-US" sz="2200" dirty="0">
              <a:effectLst/>
            </a:endParaRPr>
          </a:p>
          <a:p>
            <a:pPr eaLnBrk="1" hangingPunct="1">
              <a:spcBef>
                <a:spcPts val="600"/>
              </a:spcBef>
              <a:defRPr/>
            </a:pPr>
            <a:r>
              <a:rPr lang="en-US" sz="3000" dirty="0">
                <a:effectLst/>
              </a:rPr>
              <a:t>If identified as partially optimized or not optimized:</a:t>
            </a:r>
          </a:p>
          <a:p>
            <a:pPr lvl="1" eaLnBrk="1" hangingPunct="1">
              <a:spcBef>
                <a:spcPts val="600"/>
              </a:spcBef>
              <a:defRPr/>
            </a:pPr>
            <a:r>
              <a:rPr lang="en-US" sz="2600" dirty="0">
                <a:effectLst/>
              </a:rPr>
              <a:t>The item must be improved to achieve optimization OR</a:t>
            </a:r>
            <a:endParaRPr lang="en-US" sz="2200" dirty="0">
              <a:effectLst/>
            </a:endParaRPr>
          </a:p>
          <a:p>
            <a:pPr lvl="1" eaLnBrk="1" hangingPunct="1">
              <a:spcBef>
                <a:spcPts val="600"/>
              </a:spcBef>
              <a:defRPr/>
            </a:pPr>
            <a:r>
              <a:rPr lang="en-US" sz="2600" dirty="0">
                <a:effectLst/>
              </a:rPr>
              <a:t>Justified as to why it is not an issue for the PWD distribution system</a:t>
            </a:r>
          </a:p>
        </p:txBody>
      </p:sp>
    </p:spTree>
    <p:extLst>
      <p:ext uri="{BB962C8B-B14F-4D97-AF65-F5344CB8AC3E}">
        <p14:creationId xmlns:p14="http://schemas.microsoft.com/office/powerpoint/2010/main" val="8141749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rrowheads="1"/>
          </p:cNvSpPr>
          <p:nvPr>
            <p:ph type="title"/>
          </p:nvPr>
        </p:nvSpPr>
        <p:spPr>
          <a:xfrm>
            <a:off x="457200" y="152400"/>
            <a:ext cx="8229600" cy="1066800"/>
          </a:xfrm>
        </p:spPr>
        <p:txBody>
          <a:bodyPr/>
          <a:lstStyle/>
          <a:p>
            <a:pPr eaLnBrk="1" hangingPunct="1"/>
            <a:r>
              <a:rPr lang="en-US" dirty="0">
                <a:solidFill>
                  <a:schemeClr val="hlink"/>
                </a:solidFill>
                <a:effectLst/>
                <a:latin typeface="Arial" charset="0"/>
              </a:rPr>
              <a:t>PLF Prioritization</a:t>
            </a:r>
          </a:p>
        </p:txBody>
      </p:sp>
      <p:sp>
        <p:nvSpPr>
          <p:cNvPr id="21507" name="Rectangle 3"/>
          <p:cNvSpPr>
            <a:spLocks noGrp="1" noChangeArrowheads="1"/>
          </p:cNvSpPr>
          <p:nvPr>
            <p:ph type="body" idx="1"/>
          </p:nvPr>
        </p:nvSpPr>
        <p:spPr>
          <a:xfrm>
            <a:off x="609600" y="990600"/>
            <a:ext cx="8305800" cy="5715000"/>
          </a:xfrm>
        </p:spPr>
        <p:txBody>
          <a:bodyPr/>
          <a:lstStyle/>
          <a:p>
            <a:pPr eaLnBrk="1" hangingPunct="1">
              <a:spcBef>
                <a:spcPts val="600"/>
              </a:spcBef>
              <a:defRPr/>
            </a:pPr>
            <a:r>
              <a:rPr lang="en-US" sz="3000" dirty="0">
                <a:effectLst/>
              </a:rPr>
              <a:t>After PLF categories were identified, they were prioritized in order of:</a:t>
            </a:r>
          </a:p>
          <a:p>
            <a:pPr lvl="1" eaLnBrk="1" hangingPunct="1">
              <a:spcBef>
                <a:spcPts val="600"/>
              </a:spcBef>
              <a:defRPr/>
            </a:pPr>
            <a:r>
              <a:rPr lang="en-US" sz="2600" dirty="0">
                <a:effectLst/>
              </a:rPr>
              <a:t>Impact</a:t>
            </a:r>
          </a:p>
          <a:p>
            <a:pPr lvl="1" eaLnBrk="1" hangingPunct="1">
              <a:spcBef>
                <a:spcPts val="600"/>
              </a:spcBef>
              <a:defRPr/>
            </a:pPr>
            <a:r>
              <a:rPr lang="en-US" sz="2600" dirty="0">
                <a:effectLst/>
              </a:rPr>
              <a:t>Urgency</a:t>
            </a:r>
          </a:p>
          <a:p>
            <a:pPr eaLnBrk="1" hangingPunct="1">
              <a:spcBef>
                <a:spcPts val="600"/>
              </a:spcBef>
              <a:defRPr/>
            </a:pPr>
            <a:r>
              <a:rPr lang="en-US" sz="3000" dirty="0">
                <a:effectLst/>
              </a:rPr>
              <a:t>Unit(s) were assigned in regards to responsibility for improving the identified PLF</a:t>
            </a:r>
          </a:p>
          <a:p>
            <a:pPr eaLnBrk="1" hangingPunct="1">
              <a:spcBef>
                <a:spcPts val="600"/>
              </a:spcBef>
              <a:defRPr/>
            </a:pPr>
            <a:r>
              <a:rPr lang="en-US" sz="3000" dirty="0">
                <a:effectLst/>
              </a:rPr>
              <a:t>Impacts categories were identified:</a:t>
            </a:r>
          </a:p>
          <a:p>
            <a:pPr lvl="1" eaLnBrk="1" hangingPunct="1">
              <a:spcBef>
                <a:spcPts val="600"/>
              </a:spcBef>
              <a:defRPr/>
            </a:pPr>
            <a:r>
              <a:rPr lang="en-US" sz="2600" dirty="0">
                <a:effectLst/>
              </a:rPr>
              <a:t>Water Quality			</a:t>
            </a:r>
          </a:p>
          <a:p>
            <a:pPr lvl="1" eaLnBrk="1" hangingPunct="1">
              <a:spcBef>
                <a:spcPts val="600"/>
              </a:spcBef>
              <a:defRPr/>
            </a:pPr>
            <a:r>
              <a:rPr lang="en-US" sz="2600" dirty="0">
                <a:effectLst/>
              </a:rPr>
              <a:t>Cost</a:t>
            </a:r>
          </a:p>
          <a:p>
            <a:pPr lvl="1" eaLnBrk="1" hangingPunct="1">
              <a:spcBef>
                <a:spcPts val="600"/>
              </a:spcBef>
              <a:defRPr/>
            </a:pPr>
            <a:r>
              <a:rPr lang="en-US" sz="2600" dirty="0">
                <a:effectLst/>
              </a:rPr>
              <a:t>Main Breaks</a:t>
            </a:r>
          </a:p>
          <a:p>
            <a:pPr lvl="1" eaLnBrk="1" hangingPunct="1">
              <a:spcBef>
                <a:spcPts val="600"/>
              </a:spcBef>
              <a:defRPr/>
            </a:pPr>
            <a:r>
              <a:rPr lang="en-US" sz="2600" dirty="0">
                <a:effectLst/>
              </a:rPr>
              <a:t>Security</a:t>
            </a:r>
          </a:p>
        </p:txBody>
      </p:sp>
      <p:sp>
        <p:nvSpPr>
          <p:cNvPr id="4" name="Rectangle 3"/>
          <p:cNvSpPr txBox="1">
            <a:spLocks noChangeArrowheads="1"/>
          </p:cNvSpPr>
          <p:nvPr/>
        </p:nvSpPr>
        <p:spPr bwMode="auto">
          <a:xfrm>
            <a:off x="3886200" y="4419600"/>
            <a:ext cx="4953000" cy="2438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a:lstStyle>
          <a:p>
            <a:pPr lvl="1" eaLnBrk="1" hangingPunct="1"/>
            <a:r>
              <a:rPr lang="en-US" sz="2600" kern="0" dirty="0">
                <a:effectLst/>
              </a:rPr>
              <a:t>Customer Service</a:t>
            </a:r>
          </a:p>
          <a:p>
            <a:pPr lvl="1" eaLnBrk="1" hangingPunct="1"/>
            <a:r>
              <a:rPr lang="en-US" sz="2600" kern="0" dirty="0">
                <a:effectLst/>
              </a:rPr>
              <a:t>Infrastructure Reliability </a:t>
            </a:r>
          </a:p>
          <a:p>
            <a:pPr lvl="1" eaLnBrk="1" hangingPunct="1"/>
            <a:r>
              <a:rPr lang="en-US" sz="2600" kern="0" dirty="0">
                <a:effectLst/>
              </a:rPr>
              <a:t>Operational Practices</a:t>
            </a:r>
          </a:p>
          <a:p>
            <a:pPr lvl="1" eaLnBrk="1" hangingPunct="1"/>
            <a:r>
              <a:rPr lang="en-US" sz="2600" kern="0" dirty="0">
                <a:effectLst/>
              </a:rPr>
              <a:t>Water Quality Model Updates</a:t>
            </a:r>
          </a:p>
        </p:txBody>
      </p:sp>
    </p:spTree>
    <p:extLst>
      <p:ext uri="{BB962C8B-B14F-4D97-AF65-F5344CB8AC3E}">
        <p14:creationId xmlns:p14="http://schemas.microsoft.com/office/powerpoint/2010/main" val="26953195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rrowheads="1"/>
          </p:cNvSpPr>
          <p:nvPr>
            <p:ph type="title"/>
          </p:nvPr>
        </p:nvSpPr>
        <p:spPr>
          <a:xfrm>
            <a:off x="457200" y="152400"/>
            <a:ext cx="8229600" cy="1066800"/>
          </a:xfrm>
        </p:spPr>
        <p:txBody>
          <a:bodyPr/>
          <a:lstStyle/>
          <a:p>
            <a:pPr eaLnBrk="1" hangingPunct="1"/>
            <a:r>
              <a:rPr lang="en-US" dirty="0">
                <a:solidFill>
                  <a:schemeClr val="hlink"/>
                </a:solidFill>
                <a:effectLst/>
                <a:latin typeface="Arial" charset="0"/>
              </a:rPr>
              <a:t>DSOP Findings - PLFs</a:t>
            </a:r>
          </a:p>
        </p:txBody>
      </p:sp>
      <p:sp>
        <p:nvSpPr>
          <p:cNvPr id="21507" name="Rectangle 3"/>
          <p:cNvSpPr>
            <a:spLocks noGrp="1" noChangeArrowheads="1"/>
          </p:cNvSpPr>
          <p:nvPr>
            <p:ph type="body" idx="1"/>
          </p:nvPr>
        </p:nvSpPr>
        <p:spPr>
          <a:xfrm>
            <a:off x="609600" y="990600"/>
            <a:ext cx="8077200" cy="5715000"/>
          </a:xfrm>
        </p:spPr>
        <p:txBody>
          <a:bodyPr/>
          <a:lstStyle/>
          <a:p>
            <a:pPr eaLnBrk="1" hangingPunct="1">
              <a:spcBef>
                <a:spcPts val="600"/>
              </a:spcBef>
              <a:defRPr/>
            </a:pPr>
            <a:r>
              <a:rPr lang="en-US" sz="3000" dirty="0">
                <a:effectLst/>
              </a:rPr>
              <a:t>Self-assessment Process identified </a:t>
            </a:r>
            <a:r>
              <a:rPr lang="en-US" b="1" dirty="0">
                <a:effectLst/>
              </a:rPr>
              <a:t>14</a:t>
            </a:r>
            <a:r>
              <a:rPr lang="en-US" sz="3000" dirty="0">
                <a:effectLst/>
              </a:rPr>
              <a:t> PLFs </a:t>
            </a:r>
            <a:r>
              <a:rPr lang="en-US" sz="2800" dirty="0">
                <a:effectLst/>
              </a:rPr>
              <a:t>(21.5%) </a:t>
            </a:r>
            <a:r>
              <a:rPr lang="en-US" sz="3000" dirty="0">
                <a:effectLst/>
              </a:rPr>
              <a:t>and the group(s) assigned to evaluate the issue:</a:t>
            </a:r>
          </a:p>
          <a:p>
            <a:pPr marL="365760" lvl="1" indent="-182880" eaLnBrk="1" hangingPunct="1">
              <a:spcBef>
                <a:spcPts val="0"/>
              </a:spcBef>
              <a:buClr>
                <a:srgbClr val="FFC000"/>
              </a:buClr>
              <a:defRPr/>
            </a:pPr>
            <a:r>
              <a:rPr lang="en-US" dirty="0">
                <a:effectLst/>
              </a:rPr>
              <a:t> 1- Disinfectant Residual		</a:t>
            </a:r>
            <a:r>
              <a:rPr lang="en-US" sz="2000" dirty="0">
                <a:effectLst/>
              </a:rPr>
              <a:t>BLS, WT, WC</a:t>
            </a:r>
          </a:p>
          <a:p>
            <a:pPr marL="365760" lvl="1" indent="-182880" eaLnBrk="1" hangingPunct="1">
              <a:spcBef>
                <a:spcPts val="0"/>
              </a:spcBef>
              <a:buClr>
                <a:srgbClr val="FFC000"/>
              </a:buClr>
              <a:defRPr/>
            </a:pPr>
            <a:r>
              <a:rPr lang="en-US" dirty="0">
                <a:effectLst/>
              </a:rPr>
              <a:t> 2- Main Break Management		</a:t>
            </a:r>
            <a:r>
              <a:rPr lang="en-US" sz="2000" dirty="0">
                <a:effectLst/>
              </a:rPr>
              <a:t>P&amp;R, LdC</a:t>
            </a:r>
          </a:p>
          <a:p>
            <a:pPr marL="365760" lvl="1" indent="-182880" eaLnBrk="1" hangingPunct="1">
              <a:spcBef>
                <a:spcPts val="0"/>
              </a:spcBef>
              <a:buClr>
                <a:srgbClr val="FFC000"/>
              </a:buClr>
              <a:defRPr/>
            </a:pPr>
            <a:r>
              <a:rPr lang="en-US" dirty="0">
                <a:effectLst/>
              </a:rPr>
              <a:t> 1- Flushing				</a:t>
            </a:r>
            <a:r>
              <a:rPr lang="en-US" sz="2000" dirty="0">
                <a:effectLst/>
              </a:rPr>
              <a:t>WC</a:t>
            </a:r>
          </a:p>
          <a:p>
            <a:pPr marL="365760" lvl="1" indent="-182880" eaLnBrk="1" hangingPunct="1">
              <a:spcBef>
                <a:spcPts val="0"/>
              </a:spcBef>
              <a:buClr>
                <a:srgbClr val="FFC000"/>
              </a:buClr>
              <a:defRPr/>
            </a:pPr>
            <a:r>
              <a:rPr lang="en-US" dirty="0">
                <a:effectLst/>
              </a:rPr>
              <a:t> 2- Maintain Valves, Hydrants		</a:t>
            </a:r>
            <a:r>
              <a:rPr lang="en-US" sz="2000" dirty="0">
                <a:effectLst/>
              </a:rPr>
              <a:t>WC</a:t>
            </a:r>
          </a:p>
          <a:p>
            <a:pPr marL="365760" lvl="1" indent="-182880" eaLnBrk="1" hangingPunct="1">
              <a:spcBef>
                <a:spcPts val="0"/>
              </a:spcBef>
              <a:buClr>
                <a:srgbClr val="FFC000"/>
              </a:buClr>
              <a:defRPr/>
            </a:pPr>
            <a:r>
              <a:rPr lang="en-US" dirty="0">
                <a:effectLst/>
              </a:rPr>
              <a:t> 1- Internal Corrosion Control		</a:t>
            </a:r>
            <a:r>
              <a:rPr lang="en-US" sz="2000" dirty="0">
                <a:effectLst/>
              </a:rPr>
              <a:t>WC, P&amp;R</a:t>
            </a:r>
          </a:p>
          <a:p>
            <a:pPr marL="365760" lvl="1" indent="-182880" eaLnBrk="1" hangingPunct="1">
              <a:spcBef>
                <a:spcPts val="0"/>
              </a:spcBef>
              <a:buClr>
                <a:srgbClr val="FFC000"/>
              </a:buClr>
              <a:defRPr/>
            </a:pPr>
            <a:r>
              <a:rPr lang="en-US" dirty="0">
                <a:effectLst/>
              </a:rPr>
              <a:t> 1- Nitrification Control		</a:t>
            </a:r>
            <a:r>
              <a:rPr lang="en-US" sz="2000" dirty="0">
                <a:effectLst/>
              </a:rPr>
              <a:t>BLS</a:t>
            </a:r>
          </a:p>
          <a:p>
            <a:pPr marL="365760" lvl="1" indent="-182880" eaLnBrk="1" hangingPunct="1">
              <a:spcBef>
                <a:spcPts val="0"/>
              </a:spcBef>
              <a:buClr>
                <a:srgbClr val="FFC000"/>
              </a:buClr>
              <a:defRPr/>
            </a:pPr>
            <a:r>
              <a:rPr lang="en-US" dirty="0">
                <a:effectLst/>
              </a:rPr>
              <a:t> 3- Post Precipitation Control		</a:t>
            </a:r>
            <a:r>
              <a:rPr lang="en-US" sz="2000" dirty="0">
                <a:effectLst/>
              </a:rPr>
              <a:t>BLS, WT, P&amp;R, WC</a:t>
            </a:r>
          </a:p>
          <a:p>
            <a:pPr marL="365760" lvl="1" indent="-182880" eaLnBrk="1" hangingPunct="1">
              <a:spcBef>
                <a:spcPts val="0"/>
              </a:spcBef>
              <a:buClr>
                <a:srgbClr val="FFC000"/>
              </a:buClr>
              <a:defRPr/>
            </a:pPr>
            <a:r>
              <a:rPr lang="en-US" dirty="0">
                <a:effectLst/>
              </a:rPr>
              <a:t> 1- Security, E-Management		</a:t>
            </a:r>
            <a:r>
              <a:rPr lang="en-US" sz="2000" dirty="0">
                <a:effectLst/>
              </a:rPr>
              <a:t>LdC, WT</a:t>
            </a:r>
          </a:p>
          <a:p>
            <a:pPr marL="365760" lvl="1" indent="-182880" eaLnBrk="1" hangingPunct="1">
              <a:spcBef>
                <a:spcPts val="0"/>
              </a:spcBef>
              <a:buClr>
                <a:srgbClr val="FFC000"/>
              </a:buClr>
              <a:defRPr/>
            </a:pPr>
            <a:r>
              <a:rPr lang="en-US" dirty="0">
                <a:effectLst/>
              </a:rPr>
              <a:t> 1- Water Age Management		</a:t>
            </a:r>
            <a:r>
              <a:rPr lang="en-US" sz="2000" dirty="0">
                <a:effectLst/>
              </a:rPr>
              <a:t>BLS</a:t>
            </a:r>
          </a:p>
          <a:p>
            <a:pPr marL="365760" lvl="1" indent="-182880" eaLnBrk="1" hangingPunct="1">
              <a:spcBef>
                <a:spcPts val="0"/>
              </a:spcBef>
              <a:buClr>
                <a:srgbClr val="FFC000"/>
              </a:buClr>
              <a:defRPr/>
            </a:pPr>
            <a:r>
              <a:rPr lang="en-US" dirty="0">
                <a:effectLst/>
              </a:rPr>
              <a:t> 1- Chapter 4 – Update Model		</a:t>
            </a:r>
            <a:r>
              <a:rPr lang="en-US" sz="2000" dirty="0">
                <a:effectLst/>
              </a:rPr>
              <a:t>LdC </a:t>
            </a:r>
            <a:r>
              <a:rPr lang="en-US" dirty="0">
                <a:effectLst/>
              </a:rPr>
              <a:t>		</a:t>
            </a:r>
          </a:p>
          <a:p>
            <a:pPr lvl="1" eaLnBrk="1" hangingPunct="1">
              <a:defRPr/>
            </a:pPr>
            <a:endParaRPr lang="en-US" dirty="0">
              <a:effectLst/>
            </a:endParaRPr>
          </a:p>
          <a:p>
            <a:pPr lvl="1" eaLnBrk="1" hangingPunct="1">
              <a:defRPr/>
            </a:pPr>
            <a:endParaRPr lang="en-US" dirty="0">
              <a:effectLst/>
            </a:endParaRPr>
          </a:p>
          <a:p>
            <a:pPr marL="0" indent="0" eaLnBrk="1" hangingPunct="1">
              <a:buNone/>
              <a:defRPr/>
            </a:pPr>
            <a:endParaRPr lang="en-US" dirty="0">
              <a:effectLst/>
            </a:endParaRPr>
          </a:p>
          <a:p>
            <a:pPr eaLnBrk="1" hangingPunct="1">
              <a:defRPr/>
            </a:pPr>
            <a:endParaRPr lang="en-US" dirty="0">
              <a:effectLst/>
            </a:endParaRPr>
          </a:p>
          <a:p>
            <a:pPr eaLnBrk="1" hangingPunct="1">
              <a:defRPr/>
            </a:pPr>
            <a:endParaRPr lang="en-US" dirty="0">
              <a:effectLst/>
            </a:endParaRPr>
          </a:p>
          <a:p>
            <a:pPr eaLnBrk="1" hangingPunct="1">
              <a:buFont typeface="Wingdings" pitchFamily="2" charset="2"/>
              <a:buNone/>
              <a:defRPr/>
            </a:pP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rrowheads="1"/>
          </p:cNvSpPr>
          <p:nvPr>
            <p:ph type="title"/>
          </p:nvPr>
        </p:nvSpPr>
        <p:spPr>
          <a:xfrm>
            <a:off x="457200" y="152400"/>
            <a:ext cx="8229600" cy="1143000"/>
          </a:xfrm>
        </p:spPr>
        <p:txBody>
          <a:bodyPr/>
          <a:lstStyle/>
          <a:p>
            <a:pPr eaLnBrk="1" hangingPunct="1"/>
            <a:r>
              <a:rPr lang="en-US" dirty="0">
                <a:solidFill>
                  <a:schemeClr val="hlink"/>
                </a:solidFill>
                <a:effectLst/>
                <a:latin typeface="Arial" charset="0"/>
              </a:rPr>
              <a:t>PLF – Nitrification Control</a:t>
            </a:r>
          </a:p>
        </p:txBody>
      </p:sp>
      <p:sp>
        <p:nvSpPr>
          <p:cNvPr id="21507" name="Rectangle 3"/>
          <p:cNvSpPr>
            <a:spLocks noGrp="1" noChangeArrowheads="1"/>
          </p:cNvSpPr>
          <p:nvPr>
            <p:ph type="body" sz="half" idx="1"/>
          </p:nvPr>
        </p:nvSpPr>
        <p:spPr>
          <a:xfrm>
            <a:off x="381000" y="4114800"/>
            <a:ext cx="8458200" cy="2514600"/>
          </a:xfrm>
        </p:spPr>
        <p:txBody>
          <a:bodyPr/>
          <a:lstStyle/>
          <a:p>
            <a:pPr eaLnBrk="1" hangingPunct="1">
              <a:spcBef>
                <a:spcPts val="600"/>
              </a:spcBef>
              <a:defRPr/>
            </a:pPr>
            <a:r>
              <a:rPr lang="en-US" sz="3000" dirty="0">
                <a:effectLst/>
              </a:rPr>
              <a:t>Optimized and Documented in regards to:</a:t>
            </a:r>
          </a:p>
          <a:p>
            <a:pPr lvl="1" eaLnBrk="1" hangingPunct="1">
              <a:spcBef>
                <a:spcPts val="600"/>
              </a:spcBef>
              <a:defRPr/>
            </a:pPr>
            <a:r>
              <a:rPr lang="en-US" sz="2600" dirty="0">
                <a:effectLst/>
              </a:rPr>
              <a:t>routinely monitoring for free ammonia, nitrite, and HPC</a:t>
            </a:r>
          </a:p>
          <a:p>
            <a:pPr lvl="1" eaLnBrk="1" hangingPunct="1">
              <a:spcBef>
                <a:spcPts val="600"/>
              </a:spcBef>
              <a:defRPr/>
            </a:pPr>
            <a:r>
              <a:rPr lang="en-US" sz="2600" dirty="0">
                <a:effectLst/>
              </a:rPr>
              <a:t>establishing action levels associated with nitrification</a:t>
            </a:r>
          </a:p>
          <a:p>
            <a:pPr eaLnBrk="1" hangingPunct="1">
              <a:spcBef>
                <a:spcPts val="600"/>
              </a:spcBef>
              <a:defRPr/>
            </a:pPr>
            <a:r>
              <a:rPr lang="en-US" sz="3000" dirty="0">
                <a:effectLst/>
              </a:rPr>
              <a:t>Partially Optimized in regards to:</a:t>
            </a:r>
          </a:p>
          <a:p>
            <a:pPr lvl="1" eaLnBrk="1" hangingPunct="1">
              <a:spcBef>
                <a:spcPts val="600"/>
              </a:spcBef>
              <a:defRPr/>
            </a:pPr>
            <a:r>
              <a:rPr lang="en-US" sz="2600" dirty="0">
                <a:effectLst/>
              </a:rPr>
              <a:t>maintaining Cl</a:t>
            </a:r>
            <a:r>
              <a:rPr lang="en-US" sz="2600" baseline="-25000" dirty="0">
                <a:effectLst/>
              </a:rPr>
              <a:t>2</a:t>
            </a:r>
            <a:r>
              <a:rPr lang="en-US" sz="2600" dirty="0">
                <a:effectLst/>
              </a:rPr>
              <a:t> residual &gt; 0.5 mg/L</a:t>
            </a:r>
          </a:p>
        </p:txBody>
      </p:sp>
      <p:graphicFrame>
        <p:nvGraphicFramePr>
          <p:cNvPr id="9" name="Content Placeholder 8"/>
          <p:cNvGraphicFramePr>
            <a:graphicFrameLocks noGrp="1"/>
          </p:cNvGraphicFramePr>
          <p:nvPr>
            <p:ph sz="half" idx="2"/>
            <p:extLst>
              <p:ext uri="{D42A27DB-BD31-4B8C-83A1-F6EECF244321}">
                <p14:modId xmlns:p14="http://schemas.microsoft.com/office/powerpoint/2010/main" val="2162233703"/>
              </p:ext>
            </p:extLst>
          </p:nvPr>
        </p:nvGraphicFramePr>
        <p:xfrm>
          <a:off x="152400" y="1143000"/>
          <a:ext cx="8839200" cy="3015048"/>
        </p:xfrm>
        <a:graphic>
          <a:graphicData uri="http://schemas.openxmlformats.org/drawingml/2006/table">
            <a:tbl>
              <a:tblPr/>
              <a:tblGrid>
                <a:gridCol w="1053181">
                  <a:extLst>
                    <a:ext uri="{9D8B030D-6E8A-4147-A177-3AD203B41FA5}">
                      <a16:colId xmlns:a16="http://schemas.microsoft.com/office/drawing/2014/main" val="20000"/>
                    </a:ext>
                  </a:extLst>
                </a:gridCol>
                <a:gridCol w="3197156">
                  <a:extLst>
                    <a:ext uri="{9D8B030D-6E8A-4147-A177-3AD203B41FA5}">
                      <a16:colId xmlns:a16="http://schemas.microsoft.com/office/drawing/2014/main" val="20001"/>
                    </a:ext>
                  </a:extLst>
                </a:gridCol>
                <a:gridCol w="331471">
                  <a:extLst>
                    <a:ext uri="{9D8B030D-6E8A-4147-A177-3AD203B41FA5}">
                      <a16:colId xmlns:a16="http://schemas.microsoft.com/office/drawing/2014/main" val="20002"/>
                    </a:ext>
                  </a:extLst>
                </a:gridCol>
                <a:gridCol w="331471">
                  <a:extLst>
                    <a:ext uri="{9D8B030D-6E8A-4147-A177-3AD203B41FA5}">
                      <a16:colId xmlns:a16="http://schemas.microsoft.com/office/drawing/2014/main" val="20003"/>
                    </a:ext>
                  </a:extLst>
                </a:gridCol>
                <a:gridCol w="342464">
                  <a:extLst>
                    <a:ext uri="{9D8B030D-6E8A-4147-A177-3AD203B41FA5}">
                      <a16:colId xmlns:a16="http://schemas.microsoft.com/office/drawing/2014/main" val="20004"/>
                    </a:ext>
                  </a:extLst>
                </a:gridCol>
                <a:gridCol w="299320">
                  <a:extLst>
                    <a:ext uri="{9D8B030D-6E8A-4147-A177-3AD203B41FA5}">
                      <a16:colId xmlns:a16="http://schemas.microsoft.com/office/drawing/2014/main" val="20005"/>
                    </a:ext>
                  </a:extLst>
                </a:gridCol>
                <a:gridCol w="310312">
                  <a:extLst>
                    <a:ext uri="{9D8B030D-6E8A-4147-A177-3AD203B41FA5}">
                      <a16:colId xmlns:a16="http://schemas.microsoft.com/office/drawing/2014/main" val="20006"/>
                    </a:ext>
                  </a:extLst>
                </a:gridCol>
                <a:gridCol w="310312">
                  <a:extLst>
                    <a:ext uri="{9D8B030D-6E8A-4147-A177-3AD203B41FA5}">
                      <a16:colId xmlns:a16="http://schemas.microsoft.com/office/drawing/2014/main" val="20007"/>
                    </a:ext>
                  </a:extLst>
                </a:gridCol>
                <a:gridCol w="639431">
                  <a:extLst>
                    <a:ext uri="{9D8B030D-6E8A-4147-A177-3AD203B41FA5}">
                      <a16:colId xmlns:a16="http://schemas.microsoft.com/office/drawing/2014/main" val="20008"/>
                    </a:ext>
                  </a:extLst>
                </a:gridCol>
                <a:gridCol w="669993">
                  <a:extLst>
                    <a:ext uri="{9D8B030D-6E8A-4147-A177-3AD203B41FA5}">
                      <a16:colId xmlns:a16="http://schemas.microsoft.com/office/drawing/2014/main" val="20009"/>
                    </a:ext>
                  </a:extLst>
                </a:gridCol>
                <a:gridCol w="1354089">
                  <a:extLst>
                    <a:ext uri="{9D8B030D-6E8A-4147-A177-3AD203B41FA5}">
                      <a16:colId xmlns:a16="http://schemas.microsoft.com/office/drawing/2014/main" val="20010"/>
                    </a:ext>
                  </a:extLst>
                </a:gridCol>
              </a:tblGrid>
              <a:tr h="169006">
                <a:tc rowSpan="2">
                  <a:txBody>
                    <a:bodyPr/>
                    <a:lstStyle/>
                    <a:p>
                      <a:pPr algn="ctr" fontAlgn="ctr"/>
                      <a:r>
                        <a:rPr lang="en-US" sz="1100" b="1" i="0" u="none" strike="noStrike" dirty="0">
                          <a:solidFill>
                            <a:srgbClr val="000000"/>
                          </a:solidFill>
                          <a:effectLst/>
                          <a:latin typeface="Times New Roman"/>
                        </a:rPr>
                        <a:t>Self-assessment Category</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rowSpan="2">
                  <a:txBody>
                    <a:bodyPr/>
                    <a:lstStyle/>
                    <a:p>
                      <a:pPr algn="ctr" fontAlgn="ctr"/>
                      <a:r>
                        <a:rPr lang="en-US" sz="1100" b="1" i="0" u="none" strike="noStrike" dirty="0">
                          <a:solidFill>
                            <a:srgbClr val="000000"/>
                          </a:solidFill>
                          <a:effectLst/>
                          <a:latin typeface="Times New Roman"/>
                        </a:rPr>
                        <a:t>Questions for Gauging Optimization</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gridSpan="3">
                  <a:txBody>
                    <a:bodyPr/>
                    <a:lstStyle/>
                    <a:p>
                      <a:pPr algn="ctr" fontAlgn="ctr"/>
                      <a:r>
                        <a:rPr lang="en-US" sz="800" b="1" i="0" u="none" strike="noStrike" dirty="0">
                          <a:solidFill>
                            <a:srgbClr val="000000"/>
                          </a:solidFill>
                          <a:effectLst/>
                          <a:latin typeface="Times New Roman"/>
                        </a:rPr>
                        <a:t>Response</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dirty="0">
                          <a:solidFill>
                            <a:srgbClr val="000000"/>
                          </a:solidFill>
                          <a:effectLst/>
                          <a:latin typeface="Times New Roman"/>
                        </a:rPr>
                        <a:t>Prioritization</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rowSpan="2">
                  <a:txBody>
                    <a:bodyPr/>
                    <a:lstStyle/>
                    <a:p>
                      <a:pPr algn="ctr" fontAlgn="ctr"/>
                      <a:r>
                        <a:rPr lang="en-US" sz="800" b="1" i="0" u="none" strike="noStrike" dirty="0">
                          <a:solidFill>
                            <a:srgbClr val="000000"/>
                          </a:solidFill>
                          <a:effectLst/>
                          <a:latin typeface="Times New Roman"/>
                        </a:rPr>
                        <a:t>Assigned Group(s)                         </a:t>
                      </a:r>
                      <a:r>
                        <a:rPr lang="en-US" sz="800" b="0" i="0" u="none" strike="noStrike" dirty="0">
                          <a:solidFill>
                            <a:srgbClr val="000000"/>
                          </a:solidFill>
                          <a:effectLst/>
                          <a:latin typeface="Times New Roman"/>
                        </a:rPr>
                        <a:t>(preliminary)</a:t>
                      </a:r>
                      <a:endParaRPr lang="en-US" sz="800" b="1" i="0" u="none" strike="noStrike" dirty="0">
                        <a:solidFill>
                          <a:srgbClr val="000000"/>
                        </a:solidFill>
                        <a:effectLst/>
                        <a:latin typeface="Times New Roman"/>
                      </a:endParaRP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rowSpan="2">
                  <a:txBody>
                    <a:bodyPr/>
                    <a:lstStyle/>
                    <a:p>
                      <a:pPr algn="ctr" fontAlgn="ctr"/>
                      <a:r>
                        <a:rPr lang="en-US" sz="800" b="1" i="0" u="none" strike="noStrike" dirty="0">
                          <a:solidFill>
                            <a:srgbClr val="000000"/>
                          </a:solidFill>
                          <a:effectLst/>
                          <a:latin typeface="Times New Roman"/>
                        </a:rPr>
                        <a:t>Impacts         </a:t>
                      </a:r>
                      <a:r>
                        <a:rPr lang="en-US" sz="800" b="0" i="0" u="none" strike="noStrike" dirty="0">
                          <a:solidFill>
                            <a:srgbClr val="000000"/>
                          </a:solidFill>
                          <a:effectLst/>
                          <a:latin typeface="Times New Roman"/>
                        </a:rPr>
                        <a:t>  (preliminary)</a:t>
                      </a:r>
                      <a:endParaRPr lang="en-US" sz="800" b="1" i="0" u="none" strike="noStrike" dirty="0">
                        <a:solidFill>
                          <a:srgbClr val="000000"/>
                        </a:solidFill>
                        <a:effectLst/>
                        <a:latin typeface="Times New Roman"/>
                      </a:endParaRP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rowSpan="2">
                  <a:txBody>
                    <a:bodyPr/>
                    <a:lstStyle/>
                    <a:p>
                      <a:pPr algn="ctr" fontAlgn="ctr"/>
                      <a:r>
                        <a:rPr lang="en-US" sz="900" b="1" i="0" u="none" strike="noStrike" dirty="0">
                          <a:solidFill>
                            <a:srgbClr val="000000"/>
                          </a:solidFill>
                          <a:effectLst/>
                          <a:latin typeface="Times New Roman"/>
                        </a:rPr>
                        <a:t>PLF Comments</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1280082">
                <a:tc vMerge="1">
                  <a:txBody>
                    <a:bodyPr/>
                    <a:lstStyle/>
                    <a:p>
                      <a:endParaRPr lang="en-US"/>
                    </a:p>
                  </a:txBody>
                  <a:tcPr/>
                </a:tc>
                <a:tc vMerge="1">
                  <a:txBody>
                    <a:bodyPr/>
                    <a:lstStyle/>
                    <a:p>
                      <a:endParaRPr lang="en-US"/>
                    </a:p>
                  </a:txBody>
                  <a:tcPr/>
                </a:tc>
                <a:tc>
                  <a:txBody>
                    <a:bodyPr/>
                    <a:lstStyle/>
                    <a:p>
                      <a:pPr algn="ctr" fontAlgn="ctr"/>
                      <a:r>
                        <a:rPr lang="en-US" sz="800" b="1" i="0" u="none" strike="noStrike">
                          <a:solidFill>
                            <a:srgbClr val="000000"/>
                          </a:solidFill>
                          <a:effectLst/>
                          <a:latin typeface="Times New Roman"/>
                        </a:rPr>
                        <a:t>Not Optimized</a:t>
                      </a:r>
                    </a:p>
                  </a:txBody>
                  <a:tcPr marL="3226" marR="3226" marT="3226"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algn="ctr" fontAlgn="ctr"/>
                      <a:r>
                        <a:rPr lang="en-US" sz="800" b="1" i="0" u="none" strike="noStrike" dirty="0">
                          <a:solidFill>
                            <a:srgbClr val="000000"/>
                          </a:solidFill>
                          <a:effectLst/>
                          <a:latin typeface="Times New Roman"/>
                        </a:rPr>
                        <a:t>Partially Optimized</a:t>
                      </a:r>
                    </a:p>
                  </a:txBody>
                  <a:tcPr marL="3226" marR="3226" marT="3226"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algn="ctr" fontAlgn="ctr"/>
                      <a:r>
                        <a:rPr lang="en-US" sz="800" b="1" i="0" u="none" strike="noStrike" dirty="0">
                          <a:solidFill>
                            <a:srgbClr val="000000"/>
                          </a:solidFill>
                          <a:effectLst/>
                          <a:latin typeface="Times New Roman"/>
                        </a:rPr>
                        <a:t>Optimized and Documented</a:t>
                      </a:r>
                    </a:p>
                  </a:txBody>
                  <a:tcPr marL="3226" marR="3226" marT="3226"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800" b="1" i="0" u="none" strike="noStrike" dirty="0">
                          <a:solidFill>
                            <a:srgbClr val="000000"/>
                          </a:solidFill>
                          <a:effectLst/>
                          <a:latin typeface="Times New Roman"/>
                        </a:rPr>
                        <a:t>Impact</a:t>
                      </a:r>
                    </a:p>
                  </a:txBody>
                  <a:tcPr marL="3226" marR="3226" marT="3226"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1" i="0" u="none" strike="noStrike" dirty="0">
                          <a:solidFill>
                            <a:srgbClr val="000000"/>
                          </a:solidFill>
                          <a:effectLst/>
                          <a:latin typeface="Times New Roman"/>
                        </a:rPr>
                        <a:t>Urgency  </a:t>
                      </a:r>
                    </a:p>
                  </a:txBody>
                  <a:tcPr marL="3226" marR="3226" marT="3226"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1" i="0" u="none" strike="noStrike" dirty="0">
                          <a:solidFill>
                            <a:srgbClr val="000000"/>
                          </a:solidFill>
                          <a:effectLst/>
                          <a:latin typeface="Times New Roman"/>
                        </a:rPr>
                        <a:t>Priority Total</a:t>
                      </a:r>
                    </a:p>
                  </a:txBody>
                  <a:tcPr marL="3226" marR="3226" marT="3226"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227312">
                <a:tc gridSpan="5">
                  <a:txBody>
                    <a:bodyPr/>
                    <a:lstStyle/>
                    <a:p>
                      <a:pPr algn="ctr" fontAlgn="ctr"/>
                      <a:r>
                        <a:rPr lang="en-US" sz="400" b="0" i="0" u="none" strike="noStrike" dirty="0">
                          <a:solidFill>
                            <a:srgbClr val="000000"/>
                          </a:solidFill>
                          <a:effectLst/>
                          <a:latin typeface="Times New Roman"/>
                        </a:rPr>
                        <a:t> </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800" b="1" i="0" u="none" strike="noStrike" dirty="0">
                          <a:solidFill>
                            <a:srgbClr val="000000"/>
                          </a:solidFill>
                          <a:effectLst/>
                          <a:latin typeface="Times New Roman"/>
                        </a:rPr>
                        <a:t>1 - 5</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800" b="1" i="0" u="none" strike="noStrike" dirty="0">
                          <a:solidFill>
                            <a:srgbClr val="000000"/>
                          </a:solidFill>
                          <a:effectLst/>
                          <a:latin typeface="Times New Roman"/>
                        </a:rPr>
                        <a:t>1-2-3</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800" b="1" i="0" u="none" strike="noStrike" dirty="0">
                          <a:solidFill>
                            <a:srgbClr val="000000"/>
                          </a:solidFill>
                          <a:effectLst/>
                          <a:latin typeface="Times New Roman"/>
                        </a:rPr>
                        <a:t>Total</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gridSpan="2">
                  <a:txBody>
                    <a:bodyPr/>
                    <a:lstStyle/>
                    <a:p>
                      <a:pPr algn="ctr" fontAlgn="ctr"/>
                      <a:r>
                        <a:rPr lang="en-US" sz="400" b="0" i="0" u="none" strike="noStrike" dirty="0">
                          <a:solidFill>
                            <a:srgbClr val="000000"/>
                          </a:solidFill>
                          <a:effectLst/>
                          <a:latin typeface="Calibri"/>
                        </a:rPr>
                        <a:t> </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a:txBody>
                    <a:bodyPr/>
                    <a:lstStyle/>
                    <a:p>
                      <a:pPr algn="l" fontAlgn="b"/>
                      <a:r>
                        <a:rPr lang="en-US" sz="400" b="0" i="0" u="none" strike="noStrike">
                          <a:solidFill>
                            <a:srgbClr val="000000"/>
                          </a:solidFill>
                          <a:effectLst/>
                          <a:latin typeface="Calibri"/>
                        </a:rPr>
                        <a:t> </a:t>
                      </a:r>
                    </a:p>
                  </a:txBody>
                  <a:tcPr marL="3226" marR="3226" marT="322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2"/>
                  </a:ext>
                </a:extLst>
              </a:tr>
              <a:tr h="317928">
                <a:tc gridSpan="5">
                  <a:txBody>
                    <a:bodyPr/>
                    <a:lstStyle/>
                    <a:p>
                      <a:pPr algn="ctr" fontAlgn="ctr"/>
                      <a:r>
                        <a:rPr lang="en-US" sz="1200" b="1" i="0" u="none" strike="noStrike" dirty="0">
                          <a:solidFill>
                            <a:srgbClr val="000000"/>
                          </a:solidFill>
                          <a:effectLst/>
                          <a:latin typeface="Times New Roman"/>
                        </a:rPr>
                        <a:t>Nitrification Control</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fontAlgn="b"/>
                      <a:r>
                        <a:rPr lang="en-US" sz="400" b="0" i="0" u="none" strike="noStrike" dirty="0">
                          <a:solidFill>
                            <a:srgbClr val="000000"/>
                          </a:solidFill>
                          <a:effectLst/>
                          <a:latin typeface="Calibri"/>
                        </a:rPr>
                        <a:t> </a:t>
                      </a:r>
                    </a:p>
                  </a:txBody>
                  <a:tcPr marL="3226" marR="3226" marT="322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gridSpan="2">
                  <a:txBody>
                    <a:bodyPr/>
                    <a:lstStyle/>
                    <a:p>
                      <a:pPr algn="ctr" fontAlgn="b"/>
                      <a:r>
                        <a:rPr lang="en-US" sz="300" b="0" i="0" u="none" strike="noStrike" dirty="0">
                          <a:solidFill>
                            <a:srgbClr val="000000"/>
                          </a:solidFill>
                          <a:effectLst/>
                          <a:latin typeface="Times New Roman"/>
                        </a:rPr>
                        <a:t> </a:t>
                      </a:r>
                    </a:p>
                  </a:txBody>
                  <a:tcPr marL="3226" marR="3226" marT="322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a:txBody>
                    <a:bodyPr/>
                    <a:lstStyle/>
                    <a:p>
                      <a:pPr algn="l" fontAlgn="t"/>
                      <a:r>
                        <a:rPr lang="en-US" sz="300" b="0" i="0" u="none" strike="noStrike" dirty="0">
                          <a:solidFill>
                            <a:srgbClr val="000000"/>
                          </a:solidFill>
                          <a:effectLst/>
                          <a:latin typeface="Times New Roman"/>
                        </a:rPr>
                        <a:t> </a:t>
                      </a:r>
                    </a:p>
                  </a:txBody>
                  <a:tcPr marL="3226" marR="3226" marT="322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3"/>
                  </a:ext>
                </a:extLst>
              </a:tr>
              <a:tr h="234263">
                <a:tc gridSpan="5">
                  <a:txBody>
                    <a:bodyPr/>
                    <a:lstStyle/>
                    <a:p>
                      <a:pPr algn="ctr" fontAlgn="ctr"/>
                      <a:r>
                        <a:rPr lang="en-US" sz="1000" b="0" i="0" u="none" strike="noStrike" dirty="0">
                          <a:solidFill>
                            <a:srgbClr val="000000"/>
                          </a:solidFill>
                          <a:effectLst/>
                          <a:latin typeface="Times New Roman"/>
                        </a:rPr>
                        <a:t>(Systems that utilize chloramine disinfection)</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fontAlgn="b"/>
                      <a:r>
                        <a:rPr lang="en-US" sz="400" b="0" i="0" u="none" strike="noStrike">
                          <a:solidFill>
                            <a:srgbClr val="000000"/>
                          </a:solidFill>
                          <a:effectLst/>
                          <a:latin typeface="Calibri"/>
                        </a:rPr>
                        <a:t> </a:t>
                      </a:r>
                    </a:p>
                  </a:txBody>
                  <a:tcPr marL="3226" marR="3226" marT="322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gridSpan="2">
                  <a:txBody>
                    <a:bodyPr/>
                    <a:lstStyle/>
                    <a:p>
                      <a:pPr algn="ctr" fontAlgn="b"/>
                      <a:r>
                        <a:rPr lang="en-US" sz="300" b="0" i="0" u="none" strike="noStrike" dirty="0">
                          <a:solidFill>
                            <a:srgbClr val="000000"/>
                          </a:solidFill>
                          <a:effectLst/>
                          <a:latin typeface="Times New Roman"/>
                        </a:rPr>
                        <a:t> </a:t>
                      </a:r>
                    </a:p>
                  </a:txBody>
                  <a:tcPr marL="3226" marR="3226" marT="322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a:txBody>
                    <a:bodyPr/>
                    <a:lstStyle/>
                    <a:p>
                      <a:pPr algn="l" fontAlgn="t"/>
                      <a:r>
                        <a:rPr lang="en-US" sz="300" b="0" i="0" u="none" strike="noStrike" dirty="0">
                          <a:solidFill>
                            <a:srgbClr val="000000"/>
                          </a:solidFill>
                          <a:effectLst/>
                          <a:latin typeface="Times New Roman"/>
                        </a:rPr>
                        <a:t> </a:t>
                      </a:r>
                    </a:p>
                  </a:txBody>
                  <a:tcPr marL="3226" marR="3226" marT="3226"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4"/>
                  </a:ext>
                </a:extLst>
              </a:tr>
              <a:tr h="786457">
                <a:tc>
                  <a:txBody>
                    <a:bodyPr/>
                    <a:lstStyle/>
                    <a:p>
                      <a:pPr algn="l" fontAlgn="ctr"/>
                      <a:r>
                        <a:rPr lang="en-US" sz="1100" b="1" i="0" u="none" strike="noStrike" dirty="0">
                          <a:solidFill>
                            <a:srgbClr val="000000"/>
                          </a:solidFill>
                          <a:effectLst/>
                          <a:latin typeface="Times New Roman"/>
                        </a:rPr>
                        <a:t>Nitrification Control</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l" fontAlgn="ctr"/>
                      <a:r>
                        <a:rPr lang="en-US" sz="1000" b="0" i="0" u="none" strike="noStrike" dirty="0">
                          <a:solidFill>
                            <a:srgbClr val="000000"/>
                          </a:solidFill>
                          <a:effectLst/>
                          <a:latin typeface="Times New Roman"/>
                        </a:rPr>
                        <a:t>Are disinfectant residuals maintained &gt; 0.50 mg/L total chlorine?  Are storage tanks monitored in areas lacking circulation?  Are zone boundaries and dead ends monitored for nitrification?</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l" fontAlgn="ctr"/>
                      <a:r>
                        <a:rPr lang="en-US" sz="400" b="0" i="0" u="none" strike="noStrike" dirty="0">
                          <a:solidFill>
                            <a:srgbClr val="000000"/>
                          </a:solidFill>
                          <a:effectLst/>
                          <a:latin typeface="Times New Roman"/>
                        </a:rPr>
                        <a:t> </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algn="ctr" fontAlgn="ctr"/>
                      <a:r>
                        <a:rPr lang="en-US" sz="1200" b="0" i="0" u="none" strike="noStrike" dirty="0">
                          <a:solidFill>
                            <a:srgbClr val="000000"/>
                          </a:solidFill>
                          <a:effectLst/>
                          <a:latin typeface="Times New Roman"/>
                        </a:rPr>
                        <a:t>x</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FF"/>
                    </a:solidFill>
                  </a:tcPr>
                </a:tc>
                <a:tc>
                  <a:txBody>
                    <a:bodyPr/>
                    <a:lstStyle/>
                    <a:p>
                      <a:pPr algn="ctr" fontAlgn="ctr"/>
                      <a:r>
                        <a:rPr lang="en-US" sz="900" b="0" i="0" u="none" strike="noStrike" dirty="0">
                          <a:solidFill>
                            <a:srgbClr val="000000"/>
                          </a:solidFill>
                          <a:effectLst/>
                          <a:latin typeface="Times New Roman"/>
                        </a:rPr>
                        <a:t> </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100" b="0" i="0" u="none" strike="noStrike" dirty="0">
                          <a:solidFill>
                            <a:srgbClr val="000000"/>
                          </a:solidFill>
                          <a:effectLst/>
                          <a:latin typeface="Calibri"/>
                        </a:rPr>
                        <a:t>3</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100" b="0" i="0" u="none" strike="noStrike" dirty="0">
                          <a:solidFill>
                            <a:srgbClr val="000000"/>
                          </a:solidFill>
                          <a:effectLst/>
                          <a:latin typeface="Calibri"/>
                        </a:rPr>
                        <a:t>2</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100" b="0" i="0" u="none" strike="noStrike" dirty="0">
                          <a:solidFill>
                            <a:srgbClr val="000000"/>
                          </a:solidFill>
                          <a:effectLst/>
                          <a:latin typeface="Calibri"/>
                        </a:rPr>
                        <a:t>5</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000" b="0" i="0" u="none" strike="noStrike" dirty="0">
                          <a:solidFill>
                            <a:srgbClr val="000000"/>
                          </a:solidFill>
                          <a:effectLst/>
                          <a:latin typeface="Times New Roman"/>
                        </a:rPr>
                        <a:t>BLS</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000" b="0" i="0" u="none" strike="noStrike" dirty="0">
                          <a:solidFill>
                            <a:srgbClr val="000000"/>
                          </a:solidFill>
                          <a:effectLst/>
                          <a:latin typeface="Times New Roman"/>
                        </a:rPr>
                        <a:t>WQ</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l" fontAlgn="ctr"/>
                      <a:r>
                        <a:rPr lang="en-US" sz="1000" b="0" i="0" u="none" strike="noStrike" dirty="0">
                          <a:solidFill>
                            <a:srgbClr val="000000"/>
                          </a:solidFill>
                          <a:effectLst/>
                          <a:latin typeface="Times New Roman"/>
                        </a:rPr>
                        <a:t>Partially Optimized for chlorine residual but Optimized for monitoring of nitrification </a:t>
                      </a:r>
                    </a:p>
                  </a:txBody>
                  <a:tcPr marL="3226" marR="3226" marT="32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803446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latin typeface="Arial" panose="020B0604020202020204" pitchFamily="34" charset="0"/>
                <a:cs typeface="Arial" panose="020B0604020202020204" pitchFamily="34" charset="0"/>
              </a:rPr>
              <a:t>PWD Findings – PI</a:t>
            </a:r>
            <a:r>
              <a:rPr lang="en-US" baseline="30000" dirty="0">
                <a:solidFill>
                  <a:srgbClr val="FFC000"/>
                </a:solidFill>
                <a:latin typeface="Arial" panose="020B0604020202020204" pitchFamily="34" charset="0"/>
                <a:cs typeface="Arial" panose="020B0604020202020204" pitchFamily="34" charset="0"/>
              </a:rPr>
              <a:t>2</a:t>
            </a:r>
          </a:p>
        </p:txBody>
      </p:sp>
      <p:sp>
        <p:nvSpPr>
          <p:cNvPr id="3" name="Content Placeholder 2"/>
          <p:cNvSpPr>
            <a:spLocks noGrp="1"/>
          </p:cNvSpPr>
          <p:nvPr>
            <p:ph idx="1"/>
          </p:nvPr>
        </p:nvSpPr>
        <p:spPr>
          <a:xfrm>
            <a:off x="457200" y="1447800"/>
            <a:ext cx="8229600" cy="5029200"/>
          </a:xfrm>
        </p:spPr>
        <p:txBody>
          <a:bodyPr/>
          <a:lstStyle/>
          <a:p>
            <a:r>
              <a:rPr lang="en-US" dirty="0">
                <a:effectLst/>
              </a:rPr>
              <a:t>Self-assessment Process identified </a:t>
            </a:r>
            <a:r>
              <a:rPr lang="en-US" sz="3600" b="1" dirty="0">
                <a:effectLst/>
              </a:rPr>
              <a:t>73</a:t>
            </a:r>
            <a:r>
              <a:rPr lang="en-US" dirty="0">
                <a:effectLst/>
              </a:rPr>
              <a:t> PWD Improvement Initiatives (PI</a:t>
            </a:r>
            <a:r>
              <a:rPr lang="en-US" baseline="30000" dirty="0">
                <a:effectLst/>
              </a:rPr>
              <a:t>2</a:t>
            </a:r>
            <a:r>
              <a:rPr lang="en-US" dirty="0">
                <a:effectLst/>
              </a:rPr>
              <a:t>) and the group(s) assigned to evaluate the issue:</a:t>
            </a:r>
          </a:p>
          <a:p>
            <a:pPr lvl="1">
              <a:buClr>
                <a:srgbClr val="FFC000"/>
              </a:buClr>
            </a:pPr>
            <a:r>
              <a:rPr lang="en-US" dirty="0">
                <a:effectLst/>
              </a:rPr>
              <a:t>Water Master Plan Project Team	  	</a:t>
            </a:r>
            <a:r>
              <a:rPr lang="en-US" b="1" dirty="0">
                <a:effectLst/>
              </a:rPr>
              <a:t>9</a:t>
            </a:r>
          </a:p>
          <a:p>
            <a:pPr lvl="1">
              <a:buClr>
                <a:srgbClr val="FFC000"/>
              </a:buClr>
            </a:pPr>
            <a:r>
              <a:rPr lang="en-US" dirty="0">
                <a:effectLst/>
              </a:rPr>
              <a:t>SME statements </a:t>
            </a:r>
            <a:r>
              <a:rPr lang="en-US" sz="2400" dirty="0">
                <a:effectLst/>
              </a:rPr>
              <a:t>(NFAR) 		   	</a:t>
            </a:r>
            <a:r>
              <a:rPr lang="en-US" b="1" dirty="0">
                <a:effectLst/>
              </a:rPr>
              <a:t>7</a:t>
            </a:r>
            <a:r>
              <a:rPr lang="en-US" sz="2400" dirty="0">
                <a:effectLst/>
              </a:rPr>
              <a:t> </a:t>
            </a:r>
            <a:endParaRPr lang="en-US" dirty="0">
              <a:effectLst/>
            </a:endParaRPr>
          </a:p>
          <a:p>
            <a:pPr lvl="1">
              <a:buClr>
                <a:srgbClr val="FFC000"/>
              </a:buClr>
            </a:pPr>
            <a:r>
              <a:rPr lang="en-US" dirty="0">
                <a:effectLst/>
              </a:rPr>
              <a:t>Unit Manager Assignments 		</a:t>
            </a:r>
            <a:r>
              <a:rPr lang="en-US" b="1" dirty="0">
                <a:effectLst/>
              </a:rPr>
              <a:t>57</a:t>
            </a:r>
          </a:p>
          <a:p>
            <a:pPr marL="914400" lvl="2" indent="0">
              <a:buNone/>
            </a:pPr>
            <a:r>
              <a:rPr lang="en-US" sz="2000" dirty="0">
                <a:effectLst/>
              </a:rPr>
              <a:t>	WC – 15		BLS – 14	CA - 11</a:t>
            </a:r>
          </a:p>
          <a:p>
            <a:pPr marL="457200" lvl="1" indent="0">
              <a:buNone/>
            </a:pPr>
            <a:r>
              <a:rPr lang="en-US" dirty="0">
                <a:effectLst/>
              </a:rPr>
              <a:t>		</a:t>
            </a:r>
            <a:r>
              <a:rPr lang="en-US" sz="2000" dirty="0">
                <a:effectLst/>
              </a:rPr>
              <a:t>P&amp;R – 10	HR – 6		WT – 1	</a:t>
            </a:r>
          </a:p>
          <a:p>
            <a:pPr marL="457200" lvl="1" indent="0">
              <a:buNone/>
            </a:pPr>
            <a:r>
              <a:rPr lang="en-US" sz="2000" dirty="0">
                <a:effectLst/>
              </a:rPr>
              <a:t>	</a:t>
            </a:r>
            <a:endParaRPr lang="en-US" dirty="0">
              <a:effectLst/>
            </a:endParaRPr>
          </a:p>
          <a:p>
            <a:pPr marL="0" indent="0">
              <a:buNone/>
            </a:pPr>
            <a:r>
              <a:rPr lang="en-US" sz="2000" dirty="0"/>
              <a:t>Note: NFAR; no further action required</a:t>
            </a:r>
          </a:p>
        </p:txBody>
      </p:sp>
    </p:spTree>
    <p:extLst>
      <p:ext uri="{BB962C8B-B14F-4D97-AF65-F5344CB8AC3E}">
        <p14:creationId xmlns:p14="http://schemas.microsoft.com/office/powerpoint/2010/main" val="12578383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US" dirty="0">
                <a:solidFill>
                  <a:srgbClr val="FFC000"/>
                </a:solidFill>
                <a:latin typeface="Arial" panose="020B0604020202020204" pitchFamily="34" charset="0"/>
                <a:cs typeface="Arial" panose="020B0604020202020204" pitchFamily="34" charset="0"/>
              </a:rPr>
              <a:t>PI</a:t>
            </a:r>
            <a:r>
              <a:rPr lang="en-US" baseline="30000" dirty="0">
                <a:solidFill>
                  <a:srgbClr val="FFC000"/>
                </a:solidFill>
                <a:latin typeface="Arial" panose="020B0604020202020204" pitchFamily="34" charset="0"/>
                <a:cs typeface="Arial" panose="020B0604020202020204" pitchFamily="34" charset="0"/>
              </a:rPr>
              <a:t>2</a:t>
            </a:r>
            <a:r>
              <a:rPr lang="en-US" dirty="0">
                <a:solidFill>
                  <a:srgbClr val="FFC000"/>
                </a:solidFill>
                <a:latin typeface="Arial" panose="020B0604020202020204" pitchFamily="34" charset="0"/>
                <a:cs typeface="Arial" panose="020B0604020202020204" pitchFamily="34" charset="0"/>
              </a:rPr>
              <a:t> – Nitrification</a:t>
            </a:r>
            <a:endParaRPr lang="en-US" baseline="30000" dirty="0">
              <a:solidFill>
                <a:srgbClr val="FFC000"/>
              </a:solidFill>
              <a:latin typeface="Arial" panose="020B0604020202020204" pitchFamily="34" charset="0"/>
              <a:cs typeface="Arial" panose="020B06040202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18290442"/>
              </p:ext>
            </p:extLst>
          </p:nvPr>
        </p:nvGraphicFramePr>
        <p:xfrm>
          <a:off x="152400" y="914400"/>
          <a:ext cx="8839199" cy="3983855"/>
        </p:xfrm>
        <a:graphic>
          <a:graphicData uri="http://schemas.openxmlformats.org/drawingml/2006/table">
            <a:tbl>
              <a:tblPr/>
              <a:tblGrid>
                <a:gridCol w="1097843">
                  <a:extLst>
                    <a:ext uri="{9D8B030D-6E8A-4147-A177-3AD203B41FA5}">
                      <a16:colId xmlns:a16="http://schemas.microsoft.com/office/drawing/2014/main" val="20000"/>
                    </a:ext>
                  </a:extLst>
                </a:gridCol>
                <a:gridCol w="3098877">
                  <a:extLst>
                    <a:ext uri="{9D8B030D-6E8A-4147-A177-3AD203B41FA5}">
                      <a16:colId xmlns:a16="http://schemas.microsoft.com/office/drawing/2014/main" val="20001"/>
                    </a:ext>
                  </a:extLst>
                </a:gridCol>
                <a:gridCol w="233584">
                  <a:extLst>
                    <a:ext uri="{9D8B030D-6E8A-4147-A177-3AD203B41FA5}">
                      <a16:colId xmlns:a16="http://schemas.microsoft.com/office/drawing/2014/main" val="20002"/>
                    </a:ext>
                  </a:extLst>
                </a:gridCol>
                <a:gridCol w="233584">
                  <a:extLst>
                    <a:ext uri="{9D8B030D-6E8A-4147-A177-3AD203B41FA5}">
                      <a16:colId xmlns:a16="http://schemas.microsoft.com/office/drawing/2014/main" val="20003"/>
                    </a:ext>
                  </a:extLst>
                </a:gridCol>
                <a:gridCol w="233584">
                  <a:extLst>
                    <a:ext uri="{9D8B030D-6E8A-4147-A177-3AD203B41FA5}">
                      <a16:colId xmlns:a16="http://schemas.microsoft.com/office/drawing/2014/main" val="20004"/>
                    </a:ext>
                  </a:extLst>
                </a:gridCol>
                <a:gridCol w="233584">
                  <a:extLst>
                    <a:ext uri="{9D8B030D-6E8A-4147-A177-3AD203B41FA5}">
                      <a16:colId xmlns:a16="http://schemas.microsoft.com/office/drawing/2014/main" val="20005"/>
                    </a:ext>
                  </a:extLst>
                </a:gridCol>
                <a:gridCol w="233584">
                  <a:extLst>
                    <a:ext uri="{9D8B030D-6E8A-4147-A177-3AD203B41FA5}">
                      <a16:colId xmlns:a16="http://schemas.microsoft.com/office/drawing/2014/main" val="20006"/>
                    </a:ext>
                  </a:extLst>
                </a:gridCol>
                <a:gridCol w="233584">
                  <a:extLst>
                    <a:ext uri="{9D8B030D-6E8A-4147-A177-3AD203B41FA5}">
                      <a16:colId xmlns:a16="http://schemas.microsoft.com/office/drawing/2014/main" val="20007"/>
                    </a:ext>
                  </a:extLst>
                </a:gridCol>
                <a:gridCol w="233584">
                  <a:extLst>
                    <a:ext uri="{9D8B030D-6E8A-4147-A177-3AD203B41FA5}">
                      <a16:colId xmlns:a16="http://schemas.microsoft.com/office/drawing/2014/main" val="20008"/>
                    </a:ext>
                  </a:extLst>
                </a:gridCol>
                <a:gridCol w="233584">
                  <a:extLst>
                    <a:ext uri="{9D8B030D-6E8A-4147-A177-3AD203B41FA5}">
                      <a16:colId xmlns:a16="http://schemas.microsoft.com/office/drawing/2014/main" val="20009"/>
                    </a:ext>
                  </a:extLst>
                </a:gridCol>
                <a:gridCol w="335405">
                  <a:extLst>
                    <a:ext uri="{9D8B030D-6E8A-4147-A177-3AD203B41FA5}">
                      <a16:colId xmlns:a16="http://schemas.microsoft.com/office/drawing/2014/main" val="20010"/>
                    </a:ext>
                  </a:extLst>
                </a:gridCol>
                <a:gridCol w="2438402">
                  <a:extLst>
                    <a:ext uri="{9D8B030D-6E8A-4147-A177-3AD203B41FA5}">
                      <a16:colId xmlns:a16="http://schemas.microsoft.com/office/drawing/2014/main" val="20011"/>
                    </a:ext>
                  </a:extLst>
                </a:gridCol>
              </a:tblGrid>
              <a:tr h="280466">
                <a:tc rowSpan="2">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Performance Improvement Variable                                                           (Self-assessment Category)          </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rowSpan="2">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Subject Matter Experts Comments                                                                                                               PWD Improvement Initiatives (PI</a:t>
                      </a:r>
                      <a:r>
                        <a:rPr lang="en-US" sz="1100" b="1" i="0" u="none" strike="noStrike" baseline="30000" dirty="0">
                          <a:solidFill>
                            <a:srgbClr val="000000"/>
                          </a:solidFill>
                          <a:effectLst/>
                          <a:latin typeface="Times New Roman" panose="02020603050405020304" pitchFamily="18" charset="0"/>
                          <a:cs typeface="Times New Roman" panose="02020603050405020304" pitchFamily="18" charset="0"/>
                        </a:rPr>
                        <a:t>2</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gridSpan="3">
                  <a:txBody>
                    <a:bodyPr/>
                    <a:lstStyle/>
                    <a:p>
                      <a:pPr algn="ctr" fontAlgn="ctr"/>
                      <a:r>
                        <a:rPr lang="en-US" sz="900" b="1" i="0" u="none" strike="noStrike" dirty="0">
                          <a:solidFill>
                            <a:srgbClr val="000000"/>
                          </a:solidFill>
                          <a:effectLst/>
                          <a:latin typeface="Times New Roman" pitchFamily="18" charset="0"/>
                          <a:cs typeface="Times New Roman" pitchFamily="18" charset="0"/>
                        </a:rPr>
                        <a:t>PLF Category</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gridSpan="3">
                  <a:txBody>
                    <a:bodyPr/>
                    <a:lstStyle/>
                    <a:p>
                      <a:pPr algn="ctr" fontAlgn="ctr"/>
                      <a:r>
                        <a:rPr lang="en-US" sz="900" b="1" i="0" u="none" strike="noStrike" dirty="0">
                          <a:solidFill>
                            <a:srgbClr val="000000"/>
                          </a:solidFill>
                          <a:effectLst/>
                          <a:latin typeface="Times New Roman" pitchFamily="18" charset="0"/>
                          <a:cs typeface="Times New Roman" pitchFamily="18" charset="0"/>
                        </a:rPr>
                        <a:t>Priority</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gridSpan="3">
                  <a:txBody>
                    <a:bodyPr/>
                    <a:lstStyle/>
                    <a:p>
                      <a:pPr algn="ctr" fontAlgn="ctr"/>
                      <a:r>
                        <a:rPr lang="en-US" sz="900" b="1" i="0" u="none" strike="noStrike" dirty="0">
                          <a:solidFill>
                            <a:srgbClr val="000000"/>
                          </a:solidFill>
                          <a:effectLst/>
                          <a:latin typeface="Times New Roman" pitchFamily="18" charset="0"/>
                          <a:cs typeface="Times New Roman" pitchFamily="18" charset="0"/>
                        </a:rPr>
                        <a:t>Time Frame</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hMerge="1">
                  <a:txBody>
                    <a:bodyPr/>
                    <a:lstStyle/>
                    <a:p>
                      <a:endParaRPr lang="en-US"/>
                    </a:p>
                  </a:txBody>
                  <a:tcPr/>
                </a:tc>
                <a:tc rowSpan="2">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Comments from Steering Committee Members at Workshop Meetings (Responsible Party in Bold)</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1201996">
                <a:tc vMerge="1">
                  <a:txBody>
                    <a:bodyPr/>
                    <a:lstStyle/>
                    <a:p>
                      <a:endParaRPr lang="en-US"/>
                    </a:p>
                  </a:txBody>
                  <a:tcPr/>
                </a:tc>
                <a:tc vMerge="1">
                  <a:txBody>
                    <a:bodyPr/>
                    <a:lstStyle/>
                    <a:p>
                      <a:endParaRPr lang="en-US"/>
                    </a:p>
                  </a:txBody>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System Design </a:t>
                      </a:r>
                    </a:p>
                  </a:txBody>
                  <a:tcPr marL="5433" marR="5433" marT="5433"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Operations  &amp;  Maintenance</a:t>
                      </a:r>
                    </a:p>
                  </a:txBody>
                  <a:tcPr marL="5433" marR="5433" marT="5433"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Administrative</a:t>
                      </a:r>
                    </a:p>
                  </a:txBody>
                  <a:tcPr marL="5433" marR="5433" marT="5433"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Low</a:t>
                      </a:r>
                    </a:p>
                  </a:txBody>
                  <a:tcPr marL="5433" marR="5433" marT="5433"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Medium</a:t>
                      </a:r>
                    </a:p>
                  </a:txBody>
                  <a:tcPr marL="5433" marR="5433" marT="5433"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High</a:t>
                      </a:r>
                    </a:p>
                  </a:txBody>
                  <a:tcPr marL="5433" marR="5433" marT="5433"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Short Term</a:t>
                      </a:r>
                    </a:p>
                  </a:txBody>
                  <a:tcPr marL="5433" marR="5433" marT="5433"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Medium Term</a:t>
                      </a:r>
                    </a:p>
                  </a:txBody>
                  <a:tcPr marL="5433" marR="5433" marT="5433"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Long Term</a:t>
                      </a:r>
                    </a:p>
                  </a:txBody>
                  <a:tcPr marL="5433" marR="5433" marT="5433" marB="0" vert="vert"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vMerge="1">
                  <a:txBody>
                    <a:bodyPr/>
                    <a:lstStyle/>
                    <a:p>
                      <a:endParaRPr lang="en-US"/>
                    </a:p>
                  </a:txBody>
                  <a:tcPr/>
                </a:tc>
                <a:extLst>
                  <a:ext uri="{0D108BD9-81ED-4DB2-BD59-A6C34878D82A}">
                    <a16:rowId xmlns:a16="http://schemas.microsoft.com/office/drawing/2014/main" val="10001"/>
                  </a:ext>
                </a:extLst>
              </a:tr>
              <a:tr h="318482">
                <a:tc>
                  <a:txBody>
                    <a:bodyPr/>
                    <a:lstStyle/>
                    <a:p>
                      <a:pPr algn="ctr" fontAlgn="ctr"/>
                      <a:r>
                        <a:rPr lang="en-US" sz="800" b="1" i="0" u="none" strike="noStrike" dirty="0">
                          <a:solidFill>
                            <a:srgbClr val="000000"/>
                          </a:solidFill>
                          <a:effectLst/>
                          <a:latin typeface="Times New Roman" panose="02020603050405020304" pitchFamily="18" charset="0"/>
                          <a:cs typeface="Times New Roman" panose="02020603050405020304" pitchFamily="18" charset="0"/>
                        </a:rPr>
                        <a:t>PIV Category</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800" b="1" i="0" u="none" strike="noStrike" dirty="0">
                          <a:solidFill>
                            <a:srgbClr val="000000"/>
                          </a:solidFill>
                          <a:effectLst/>
                          <a:latin typeface="Times New Roman" panose="02020603050405020304" pitchFamily="18" charset="0"/>
                          <a:cs typeface="Times New Roman" panose="02020603050405020304" pitchFamily="18" charset="0"/>
                        </a:rPr>
                        <a:t>SME Comments</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D</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O&amp;M</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A</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L</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M</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H</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1-3 </a:t>
                      </a:r>
                      <a:r>
                        <a:rPr lang="en-US" sz="700" b="1" i="0" u="none" strike="noStrike" dirty="0" err="1">
                          <a:solidFill>
                            <a:srgbClr val="000000"/>
                          </a:solidFill>
                          <a:effectLst/>
                          <a:latin typeface="Times New Roman" panose="02020603050405020304" pitchFamily="18" charset="0"/>
                          <a:cs typeface="Times New Roman" panose="02020603050405020304" pitchFamily="18" charset="0"/>
                        </a:rPr>
                        <a:t>Yr</a:t>
                      </a:r>
                      <a:endParaRPr lang="en-US" sz="7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4-9 </a:t>
                      </a:r>
                      <a:r>
                        <a:rPr lang="en-US" sz="700" b="1" i="0" u="none" strike="noStrike" dirty="0" err="1">
                          <a:solidFill>
                            <a:srgbClr val="000000"/>
                          </a:solidFill>
                          <a:effectLst/>
                          <a:latin typeface="Times New Roman" panose="02020603050405020304" pitchFamily="18" charset="0"/>
                          <a:cs typeface="Times New Roman" panose="02020603050405020304" pitchFamily="18" charset="0"/>
                        </a:rPr>
                        <a:t>Yr</a:t>
                      </a:r>
                      <a:endParaRPr lang="en-US" sz="7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700" b="1" i="0" u="none" strike="noStrike" dirty="0">
                          <a:solidFill>
                            <a:srgbClr val="000000"/>
                          </a:solidFill>
                          <a:effectLst/>
                          <a:latin typeface="Times New Roman" panose="02020603050405020304" pitchFamily="18" charset="0"/>
                          <a:cs typeface="Times New Roman" panose="02020603050405020304" pitchFamily="18" charset="0"/>
                        </a:rPr>
                        <a:t>&gt;10 </a:t>
                      </a:r>
                      <a:r>
                        <a:rPr lang="en-US" sz="700" b="1" i="0" u="none" strike="noStrike" dirty="0" err="1">
                          <a:solidFill>
                            <a:srgbClr val="000000"/>
                          </a:solidFill>
                          <a:effectLst/>
                          <a:latin typeface="Times New Roman" panose="02020603050405020304" pitchFamily="18" charset="0"/>
                          <a:cs typeface="Times New Roman" panose="02020603050405020304" pitchFamily="18" charset="0"/>
                        </a:rPr>
                        <a:t>Yr</a:t>
                      </a:r>
                      <a:endParaRPr lang="en-US" sz="7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2"/>
                  </a:ext>
                </a:extLst>
              </a:tr>
              <a:tr h="227045">
                <a:tc gridSpan="2">
                  <a:txBody>
                    <a:bodyPr/>
                    <a:lstStyle/>
                    <a:p>
                      <a:pPr algn="l" fontAlgn="b"/>
                      <a:r>
                        <a:rPr lang="en-US" sz="1400" b="1" i="0" u="none" strike="noStrike" dirty="0">
                          <a:solidFill>
                            <a:srgbClr val="000000"/>
                          </a:solidFill>
                          <a:effectLst/>
                          <a:latin typeface="Times New Roman" panose="02020603050405020304" pitchFamily="18" charset="0"/>
                          <a:cs typeface="Times New Roman" panose="02020603050405020304" pitchFamily="18" charset="0"/>
                        </a:rPr>
                        <a:t>Nitrification</a:t>
                      </a:r>
                    </a:p>
                  </a:txBody>
                  <a:tcPr marL="5433" marR="5433" marT="543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tc gridSpan="3">
                  <a:txBody>
                    <a:bodyPr/>
                    <a:lstStyle/>
                    <a:p>
                      <a:pPr algn="ctr" fontAlgn="ctr"/>
                      <a:r>
                        <a:rPr lang="en-US" sz="600" b="0" i="0" u="none" strike="noStrike" dirty="0">
                          <a:solidFill>
                            <a:srgbClr val="000000"/>
                          </a:solidFill>
                          <a:effectLst/>
                          <a:latin typeface="Times New Roman" panose="02020603050405020304" pitchFamily="18" charset="0"/>
                          <a:cs typeface="Times New Roman" panose="02020603050405020304" pitchFamily="18" charset="0"/>
                        </a:rPr>
                        <a:t> </a:t>
                      </a:r>
                    </a:p>
                    <a:p>
                      <a:pPr algn="ctr" fontAlgn="ctr"/>
                      <a:r>
                        <a:rPr lang="en-US" sz="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algn="ctr" fontAlgn="ctr"/>
                      <a:endParaRPr lang="en-US" sz="600" b="0" i="0" u="none" strike="noStrike" dirty="0">
                        <a:solidFill>
                          <a:srgbClr val="000000"/>
                        </a:solidFill>
                        <a:effectLst/>
                        <a:latin typeface="Calibri"/>
                      </a:endParaRPr>
                    </a:p>
                  </a:txBody>
                  <a:tcPr marL="5433" marR="5433" marT="543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algn="ctr" fontAlgn="ctr"/>
                      <a:endParaRPr lang="en-US" sz="600" b="0" i="0" u="none" strike="noStrike" dirty="0">
                        <a:solidFill>
                          <a:srgbClr val="000000"/>
                        </a:solidFill>
                        <a:effectLst/>
                        <a:latin typeface="Calibri"/>
                      </a:endParaRPr>
                    </a:p>
                  </a:txBody>
                  <a:tcPr marL="5433" marR="5433" marT="5433"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gridSpan="3">
                  <a:txBody>
                    <a:bodyPr/>
                    <a:lstStyle/>
                    <a:p>
                      <a:pPr algn="ctr" fontAlgn="ctr"/>
                      <a:r>
                        <a:rPr lang="en-US" sz="600" b="0" i="0" u="none" strike="noStrike" dirty="0">
                          <a:solidFill>
                            <a:srgbClr val="000000"/>
                          </a:solidFill>
                          <a:effectLst/>
                          <a:latin typeface="Times New Roman" panose="02020603050405020304" pitchFamily="18" charset="0"/>
                          <a:cs typeface="Times New Roman" panose="02020603050405020304" pitchFamily="18" charset="0"/>
                        </a:rPr>
                        <a:t> </a:t>
                      </a:r>
                    </a:p>
                    <a:p>
                      <a:pPr algn="ctr" fontAlgn="ctr"/>
                      <a:r>
                        <a:rPr lang="en-US" sz="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algn="ctr" fontAlgn="ctr"/>
                      <a:endParaRPr lang="en-US" sz="600" b="0" i="0" u="none" strike="noStrike" dirty="0">
                        <a:solidFill>
                          <a:srgbClr val="000000"/>
                        </a:solidFill>
                        <a:effectLst/>
                        <a:latin typeface="Calibri"/>
                      </a:endParaRPr>
                    </a:p>
                  </a:txBody>
                  <a:tcPr marL="5433" marR="5433" marT="543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algn="ctr" fontAlgn="ctr"/>
                      <a:endParaRPr lang="en-US" sz="600" b="0" i="0" u="none" strike="noStrike" dirty="0">
                        <a:solidFill>
                          <a:srgbClr val="000000"/>
                        </a:solidFill>
                        <a:effectLst/>
                        <a:latin typeface="Calibri"/>
                      </a:endParaRPr>
                    </a:p>
                  </a:txBody>
                  <a:tcPr marL="5433" marR="5433" marT="5433"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gridSpan="3">
                  <a:txBody>
                    <a:bodyPr/>
                    <a:lstStyle/>
                    <a:p>
                      <a:pPr algn="ctr" fontAlgn="ctr"/>
                      <a:r>
                        <a:rPr lang="en-US" sz="600" b="0" i="0" u="none" strike="noStrike" dirty="0">
                          <a:solidFill>
                            <a:srgbClr val="000000"/>
                          </a:solidFill>
                          <a:effectLst/>
                          <a:latin typeface="Times New Roman" panose="02020603050405020304" pitchFamily="18" charset="0"/>
                          <a:cs typeface="Times New Roman" panose="02020603050405020304" pitchFamily="18" charset="0"/>
                        </a:rPr>
                        <a:t> </a:t>
                      </a:r>
                    </a:p>
                    <a:p>
                      <a:pPr algn="ctr" fontAlgn="ctr"/>
                      <a:r>
                        <a:rPr lang="en-US" sz="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algn="ctr" fontAlgn="ctr"/>
                      <a:endParaRPr lang="en-US" sz="600" b="0" i="0" u="none" strike="noStrike" dirty="0">
                        <a:solidFill>
                          <a:srgbClr val="000000"/>
                        </a:solidFill>
                        <a:effectLst/>
                        <a:latin typeface="Calibri"/>
                      </a:endParaRPr>
                    </a:p>
                  </a:txBody>
                  <a:tcPr marL="5433" marR="5433" marT="5433"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algn="ctr" fontAlgn="ctr"/>
                      <a:endParaRPr lang="en-US" sz="600" b="0" i="0" u="none" strike="noStrike" dirty="0">
                        <a:solidFill>
                          <a:srgbClr val="000000"/>
                        </a:solidFill>
                        <a:effectLst/>
                        <a:latin typeface="Calibri"/>
                      </a:endParaRPr>
                    </a:p>
                  </a:txBody>
                  <a:tcPr marL="5433" marR="5433" marT="5433"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ctr"/>
                      <a:r>
                        <a:rPr lang="en-US" sz="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3"/>
                  </a:ext>
                </a:extLst>
              </a:tr>
              <a:tr h="977933">
                <a:tc>
                  <a:txBody>
                    <a:bodyPr/>
                    <a:lstStyle/>
                    <a:p>
                      <a:pPr algn="l" fontAlgn="t"/>
                      <a:r>
                        <a:rPr lang="en-US" sz="800" b="0" i="0" u="none" strike="noStrike" dirty="0">
                          <a:solidFill>
                            <a:srgbClr val="000000"/>
                          </a:solidFill>
                          <a:effectLst/>
                          <a:latin typeface="Times New Roman" panose="02020603050405020304" pitchFamily="18" charset="0"/>
                          <a:cs typeface="Times New Roman" panose="02020603050405020304" pitchFamily="18" charset="0"/>
                        </a:rPr>
                        <a:t>Budget; staff retention</a:t>
                      </a:r>
                    </a:p>
                  </a:txBody>
                  <a:tcPr marL="5433" marR="5433" marT="5433"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t"/>
                      <a:r>
                        <a:rPr lang="en-US" sz="700" b="0" i="0" u="none" strike="noStrike" dirty="0">
                          <a:solidFill>
                            <a:srgbClr val="000000"/>
                          </a:solidFill>
                          <a:effectLst/>
                          <a:latin typeface="Times New Roman" panose="02020603050405020304" pitchFamily="18" charset="0"/>
                          <a:cs typeface="Times New Roman" panose="02020603050405020304" pitchFamily="18" charset="0"/>
                        </a:rPr>
                        <a:t>Staff turnover, especially in SRA (sampling techs and instrument techs) is making it difficult to conduct program responsibilities. Experience and knowledge is lost due to turnover.  Options include; Increase pay or  provide incentives for staff to stay, increase budget to pay for increased salaries, have HR advertise about in-house position transfer opportunities to BLS. The additional responsibilities that come with being part of DSOP make staff retention even more of a priority.</a:t>
                      </a:r>
                    </a:p>
                  </a:txBody>
                  <a:tcPr marL="5433" marR="5433" marT="5433"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a:solidFill>
                            <a:srgbClr val="000000"/>
                          </a:solidFill>
                          <a:effectLst/>
                          <a:latin typeface="Times New Roman" panose="02020603050405020304" pitchFamily="18" charset="0"/>
                          <a:cs typeface="Times New Roman" panose="02020603050405020304" pitchFamily="18" charset="0"/>
                        </a:rPr>
                        <a:t>x</a:t>
                      </a:r>
                    </a:p>
                  </a:txBody>
                  <a:tcPr marL="5433" marR="5433" marT="543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x</a:t>
                      </a:r>
                    </a:p>
                  </a:txBody>
                  <a:tcPr marL="5433" marR="5433" marT="5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a:solidFill>
                            <a:srgbClr val="000000"/>
                          </a:solidFill>
                          <a:effectLst/>
                          <a:latin typeface="Times New Roman" panose="02020603050405020304" pitchFamily="18" charset="0"/>
                          <a:cs typeface="Times New Roman" panose="02020603050405020304" pitchFamily="18" charset="0"/>
                        </a:rPr>
                        <a:t>x</a:t>
                      </a:r>
                    </a:p>
                  </a:txBody>
                  <a:tcPr marL="5433" marR="5433" marT="5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ctr"/>
                      <a:r>
                        <a:rPr lang="en-US" sz="700" b="0" i="0" u="none" strike="noStrike" dirty="0">
                          <a:solidFill>
                            <a:srgbClr val="000000"/>
                          </a:solidFill>
                          <a:effectLst/>
                          <a:latin typeface="Times New Roman" panose="02020603050405020304" pitchFamily="18" charset="0"/>
                          <a:cs typeface="Times New Roman" panose="02020603050405020304" pitchFamily="18" charset="0"/>
                        </a:rPr>
                        <a:t>The Steering Committee decided that PWD's </a:t>
                      </a:r>
                      <a:r>
                        <a:rPr lang="en-US" sz="700" b="1" i="0" u="none" strike="noStrike" dirty="0">
                          <a:solidFill>
                            <a:srgbClr val="000000"/>
                          </a:solidFill>
                          <a:effectLst/>
                          <a:latin typeface="Times New Roman" panose="02020603050405020304" pitchFamily="18" charset="0"/>
                          <a:cs typeface="Times New Roman" panose="02020603050405020304" pitchFamily="18" charset="0"/>
                        </a:rPr>
                        <a:t>HR</a:t>
                      </a:r>
                      <a:r>
                        <a:rPr lang="en-US" sz="700" b="0" i="0" u="none" strike="noStrike" dirty="0">
                          <a:solidFill>
                            <a:srgbClr val="000000"/>
                          </a:solidFill>
                          <a:effectLst/>
                          <a:latin typeface="Times New Roman" panose="02020603050405020304" pitchFamily="18" charset="0"/>
                          <a:cs typeface="Times New Roman" panose="02020603050405020304" pitchFamily="18" charset="0"/>
                        </a:rPr>
                        <a:t> needs to evaluate a method to keep these positions filled; either upgrade the pay levels or establish an internal training program to produce a pool of candidates. A suitable hiring list must be established to fill existing approved vacancies. </a:t>
                      </a:r>
                      <a:r>
                        <a:rPr lang="en-US" sz="700" b="1" i="0" u="none" strike="noStrike" dirty="0">
                          <a:solidFill>
                            <a:srgbClr val="000000"/>
                          </a:solidFill>
                          <a:effectLst/>
                          <a:latin typeface="Times New Roman" panose="02020603050405020304" pitchFamily="18" charset="0"/>
                          <a:cs typeface="Times New Roman" panose="02020603050405020304" pitchFamily="18" charset="0"/>
                        </a:rPr>
                        <a:t>HR</a:t>
                      </a:r>
                      <a:r>
                        <a:rPr lang="en-US" sz="700" b="1" i="0" u="none" strike="noStrike" baseline="0" dirty="0">
                          <a:solidFill>
                            <a:srgbClr val="000000"/>
                          </a:solidFill>
                          <a:effectLst/>
                          <a:latin typeface="Times New Roman" panose="02020603050405020304" pitchFamily="18" charset="0"/>
                          <a:cs typeface="Times New Roman" panose="02020603050405020304" pitchFamily="18" charset="0"/>
                        </a:rPr>
                        <a:t> </a:t>
                      </a:r>
                      <a:r>
                        <a:rPr lang="en-US" sz="700" b="0" i="0" u="none" strike="noStrike" dirty="0">
                          <a:solidFill>
                            <a:srgbClr val="000000"/>
                          </a:solidFill>
                          <a:effectLst/>
                          <a:latin typeface="Times New Roman" panose="02020603050405020304" pitchFamily="18" charset="0"/>
                          <a:cs typeface="Times New Roman" panose="02020603050405020304" pitchFamily="18" charset="0"/>
                        </a:rPr>
                        <a:t>is to be requested to prepare an annual update report and to provide a copy to the PWD DSOP Program Manager.</a:t>
                      </a:r>
                    </a:p>
                  </a:txBody>
                  <a:tcPr marL="5433" marR="5433" marT="54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4"/>
                  </a:ext>
                </a:extLst>
              </a:tr>
              <a:tr h="977933">
                <a:tc>
                  <a:txBody>
                    <a:bodyPr/>
                    <a:lstStyle/>
                    <a:p>
                      <a:pPr algn="l" fontAlgn="t"/>
                      <a:r>
                        <a:rPr lang="en-US" sz="800" b="0" i="0" u="none" strike="noStrike" dirty="0">
                          <a:solidFill>
                            <a:srgbClr val="000000"/>
                          </a:solidFill>
                          <a:effectLst/>
                          <a:latin typeface="Times New Roman" panose="02020603050405020304" pitchFamily="18" charset="0"/>
                          <a:cs typeface="Times New Roman" panose="02020603050405020304" pitchFamily="18" charset="0"/>
                        </a:rPr>
                        <a:t>Capital Investment; replace oversized water mains and valves</a:t>
                      </a:r>
                    </a:p>
                  </a:txBody>
                  <a:tcPr marL="5433" marR="5433" marT="5433"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t"/>
                      <a:r>
                        <a:rPr lang="en-US" sz="700" b="0" i="0" u="none" strike="noStrike" dirty="0">
                          <a:solidFill>
                            <a:srgbClr val="000000"/>
                          </a:solidFill>
                          <a:effectLst/>
                          <a:latin typeface="Times New Roman" panose="02020603050405020304" pitchFamily="18" charset="0"/>
                          <a:cs typeface="Times New Roman" panose="02020603050405020304" pitchFamily="18" charset="0"/>
                        </a:rPr>
                        <a:t>Oversized mains lead to longer water age, observations of reduced chlorine residual and the potential for nitrification to occur. Flushing larger mains are only marginally effective. Down-sizing parts of the water distribution system can be an effective solution to lower water age,  achieving chlorine residual goals and minimizing nitrification, as long as sufficient fire flow can be maintained. Chlorine residual upkeep is an integral part of DSOP. Finding the money for construction projects that deal with downsizing mains should be a priority.</a:t>
                      </a:r>
                    </a:p>
                  </a:txBody>
                  <a:tcPr marL="5433" marR="5433" marT="5433"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a:solidFill>
                            <a:srgbClr val="000000"/>
                          </a:solidFill>
                          <a:effectLst/>
                          <a:latin typeface="Times New Roman" panose="02020603050405020304" pitchFamily="18" charset="0"/>
                          <a:cs typeface="Times New Roman" panose="02020603050405020304" pitchFamily="18" charset="0"/>
                        </a:rPr>
                        <a:t>x</a:t>
                      </a:r>
                    </a:p>
                  </a:txBody>
                  <a:tcPr marL="5433" marR="5433" marT="543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x</a:t>
                      </a:r>
                    </a:p>
                  </a:txBody>
                  <a:tcPr marL="5433" marR="5433" marT="543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5433" marR="5433" marT="54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x</a:t>
                      </a:r>
                    </a:p>
                  </a:txBody>
                  <a:tcPr marL="5433" marR="5433" marT="543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ctr"/>
                      <a:r>
                        <a:rPr lang="en-US" sz="700" b="0" i="0" u="none" strike="noStrike" dirty="0">
                          <a:solidFill>
                            <a:srgbClr val="000000"/>
                          </a:solidFill>
                          <a:effectLst/>
                          <a:latin typeface="Times New Roman" panose="02020603050405020304" pitchFamily="18" charset="0"/>
                          <a:cs typeface="Times New Roman" panose="02020603050405020304" pitchFamily="18" charset="0"/>
                        </a:rPr>
                        <a:t>The Steering Committee discussed this issue and appreciates the importance of the suggestion. The PWD asset management program already considers this issue in the evaluation of water delivery requirements. The SC decided that this issue be evaluated by the project team preparing a </a:t>
                      </a:r>
                      <a:r>
                        <a:rPr lang="en-US" sz="700" b="1" i="0" u="none" strike="noStrike" dirty="0">
                          <a:solidFill>
                            <a:srgbClr val="000000"/>
                          </a:solidFill>
                          <a:effectLst/>
                          <a:latin typeface="Times New Roman" panose="02020603050405020304" pitchFamily="18" charset="0"/>
                          <a:cs typeface="Times New Roman" panose="02020603050405020304" pitchFamily="18" charset="0"/>
                        </a:rPr>
                        <a:t>Water Master Plan</a:t>
                      </a:r>
                      <a:r>
                        <a:rPr lang="en-US" sz="700" b="0" i="0" u="none" strike="noStrike" dirty="0">
                          <a:solidFill>
                            <a:srgbClr val="000000"/>
                          </a:solidFill>
                          <a:effectLst/>
                          <a:latin typeface="Times New Roman" panose="02020603050405020304" pitchFamily="18" charset="0"/>
                          <a:cs typeface="Times New Roman" panose="02020603050405020304" pitchFamily="18" charset="0"/>
                        </a:rPr>
                        <a:t>.  An annual report should be prepared and forwarded to the PWD DSOP Program Manager. </a:t>
                      </a:r>
                    </a:p>
                  </a:txBody>
                  <a:tcPr marL="5433" marR="5433" marT="54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5"/>
                  </a:ext>
                </a:extLst>
              </a:tr>
            </a:tbl>
          </a:graphicData>
        </a:graphic>
      </p:graphicFrame>
      <p:sp>
        <p:nvSpPr>
          <p:cNvPr id="5" name="Content Placeholder 2"/>
          <p:cNvSpPr txBox="1">
            <a:spLocks/>
          </p:cNvSpPr>
          <p:nvPr/>
        </p:nvSpPr>
        <p:spPr bwMode="auto">
          <a:xfrm>
            <a:off x="505609" y="5029200"/>
            <a:ext cx="8229600" cy="1295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a:lstStyle>
          <a:p>
            <a:r>
              <a:rPr lang="en-US" sz="2000" dirty="0"/>
              <a:t>Budget , training  and capital investment  were common concerns among the various Subject Matter Experts (SME) interviewed.</a:t>
            </a:r>
          </a:p>
          <a:p>
            <a:r>
              <a:rPr lang="en-US" sz="2000" dirty="0"/>
              <a:t>Throughout the SA process, many PI</a:t>
            </a:r>
            <a:r>
              <a:rPr lang="en-US" sz="2000" baseline="30000" dirty="0"/>
              <a:t>2</a:t>
            </a:r>
            <a:r>
              <a:rPr lang="en-US" sz="2000" dirty="0"/>
              <a:t>’s were referred to the </a:t>
            </a:r>
            <a:r>
              <a:rPr lang="en-US" sz="2000" b="1" dirty="0"/>
              <a:t>Water Master Plan Project</a:t>
            </a:r>
            <a:r>
              <a:rPr lang="en-US" sz="2000" dirty="0"/>
              <a:t> team. Others were assigned to the Unit Managers suggesting the improvement  initiative.</a:t>
            </a:r>
          </a:p>
          <a:p>
            <a:pPr marL="914400" lvl="2" indent="0">
              <a:buFont typeface="Wingdings" pitchFamily="2" charset="2"/>
              <a:buNone/>
            </a:pPr>
            <a:endParaRPr lang="en-US" sz="1600" kern="0" dirty="0"/>
          </a:p>
        </p:txBody>
      </p:sp>
    </p:spTree>
    <p:extLst>
      <p:ext uri="{BB962C8B-B14F-4D97-AF65-F5344CB8AC3E}">
        <p14:creationId xmlns:p14="http://schemas.microsoft.com/office/powerpoint/2010/main" val="4383440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970" y="1219200"/>
            <a:ext cx="8229600" cy="1143000"/>
          </a:xfrm>
        </p:spPr>
        <p:txBody>
          <a:bodyPr/>
          <a:lstStyle/>
          <a:p>
            <a:r>
              <a:rPr lang="en-US" dirty="0">
                <a:solidFill>
                  <a:srgbClr val="FFC000"/>
                </a:solidFill>
                <a:latin typeface="Arial" pitchFamily="34" charset="0"/>
                <a:cs typeface="Arial" pitchFamily="34" charset="0"/>
              </a:rPr>
              <a:t> Self-Assessment Process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9899" y="2743200"/>
            <a:ext cx="3555023" cy="2335791"/>
          </a:xfrm>
          <a:prstGeom prst="rect">
            <a:avLst/>
          </a:prstGeom>
        </p:spPr>
      </p:pic>
    </p:spTree>
    <p:extLst>
      <p:ext uri="{BB962C8B-B14F-4D97-AF65-F5344CB8AC3E}">
        <p14:creationId xmlns:p14="http://schemas.microsoft.com/office/powerpoint/2010/main" val="36312635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FFC000"/>
                </a:solidFill>
                <a:latin typeface="Arial" pitchFamily="34" charset="0"/>
                <a:cs typeface="Arial" pitchFamily="34" charset="0"/>
              </a:rPr>
              <a:t>PWD Approach</a:t>
            </a:r>
          </a:p>
        </p:txBody>
      </p:sp>
      <p:sp>
        <p:nvSpPr>
          <p:cNvPr id="3" name="Content Placeholder 2"/>
          <p:cNvSpPr>
            <a:spLocks noGrp="1"/>
          </p:cNvSpPr>
          <p:nvPr>
            <p:ph idx="1"/>
          </p:nvPr>
        </p:nvSpPr>
        <p:spPr>
          <a:xfrm>
            <a:off x="533400" y="1295400"/>
            <a:ext cx="8229600" cy="4876800"/>
          </a:xfrm>
        </p:spPr>
        <p:txBody>
          <a:bodyPr/>
          <a:lstStyle/>
          <a:p>
            <a:r>
              <a:rPr lang="en-US" sz="3400" dirty="0"/>
              <a:t>PWD allocated an incredible amount of resources to the Partnership.  </a:t>
            </a:r>
          </a:p>
          <a:p>
            <a:pPr lvl="1"/>
            <a:r>
              <a:rPr lang="en-US" sz="3000" dirty="0"/>
              <a:t>“all-in” approach</a:t>
            </a:r>
          </a:p>
          <a:p>
            <a:pPr lvl="1"/>
            <a:r>
              <a:rPr lang="en-US" sz="3000" dirty="0"/>
              <a:t>Multi-faceted success</a:t>
            </a:r>
          </a:p>
          <a:p>
            <a:r>
              <a:rPr lang="en-US" sz="3400" dirty="0"/>
              <a:t>Identify.</a:t>
            </a:r>
          </a:p>
          <a:p>
            <a:pPr lvl="1"/>
            <a:r>
              <a:rPr lang="en-US" sz="3000" dirty="0"/>
              <a:t>Partnership process and goals</a:t>
            </a:r>
          </a:p>
          <a:p>
            <a:pPr lvl="1"/>
            <a:r>
              <a:rPr lang="en-US" sz="3000" dirty="0"/>
              <a:t>Overarching PWD goals.</a:t>
            </a:r>
          </a:p>
          <a:p>
            <a:pPr lvl="1"/>
            <a:r>
              <a:rPr lang="en-US" sz="3000" dirty="0"/>
              <a:t>Vehicle to meet goals within partnership framework.</a:t>
            </a:r>
          </a:p>
          <a:p>
            <a:endParaRPr lang="en-US" sz="3400" dirty="0"/>
          </a:p>
          <a:p>
            <a:pPr marL="914400" lvl="2" indent="0">
              <a:buNone/>
            </a:pPr>
            <a:endParaRPr lang="en-US" dirty="0"/>
          </a:p>
        </p:txBody>
      </p:sp>
    </p:spTree>
    <p:extLst>
      <p:ext uri="{BB962C8B-B14F-4D97-AF65-F5344CB8AC3E}">
        <p14:creationId xmlns:p14="http://schemas.microsoft.com/office/powerpoint/2010/main" val="27889180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FFC000"/>
                </a:solidFill>
                <a:latin typeface="Arial" pitchFamily="34" charset="0"/>
                <a:cs typeface="Arial" pitchFamily="34" charset="0"/>
              </a:rPr>
              <a:t>PWD Approach</a:t>
            </a:r>
          </a:p>
        </p:txBody>
      </p:sp>
      <p:sp>
        <p:nvSpPr>
          <p:cNvPr id="3" name="Content Placeholder 2"/>
          <p:cNvSpPr>
            <a:spLocks noGrp="1"/>
          </p:cNvSpPr>
          <p:nvPr>
            <p:ph idx="1"/>
          </p:nvPr>
        </p:nvSpPr>
        <p:spPr>
          <a:xfrm>
            <a:off x="533400" y="1295400"/>
            <a:ext cx="8229600" cy="4876800"/>
          </a:xfrm>
        </p:spPr>
        <p:txBody>
          <a:bodyPr/>
          <a:lstStyle/>
          <a:p>
            <a:r>
              <a:rPr lang="en-US" sz="3400" dirty="0"/>
              <a:t>Departmental goals.  </a:t>
            </a:r>
          </a:p>
          <a:p>
            <a:pPr lvl="1"/>
            <a:r>
              <a:rPr lang="en-US" sz="3000" dirty="0"/>
              <a:t>Bridge departmental lines</a:t>
            </a:r>
          </a:p>
          <a:p>
            <a:pPr lvl="1"/>
            <a:r>
              <a:rPr lang="en-US" sz="3000" dirty="0"/>
              <a:t>Invigorate interdepartmental relationships</a:t>
            </a:r>
          </a:p>
          <a:p>
            <a:pPr lvl="1"/>
            <a:r>
              <a:rPr lang="en-US" sz="3000" dirty="0"/>
              <a:t>Dissemination of a wealth of critical knowledge</a:t>
            </a:r>
          </a:p>
          <a:p>
            <a:r>
              <a:rPr lang="en-US" sz="3400" dirty="0"/>
              <a:t>Vehicle for solutions.</a:t>
            </a:r>
          </a:p>
          <a:p>
            <a:pPr lvl="1"/>
            <a:r>
              <a:rPr lang="en-US" sz="3000" dirty="0"/>
              <a:t>Mass engagement</a:t>
            </a:r>
          </a:p>
          <a:p>
            <a:pPr lvl="2"/>
            <a:r>
              <a:rPr lang="en-US" sz="2600" dirty="0"/>
              <a:t>Young professionals in contrast with seasoned experts</a:t>
            </a:r>
          </a:p>
          <a:p>
            <a:pPr lvl="1"/>
            <a:r>
              <a:rPr lang="en-US" sz="3000" dirty="0"/>
              <a:t>Departmental “cross-pollination”</a:t>
            </a:r>
          </a:p>
          <a:p>
            <a:pPr marL="457200" lvl="1" indent="0">
              <a:buNone/>
            </a:pPr>
            <a:endParaRPr lang="en-US" sz="3000" dirty="0"/>
          </a:p>
          <a:p>
            <a:endParaRPr lang="en-US" sz="3400" dirty="0"/>
          </a:p>
          <a:p>
            <a:pPr marL="914400" lvl="2" indent="0">
              <a:buNone/>
            </a:pPr>
            <a:endParaRPr lang="en-US" dirty="0"/>
          </a:p>
        </p:txBody>
      </p:sp>
    </p:spTree>
    <p:extLst>
      <p:ext uri="{BB962C8B-B14F-4D97-AF65-F5344CB8AC3E}">
        <p14:creationId xmlns:p14="http://schemas.microsoft.com/office/powerpoint/2010/main" val="11626913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FFC000"/>
                </a:solidFill>
                <a:latin typeface="Arial" pitchFamily="34" charset="0"/>
                <a:cs typeface="Arial" pitchFamily="34" charset="0"/>
              </a:rPr>
              <a:t>PWD Self-Assessment Process</a:t>
            </a:r>
          </a:p>
        </p:txBody>
      </p:sp>
      <p:sp>
        <p:nvSpPr>
          <p:cNvPr id="3" name="Content Placeholder 2"/>
          <p:cNvSpPr>
            <a:spLocks noGrp="1"/>
          </p:cNvSpPr>
          <p:nvPr>
            <p:ph idx="1"/>
          </p:nvPr>
        </p:nvSpPr>
        <p:spPr>
          <a:xfrm>
            <a:off x="609600" y="1447800"/>
            <a:ext cx="8229600" cy="4876800"/>
          </a:xfrm>
        </p:spPr>
        <p:txBody>
          <a:bodyPr/>
          <a:lstStyle/>
          <a:p>
            <a:r>
              <a:rPr lang="en-US" sz="3400" dirty="0"/>
              <a:t>People  </a:t>
            </a:r>
          </a:p>
          <a:p>
            <a:pPr lvl="1"/>
            <a:r>
              <a:rPr lang="en-US" sz="3000" dirty="0"/>
              <a:t>Steering Committee</a:t>
            </a:r>
          </a:p>
          <a:p>
            <a:pPr lvl="2"/>
            <a:r>
              <a:rPr lang="en-US" sz="2600" dirty="0"/>
              <a:t>6 members</a:t>
            </a:r>
          </a:p>
          <a:p>
            <a:pPr lvl="1"/>
            <a:r>
              <a:rPr lang="en-US" sz="3000" dirty="0"/>
              <a:t>Self-assessment team (SA)</a:t>
            </a:r>
          </a:p>
          <a:p>
            <a:pPr lvl="2"/>
            <a:r>
              <a:rPr lang="en-US" sz="2600" dirty="0"/>
              <a:t>8 members</a:t>
            </a:r>
          </a:p>
          <a:p>
            <a:pPr lvl="1"/>
            <a:r>
              <a:rPr lang="en-US" sz="3000" dirty="0"/>
              <a:t>Subject matter expert (SME)</a:t>
            </a:r>
          </a:p>
          <a:p>
            <a:pPr lvl="2"/>
            <a:r>
              <a:rPr lang="en-US" sz="2600" dirty="0"/>
              <a:t>33 members</a:t>
            </a:r>
          </a:p>
          <a:p>
            <a:pPr marL="457200" lvl="1" indent="0">
              <a:buNone/>
            </a:pPr>
            <a:endParaRPr lang="en-US" sz="3000" dirty="0"/>
          </a:p>
          <a:p>
            <a:endParaRPr lang="en-US" sz="3400" dirty="0"/>
          </a:p>
          <a:p>
            <a:pPr marL="914400" lvl="2" indent="0">
              <a:buNone/>
            </a:pPr>
            <a:endParaRPr lang="en-US" dirty="0"/>
          </a:p>
        </p:txBody>
      </p:sp>
    </p:spTree>
    <p:extLst>
      <p:ext uri="{BB962C8B-B14F-4D97-AF65-F5344CB8AC3E}">
        <p14:creationId xmlns:p14="http://schemas.microsoft.com/office/powerpoint/2010/main" val="34514301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FFC000"/>
                </a:solidFill>
                <a:latin typeface="Arial" pitchFamily="34" charset="0"/>
                <a:cs typeface="Arial" pitchFamily="34" charset="0"/>
              </a:rPr>
              <a:t>PWD Self-Assessment Process</a:t>
            </a:r>
          </a:p>
        </p:txBody>
      </p:sp>
      <p:sp>
        <p:nvSpPr>
          <p:cNvPr id="3" name="Content Placeholder 2"/>
          <p:cNvSpPr>
            <a:spLocks noGrp="1"/>
          </p:cNvSpPr>
          <p:nvPr>
            <p:ph idx="1"/>
          </p:nvPr>
        </p:nvSpPr>
        <p:spPr>
          <a:xfrm>
            <a:off x="609600" y="1447800"/>
            <a:ext cx="8229600" cy="4876800"/>
          </a:xfrm>
        </p:spPr>
        <p:txBody>
          <a:bodyPr/>
          <a:lstStyle/>
          <a:p>
            <a:r>
              <a:rPr lang="en-US" sz="3400" dirty="0"/>
              <a:t>Tasks</a:t>
            </a:r>
          </a:p>
          <a:p>
            <a:pPr lvl="1"/>
            <a:r>
              <a:rPr lang="en-US" sz="3000" dirty="0"/>
              <a:t>SA team members split the 19 PIV’s </a:t>
            </a:r>
          </a:p>
          <a:p>
            <a:pPr lvl="1"/>
            <a:r>
              <a:rPr lang="en-US" sz="3000" dirty="0"/>
              <a:t>Each PIV was then assigned 2-5 SME’s</a:t>
            </a:r>
          </a:p>
          <a:p>
            <a:pPr lvl="1"/>
            <a:r>
              <a:rPr lang="en-US" sz="3000" dirty="0"/>
              <a:t>Each SME was interviewed </a:t>
            </a:r>
          </a:p>
          <a:p>
            <a:pPr lvl="2"/>
            <a:r>
              <a:rPr lang="en-US" sz="2200" dirty="0"/>
              <a:t>Notes were recorded </a:t>
            </a:r>
          </a:p>
          <a:p>
            <a:pPr lvl="2"/>
            <a:r>
              <a:rPr lang="en-US" sz="2200" dirty="0"/>
              <a:t>Individual interview summary reports were created and submitted to the SME for sign-off. </a:t>
            </a:r>
          </a:p>
          <a:p>
            <a:pPr lvl="1"/>
            <a:r>
              <a:rPr lang="en-US" sz="3000" dirty="0"/>
              <a:t>Each of the reports for individual PIV’s were reviewed and compiled into 1 summary report per PIV.</a:t>
            </a:r>
          </a:p>
          <a:p>
            <a:pPr marL="457200" lvl="1" indent="0">
              <a:buNone/>
            </a:pPr>
            <a:endParaRPr lang="en-US" sz="3000" dirty="0"/>
          </a:p>
          <a:p>
            <a:endParaRPr lang="en-US" sz="3400" dirty="0"/>
          </a:p>
          <a:p>
            <a:pPr marL="914400" lvl="2" indent="0">
              <a:buNone/>
            </a:pPr>
            <a:endParaRPr lang="en-US" dirty="0"/>
          </a:p>
        </p:txBody>
      </p:sp>
    </p:spTree>
    <p:extLst>
      <p:ext uri="{BB962C8B-B14F-4D97-AF65-F5344CB8AC3E}">
        <p14:creationId xmlns:p14="http://schemas.microsoft.com/office/powerpoint/2010/main" val="19541443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FFC000"/>
                </a:solidFill>
                <a:latin typeface="Arial" pitchFamily="34" charset="0"/>
                <a:cs typeface="Arial" pitchFamily="34" charset="0"/>
              </a:rPr>
              <a:t>PWD Self-Assessment Process</a:t>
            </a:r>
          </a:p>
        </p:txBody>
      </p:sp>
      <p:sp>
        <p:nvSpPr>
          <p:cNvPr id="3" name="Content Placeholder 2"/>
          <p:cNvSpPr>
            <a:spLocks noGrp="1"/>
          </p:cNvSpPr>
          <p:nvPr>
            <p:ph idx="1"/>
          </p:nvPr>
        </p:nvSpPr>
        <p:spPr>
          <a:xfrm>
            <a:off x="609600" y="1447800"/>
            <a:ext cx="8229600" cy="4876800"/>
          </a:xfrm>
        </p:spPr>
        <p:txBody>
          <a:bodyPr/>
          <a:lstStyle/>
          <a:p>
            <a:r>
              <a:rPr lang="en-US" sz="3400" dirty="0"/>
              <a:t>Tasks</a:t>
            </a:r>
          </a:p>
          <a:p>
            <a:pPr lvl="1"/>
            <a:r>
              <a:rPr lang="en-US" sz="3000" dirty="0"/>
              <a:t>The PIV summary reports were then submitted to the SC for an interactive iterative review. </a:t>
            </a:r>
          </a:p>
          <a:p>
            <a:pPr lvl="1"/>
            <a:r>
              <a:rPr lang="en-US" sz="3000" dirty="0"/>
              <a:t>After the PIV summary reports were accepted, the SC addressed every item in the reports.</a:t>
            </a:r>
          </a:p>
          <a:p>
            <a:pPr lvl="2"/>
            <a:r>
              <a:rPr lang="en-US" sz="2600" dirty="0"/>
              <a:t>PLF (potential limiting factors)</a:t>
            </a:r>
          </a:p>
          <a:p>
            <a:pPr lvl="2"/>
            <a:r>
              <a:rPr lang="en-US" sz="2600" dirty="0"/>
              <a:t>PI</a:t>
            </a:r>
            <a:r>
              <a:rPr lang="en-US" sz="2600" baseline="30000" dirty="0"/>
              <a:t>2</a:t>
            </a:r>
            <a:r>
              <a:rPr lang="en-US" sz="2600" dirty="0"/>
              <a:t> </a:t>
            </a:r>
            <a:r>
              <a:rPr lang="en-US" sz="2600" baseline="30000" dirty="0"/>
              <a:t> </a:t>
            </a:r>
            <a:r>
              <a:rPr lang="en-US" sz="2600" dirty="0"/>
              <a:t>(performance improvement initiatives)</a:t>
            </a:r>
            <a:endParaRPr lang="en-US" sz="2600" baseline="30000" dirty="0"/>
          </a:p>
          <a:p>
            <a:pPr lvl="2"/>
            <a:r>
              <a:rPr lang="en-US" sz="2600" dirty="0"/>
              <a:t>Discussion </a:t>
            </a:r>
          </a:p>
          <a:p>
            <a:pPr lvl="1"/>
            <a:r>
              <a:rPr lang="en-US" sz="3000" dirty="0"/>
              <a:t>These items became the basis of the SA.</a:t>
            </a:r>
          </a:p>
          <a:p>
            <a:pPr marL="0" indent="0">
              <a:buNone/>
            </a:pPr>
            <a:endParaRPr lang="en-US" sz="3400" dirty="0"/>
          </a:p>
          <a:p>
            <a:pPr marL="914400" lvl="2" indent="0">
              <a:buNone/>
            </a:pPr>
            <a:endParaRPr lang="en-US" dirty="0"/>
          </a:p>
        </p:txBody>
      </p:sp>
    </p:spTree>
    <p:extLst>
      <p:ext uri="{BB962C8B-B14F-4D97-AF65-F5344CB8AC3E}">
        <p14:creationId xmlns:p14="http://schemas.microsoft.com/office/powerpoint/2010/main" val="3526169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FFC000"/>
                </a:solidFill>
                <a:latin typeface="Arial" pitchFamily="34" charset="0"/>
                <a:cs typeface="Arial" pitchFamily="34" charset="0"/>
              </a:rPr>
              <a:t>PWD Self-Assessment Process</a:t>
            </a:r>
          </a:p>
        </p:txBody>
      </p:sp>
      <p:sp>
        <p:nvSpPr>
          <p:cNvPr id="3" name="Content Placeholder 2"/>
          <p:cNvSpPr>
            <a:spLocks noGrp="1"/>
          </p:cNvSpPr>
          <p:nvPr>
            <p:ph idx="1"/>
          </p:nvPr>
        </p:nvSpPr>
        <p:spPr>
          <a:xfrm>
            <a:off x="609600" y="1447800"/>
            <a:ext cx="8229600" cy="4876800"/>
          </a:xfrm>
        </p:spPr>
        <p:txBody>
          <a:bodyPr/>
          <a:lstStyle/>
          <a:p>
            <a:r>
              <a:rPr lang="en-US" sz="3400" dirty="0"/>
              <a:t>Engagement</a:t>
            </a:r>
          </a:p>
          <a:p>
            <a:pPr lvl="1"/>
            <a:r>
              <a:rPr lang="en-US" sz="3000" dirty="0"/>
              <a:t>63 SME interviews were conducted in total.</a:t>
            </a:r>
          </a:p>
          <a:p>
            <a:pPr lvl="2"/>
            <a:r>
              <a:rPr lang="en-US" sz="2600" dirty="0"/>
              <a:t>SA team members were strongly encouraged to attend any and all interview sessions</a:t>
            </a:r>
          </a:p>
          <a:p>
            <a:r>
              <a:rPr lang="en-US" sz="3400" dirty="0"/>
              <a:t>Cross-pollination</a:t>
            </a:r>
          </a:p>
          <a:p>
            <a:pPr lvl="1"/>
            <a:r>
              <a:rPr lang="en-US" sz="3000" dirty="0"/>
              <a:t> Iterative process fostered cross departmental cooperation.</a:t>
            </a:r>
          </a:p>
          <a:p>
            <a:pPr lvl="2"/>
            <a:r>
              <a:rPr lang="en-US" sz="2200" dirty="0"/>
              <a:t>Knowledge dissemination </a:t>
            </a:r>
          </a:p>
          <a:p>
            <a:pPr lvl="2"/>
            <a:r>
              <a:rPr lang="en-US" sz="2200" dirty="0"/>
              <a:t>Fostered professional relationships </a:t>
            </a:r>
          </a:p>
          <a:p>
            <a:pPr marL="0" indent="0">
              <a:buNone/>
            </a:pPr>
            <a:endParaRPr lang="en-US" sz="3400" dirty="0"/>
          </a:p>
          <a:p>
            <a:pPr marL="914400" lvl="2" indent="0">
              <a:buNone/>
            </a:pPr>
            <a:endParaRPr lang="en-US" dirty="0"/>
          </a:p>
        </p:txBody>
      </p:sp>
    </p:spTree>
    <p:extLst>
      <p:ext uri="{BB962C8B-B14F-4D97-AF65-F5344CB8AC3E}">
        <p14:creationId xmlns:p14="http://schemas.microsoft.com/office/powerpoint/2010/main" val="39746938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latin typeface="Arial" pitchFamily="34" charset="0"/>
                <a:cs typeface="Arial" pitchFamily="34" charset="0"/>
              </a:rPr>
              <a:t>Main Break Goals</a:t>
            </a:r>
          </a:p>
        </p:txBody>
      </p:sp>
      <p:sp>
        <p:nvSpPr>
          <p:cNvPr id="3" name="Content Placeholder 2"/>
          <p:cNvSpPr>
            <a:spLocks noGrp="1"/>
          </p:cNvSpPr>
          <p:nvPr>
            <p:ph idx="1"/>
          </p:nvPr>
        </p:nvSpPr>
        <p:spPr/>
        <p:txBody>
          <a:bodyPr/>
          <a:lstStyle/>
          <a:p>
            <a:r>
              <a:rPr lang="en-US" dirty="0"/>
              <a:t>PWD is </a:t>
            </a:r>
            <a:r>
              <a:rPr lang="en-US" b="1" u="sng" dirty="0"/>
              <a:t>partially optimized </a:t>
            </a:r>
            <a:r>
              <a:rPr lang="en-US" dirty="0"/>
              <a:t>when compared to the PSW DSOP main break goals:</a:t>
            </a:r>
          </a:p>
          <a:p>
            <a:pPr lvl="1"/>
            <a:r>
              <a:rPr lang="en-US" dirty="0"/>
              <a:t>Does the system meet the main break goals?  </a:t>
            </a:r>
          </a:p>
          <a:p>
            <a:pPr lvl="2"/>
            <a:r>
              <a:rPr lang="en-US" dirty="0"/>
              <a:t>No more than </a:t>
            </a:r>
            <a:r>
              <a:rPr lang="en-US" b="1" u="sng" dirty="0"/>
              <a:t>15 reported breaks and leaks per 100 miles </a:t>
            </a:r>
            <a:r>
              <a:rPr lang="en-US" dirty="0"/>
              <a:t>of distribution and transmission piping per year. </a:t>
            </a:r>
          </a:p>
          <a:p>
            <a:pPr lvl="2"/>
            <a:r>
              <a:rPr lang="en-US" b="1" u="sng" dirty="0"/>
              <a:t>Declining rolling 5-year Main Break frequency</a:t>
            </a:r>
            <a:r>
              <a:rPr lang="en-US" dirty="0"/>
              <a:t> trend (most recent 5 years).</a:t>
            </a:r>
          </a:p>
          <a:p>
            <a:r>
              <a:rPr lang="en-US" dirty="0"/>
              <a:t>PWD Average: 23.2 breaks/100 miles per year and increasing rolling 5-year main break trend</a:t>
            </a:r>
          </a:p>
          <a:p>
            <a:endParaRPr lang="en-US" dirty="0"/>
          </a:p>
        </p:txBody>
      </p:sp>
    </p:spTree>
    <p:extLst>
      <p:ext uri="{BB962C8B-B14F-4D97-AF65-F5344CB8AC3E}">
        <p14:creationId xmlns:p14="http://schemas.microsoft.com/office/powerpoint/2010/main" val="8956444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latin typeface="Arial" pitchFamily="34" charset="0"/>
                <a:cs typeface="Arial" pitchFamily="34" charset="0"/>
              </a:rPr>
              <a:t>Main Break Goals</a:t>
            </a:r>
          </a:p>
        </p:txBody>
      </p:sp>
      <p:pic>
        <p:nvPicPr>
          <p:cNvPr id="4" name="Chart 1"/>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7620000" cy="5257800"/>
          </a:xfrm>
          <a:prstGeom prst="rect">
            <a:avLst/>
          </a:prstGeom>
          <a:solidFill>
            <a:schemeClr val="tx1"/>
          </a:solidFill>
        </p:spPr>
      </p:pic>
      <p:sp>
        <p:nvSpPr>
          <p:cNvPr id="5" name="TextBox 4"/>
          <p:cNvSpPr txBox="1"/>
          <p:nvPr/>
        </p:nvSpPr>
        <p:spPr>
          <a:xfrm>
            <a:off x="533400" y="6477000"/>
            <a:ext cx="7239000" cy="276999"/>
          </a:xfrm>
          <a:prstGeom prst="rect">
            <a:avLst/>
          </a:prstGeom>
          <a:noFill/>
        </p:spPr>
        <p:txBody>
          <a:bodyPr wrap="square" rtlCol="0">
            <a:spAutoFit/>
          </a:bodyPr>
          <a:lstStyle/>
          <a:p>
            <a:r>
              <a:rPr lang="en-US" sz="1200" i="1" dirty="0"/>
              <a:t>Graph taken from Water Distribution System Optimization Program 2</a:t>
            </a:r>
            <a:r>
              <a:rPr lang="en-US" sz="1200" i="1" baseline="30000" dirty="0"/>
              <a:t>nd</a:t>
            </a:r>
            <a:r>
              <a:rPr lang="en-US" sz="1200" i="1" dirty="0"/>
              <a:t> Annual Report, Brendan F. Reilly </a:t>
            </a:r>
          </a:p>
        </p:txBody>
      </p:sp>
    </p:spTree>
    <p:extLst>
      <p:ext uri="{BB962C8B-B14F-4D97-AF65-F5344CB8AC3E}">
        <p14:creationId xmlns:p14="http://schemas.microsoft.com/office/powerpoint/2010/main" val="20968082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0" y="0"/>
            <a:ext cx="9144000" cy="1417638"/>
          </a:xfrm>
        </p:spPr>
        <p:txBody>
          <a:bodyPr/>
          <a:lstStyle/>
          <a:p>
            <a:r>
              <a:rPr lang="en-US" sz="4200" dirty="0">
                <a:solidFill>
                  <a:srgbClr val="FFC000"/>
                </a:solidFill>
                <a:latin typeface="Arial" pitchFamily="34" charset="0"/>
                <a:cs typeface="Arial" pitchFamily="34" charset="0"/>
              </a:rPr>
              <a:t>Linear Asset Management Program</a:t>
            </a:r>
          </a:p>
        </p:txBody>
      </p:sp>
      <p:sp>
        <p:nvSpPr>
          <p:cNvPr id="23555" name="AutoShape 2" descr="data:image/jpg;base64,/9j/4AAQSkZJRgABAQAAAQABAAD/2wCEAAkGBggGBQkIBwgKCQkKDRYODQwMDSYdIBAhHycpLB8lJx4qJyokLSwvIyIkKzgpLywyLzg+KiU9NTIxOCouNywBCQoKDQsNGQ4OGTUkHiQ1MTU2NTU1NjQ1KzU1NTQwLjM1MzA1MzQ1LDMsKTQyNTUuMzU0NTQ0LDU1NDUsMDUqL//AABEIACAAkgMBIgACEQEDEQH/xAAbAAACAgMBAAAAAAAAAAAAAAAGBwQFAAECA//EADYQAAEDAgQFAgQEBQUAAAAAAAECAwQFEQAGEiETIjFBURRhBzJxkSNSgaIkYqGx8DNCQ3KC/8QAGQEBAQEBAQEAAAAAAAAAAAAAAAQDBQIB/8QAIBEAAgIBBAMBAAAAAAAAAAAAAAIBAxEEEyFREjJhMf/aAAwDAQACEQMRAD8AL5ucavmHNxoeWXWYjTalJcmLb1nk+cgHawOw8nwN8Sp0vNWW6pTWn57NVgTJKGnX1Q9K2t9wdJ02I6KtgX+GqxSc+vwpvI+pt2Nzd1pUDb9Qkn7ecNx9xptol9aEtnlJWbDftgAJh5wrcJuuTK1EY9JD3jaDp13VYAKubgix1W8jF/lrM7NeoTc97gxVqUoKa419NiR1sOtvGFGzTYbQzc0iIwhDDQU2lLYGgh3Yj6XODLJ2UaVWvh04l2FHEicHELkcPmulR0G/8p3GAD710UoK/Us6QbFWsbYxE6K6sJbksrUroErBvhI0ZKZVPeyc7BbRMnVNrUsNC7QR/rG/lIbNv++J1eZh5A+IbsliC0iOY5cioba+RS0lIA/9j92AHB66KG9Zks6NRTq1i1x1GOX6jDiqbTIlMNF3ZAW4Bq+mElQWTUm2cpVCJqkO1NMh1KkA8MIBL2/lRAHvfE/LcOLmRvNM2rR2X3kQlFouIB4NtVgkdraQNvGAHE5LYaUEuPtoUoXAUsC+BfPuY5dGo6ZVHmRg41ISy+2pvX83T/cLEdcKae4uZlCKXUhTsR95lh9YuUp0IWE3O9gpRt4vgpzTkVjKWVn5CJj0p2TIjoWpwAdFXUSe5Krm56XPk4AZFErCZdAp8mc+wiRIjodWNQTckeL4myKjEhrQiTKZZU4bIDjgGr6YT2VhBzHm2mMZogtI9NBbZhMqQLOEWKSo9TcbpHTqN8cZvhuR8z1eZIYjVWFIVwlughRjjayb76FAjxY4AdRWlKNRUAnre+OWpDT4JZcQ5brpVe2A3L9ZpbeX6U22XvRpjaW0yTdQKSQoHtcEW/tihlZhELOsR2mnZx1LbiEnZYJ3v+m+Ka9OzrLfMkV2rWp4X9zOPo1MVkqQuXNVEacLaUDnKTYk+L46bmGchWlzgpSN9J3JwGVyqPUSoGQ04VhR/ECj1xBZZClsWJXOXO81RHKYlT0SS6y6ncLQsg4mZRqzed6UUVIfxkI6VKRtqCuivY7du4wEZizYak0W2yTfqcWfwrQ607NmXKW3dLSP5tN7/wB7ffHyvOZ6O/rKYr0kbnvngZLVFjtNIbSXNKAEi6vH6Y3iYlSykEjtjWNzgCyzGml5jlCYqKuFNAH8QxKAJt0uLWuPPUY8GWkvPsuVuoTqymOoLaZkSkhCVDoSkJGojtfDVUhASToG2/TFOKnIVRlPrh+nk8TQlC27jc8pNu1jue2+AF9Ep0CO9NW89Lkic0pqQlySnnub3uE9QdxiTRas3kqBKdZVMqCAjkjuShpRdQuQkJ8qJJ9jhhF19Lsr8JtaGmQtuzZ5jb/NscImOFiGpTSE8cfiL0EhPtb38+2AF7Ra5EkZymZkagqbQ+0lDTbrgTzFI4iunsEg9+c98T67Np+YanAmy4pSuCq4SmSLOC4NlcvS4H9cG8WU49VJMdcTQw2BwnSjZf5vsemPES5SoyVIitlz1HBVym1j0UPIFxfp3wAHQptPgZpl1xuKVSJQ3QqULIJtcjl6mwxWT4kR+dMkU5+RS01BJRLZZkJKXQTc9U7Xuenk+cMd+Q+h2Y22wglprW0oIuCfB9/YY3x3Uz4rCmUaHWipatHfxgBaTqVSpkCLDa9RGjRkrAQ3KSdZV8yiSm5UcWlentZipEWBLdfShhSVKWiQm7xA2KuW3Xfbvgvg1GXKmuNPQEsoQhwhakmxII0/tIv73t0xMhyPUQQtxlKX9BUpGn6j7G23nACuk0qFJMNSpUxLkJlLLTgkouAkkpN9PUXsPpjTlLih6WYc2XFYnAeraS+g8Xe55im4ubnbzhjrqEpD9PT6AKbktpLygg/hEkf03P0xLjP8R59LzaW+G5pSnhm9uxv0N/bAAK/IpD1Cj0tNNDTEYWaWiWNSfJvbe/fFXTabS6fPEpSHpDifl1yk8v7cNrho/In7Yzho/In7Y0ix4XxzwZTTXL7krGexdzK8phK5MRBDH/IhKtXCPufB63+o7YEKjVHa9LTHYOorNirskd8PPhoseVO/tjzRCjNr1IjtJV5CBiXZWW8pM30/m2ZnjoXlK+F9MnWckKmFvwVWBwc0ygwaQyhuIyEhAsm/bFhjMbFjOz+05MxmMxmB4P/Z"/>
          <p:cNvSpPr>
            <a:spLocks noChangeAspect="1" noChangeArrowheads="1"/>
          </p:cNvSpPr>
          <p:nvPr/>
        </p:nvSpPr>
        <p:spPr bwMode="auto">
          <a:xfrm>
            <a:off x="63500" y="-157163"/>
            <a:ext cx="139065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556" name="AutoShape 4" descr="data:image/jpg;base64,/9j/4AAQSkZJRgABAQAAAQABAAD/2wCEAAkGBggGBQkIBwgKCQkKDRYODQwMDSYdIBAhHycpLB8lJx4qJyokLSwvIyIkKzgpLywyLzg+KiU9NTIxOCouNywBCQoKDQsNGQ4OGTUkHiQ1MTU2NTU1NjQ1KzU1NTQwLjM1MzA1MzQ1LDMsKTQyNTUuMzU0NTQ0LDU1NDUsMDUqL//AABEIACAAkgMBIgACEQEDEQH/xAAbAAACAgMBAAAAAAAAAAAAAAAGBwQFAAECA//EADYQAAEDAgQFAgQEBQUAAAAAAAECAwQFEQAGEiETIjFBURRhBzJxkSNSgaIkYqGx8DNCQ3KC/8QAGQEBAQEBAQEAAAAAAAAAAAAAAAQDBQIB/8QAIBEAAgIBBAMBAAAAAAAAAAAAAAIBAxEEEyFREjJhMf/aAAwDAQACEQMRAD8AL5ucavmHNxoeWXWYjTalJcmLb1nk+cgHawOw8nwN8Sp0vNWW6pTWn57NVgTJKGnX1Q9K2t9wdJ02I6KtgX+GqxSc+vwpvI+pt2Nzd1pUDb9Qkn7ecNx9xptol9aEtnlJWbDftgAJh5wrcJuuTK1EY9JD3jaDp13VYAKubgix1W8jF/lrM7NeoTc97gxVqUoKa419NiR1sOtvGFGzTYbQzc0iIwhDDQU2lLYGgh3Yj6XODLJ2UaVWvh04l2FHEicHELkcPmulR0G/8p3GAD710UoK/Us6QbFWsbYxE6K6sJbksrUroErBvhI0ZKZVPeyc7BbRMnVNrUsNC7QR/rG/lIbNv++J1eZh5A+IbsliC0iOY5cioba+RS0lIA/9j92AHB66KG9Zks6NRTq1i1x1GOX6jDiqbTIlMNF3ZAW4Bq+mElQWTUm2cpVCJqkO1NMh1KkA8MIBL2/lRAHvfE/LcOLmRvNM2rR2X3kQlFouIB4NtVgkdraQNvGAHE5LYaUEuPtoUoXAUsC+BfPuY5dGo6ZVHmRg41ISy+2pvX83T/cLEdcKae4uZlCKXUhTsR95lh9YuUp0IWE3O9gpRt4vgpzTkVjKWVn5CJj0p2TIjoWpwAdFXUSe5Krm56XPk4AZFErCZdAp8mc+wiRIjodWNQTckeL4myKjEhrQiTKZZU4bIDjgGr6YT2VhBzHm2mMZogtI9NBbZhMqQLOEWKSo9TcbpHTqN8cZvhuR8z1eZIYjVWFIVwlughRjjayb76FAjxY4AdRWlKNRUAnre+OWpDT4JZcQ5brpVe2A3L9ZpbeX6U22XvRpjaW0yTdQKSQoHtcEW/tihlZhELOsR2mnZx1LbiEnZYJ3v+m+Ka9OzrLfMkV2rWp4X9zOPo1MVkqQuXNVEacLaUDnKTYk+L46bmGchWlzgpSN9J3JwGVyqPUSoGQ04VhR/ECj1xBZZClsWJXOXO81RHKYlT0SS6y6ncLQsg4mZRqzed6UUVIfxkI6VKRtqCuivY7du4wEZizYak0W2yTfqcWfwrQ607NmXKW3dLSP5tN7/wB7ffHyvOZ6O/rKYr0kbnvngZLVFjtNIbSXNKAEi6vH6Y3iYlSykEjtjWNzgCyzGml5jlCYqKuFNAH8QxKAJt0uLWuPPUY8GWkvPsuVuoTqymOoLaZkSkhCVDoSkJGojtfDVUhASToG2/TFOKnIVRlPrh+nk8TQlC27jc8pNu1jue2+AF9Ep0CO9NW89Lkic0pqQlySnnub3uE9QdxiTRas3kqBKdZVMqCAjkjuShpRdQuQkJ8qJJ9jhhF19Lsr8JtaGmQtuzZ5jb/NscImOFiGpTSE8cfiL0EhPtb38+2AF7Ra5EkZymZkagqbQ+0lDTbrgTzFI4iunsEg9+c98T67Np+YanAmy4pSuCq4SmSLOC4NlcvS4H9cG8WU49VJMdcTQw2BwnSjZf5vsemPES5SoyVIitlz1HBVym1j0UPIFxfp3wAHQptPgZpl1xuKVSJQ3QqULIJtcjl6mwxWT4kR+dMkU5+RS01BJRLZZkJKXQTc9U7Xuenk+cMd+Q+h2Y22wglprW0oIuCfB9/YY3x3Uz4rCmUaHWipatHfxgBaTqVSpkCLDa9RGjRkrAQ3KSdZV8yiSm5UcWlentZipEWBLdfShhSVKWiQm7xA2KuW3Xfbvgvg1GXKmuNPQEsoQhwhakmxII0/tIv73t0xMhyPUQQtxlKX9BUpGn6j7G23nACuk0qFJMNSpUxLkJlLLTgkouAkkpN9PUXsPpjTlLih6WYc2XFYnAeraS+g8Xe55im4ubnbzhjrqEpD9PT6AKbktpLygg/hEkf03P0xLjP8R59LzaW+G5pSnhm9uxv0N/bAAK/IpD1Cj0tNNDTEYWaWiWNSfJvbe/fFXTabS6fPEpSHpDifl1yk8v7cNrho/In7Yzho/In7Y0ix4XxzwZTTXL7krGexdzK8phK5MRBDH/IhKtXCPufB63+o7YEKjVHa9LTHYOorNirskd8PPhoseVO/tjzRCjNr1IjtJV5CBiXZWW8pM30/m2ZnjoXlK+F9MnWckKmFvwVWBwc0ygwaQyhuIyEhAsm/bFhjMbFjOz+05MxmMxmB4P/Z"/>
          <p:cNvSpPr>
            <a:spLocks noChangeAspect="1" noChangeArrowheads="1"/>
          </p:cNvSpPr>
          <p:nvPr/>
        </p:nvSpPr>
        <p:spPr bwMode="auto">
          <a:xfrm>
            <a:off x="63500" y="-157163"/>
            <a:ext cx="139065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557" name="AutoShape 6" descr="data:image/jpg;base64,/9j/4AAQSkZJRgABAQAAAQABAAD/2wCEAAkGBggGBQkIBwgKCQkKDRYODQwMDSYdIBAhHycpLB8lJx4qJyokLSwvIyIkKzgpLywyLzg+KiU9NTIxOCouNywBCQoKDQsNGQ4OGTUkHiQ1MTU2NTU1NjQ1KzU1NTQwLjM1MzA1MzQ1LDMsKTQyNTUuMzU0NTQ0LDU1NDUsMDUqL//AABEIACAAkgMBIgACEQEDEQH/xAAbAAACAgMBAAAAAAAAAAAAAAAGBwQFAAECA//EADYQAAEDAgQFAgQEBQUAAAAAAAECAwQFEQAGEiETIjFBURRhBzJxkSNSgaIkYqGx8DNCQ3KC/8QAGQEBAQEBAQEAAAAAAAAAAAAAAAQDBQIB/8QAIBEAAgIBBAMBAAAAAAAAAAAAAAIBAxEEEyFREjJhMf/aAAwDAQACEQMRAD8AL5ucavmHNxoeWXWYjTalJcmLb1nk+cgHawOw8nwN8Sp0vNWW6pTWn57NVgTJKGnX1Q9K2t9wdJ02I6KtgX+GqxSc+vwpvI+pt2Nzd1pUDb9Qkn7ecNx9xptol9aEtnlJWbDftgAJh5wrcJuuTK1EY9JD3jaDp13VYAKubgix1W8jF/lrM7NeoTc97gxVqUoKa419NiR1sOtvGFGzTYbQzc0iIwhDDQU2lLYGgh3Yj6XODLJ2UaVWvh04l2FHEicHELkcPmulR0G/8p3GAD710UoK/Us6QbFWsbYxE6K6sJbksrUroErBvhI0ZKZVPeyc7BbRMnVNrUsNC7QR/rG/lIbNv++J1eZh5A+IbsliC0iOY5cioba+RS0lIA/9j92AHB66KG9Zks6NRTq1i1x1GOX6jDiqbTIlMNF3ZAW4Bq+mElQWTUm2cpVCJqkO1NMh1KkA8MIBL2/lRAHvfE/LcOLmRvNM2rR2X3kQlFouIB4NtVgkdraQNvGAHE5LYaUEuPtoUoXAUsC+BfPuY5dGo6ZVHmRg41ISy+2pvX83T/cLEdcKae4uZlCKXUhTsR95lh9YuUp0IWE3O9gpRt4vgpzTkVjKWVn5CJj0p2TIjoWpwAdFXUSe5Krm56XPk4AZFErCZdAp8mc+wiRIjodWNQTckeL4myKjEhrQiTKZZU4bIDjgGr6YT2VhBzHm2mMZogtI9NBbZhMqQLOEWKSo9TcbpHTqN8cZvhuR8z1eZIYjVWFIVwlughRjjayb76FAjxY4AdRWlKNRUAnre+OWpDT4JZcQ5brpVe2A3L9ZpbeX6U22XvRpjaW0yTdQKSQoHtcEW/tihlZhELOsR2mnZx1LbiEnZYJ3v+m+Ka9OzrLfMkV2rWp4X9zOPo1MVkqQuXNVEacLaUDnKTYk+L46bmGchWlzgpSN9J3JwGVyqPUSoGQ04VhR/ECj1xBZZClsWJXOXO81RHKYlT0SS6y6ncLQsg4mZRqzed6UUVIfxkI6VKRtqCuivY7du4wEZizYak0W2yTfqcWfwrQ607NmXKW3dLSP5tN7/wB7ffHyvOZ6O/rKYr0kbnvngZLVFjtNIbSXNKAEi6vH6Y3iYlSykEjtjWNzgCyzGml5jlCYqKuFNAH8QxKAJt0uLWuPPUY8GWkvPsuVuoTqymOoLaZkSkhCVDoSkJGojtfDVUhASToG2/TFOKnIVRlPrh+nk8TQlC27jc8pNu1jue2+AF9Ep0CO9NW89Lkic0pqQlySnnub3uE9QdxiTRas3kqBKdZVMqCAjkjuShpRdQuQkJ8qJJ9jhhF19Lsr8JtaGmQtuzZ5jb/NscImOFiGpTSE8cfiL0EhPtb38+2AF7Ra5EkZymZkagqbQ+0lDTbrgTzFI4iunsEg9+c98T67Np+YanAmy4pSuCq4SmSLOC4NlcvS4H9cG8WU49VJMdcTQw2BwnSjZf5vsemPES5SoyVIitlz1HBVym1j0UPIFxfp3wAHQptPgZpl1xuKVSJQ3QqULIJtcjl6mwxWT4kR+dMkU5+RS01BJRLZZkJKXQTc9U7Xuenk+cMd+Q+h2Y22wglprW0oIuCfB9/YY3x3Uz4rCmUaHWipatHfxgBaTqVSpkCLDa9RGjRkrAQ3KSdZV8yiSm5UcWlentZipEWBLdfShhSVKWiQm7xA2KuW3Xfbvgvg1GXKmuNPQEsoQhwhakmxII0/tIv73t0xMhyPUQQtxlKX9BUpGn6j7G23nACuk0qFJMNSpUxLkJlLLTgkouAkkpN9PUXsPpjTlLih6WYc2XFYnAeraS+g8Xe55im4ubnbzhjrqEpD9PT6AKbktpLygg/hEkf03P0xLjP8R59LzaW+G5pSnhm9uxv0N/bAAK/IpD1Cj0tNNDTEYWaWiWNSfJvbe/fFXTabS6fPEpSHpDifl1yk8v7cNrho/In7Yzho/In7Y0ix4XxzwZTTXL7krGexdzK8phK5MRBDH/IhKtXCPufB63+o7YEKjVHa9LTHYOorNirskd8PPhoseVO/tjzRCjNr1IjtJV5CBiXZWW8pM30/m2ZnjoXlK+F9MnWckKmFvwVWBwc0ygwaQyhuIyEhAsm/bFhjMbFjOz+05MxmMxmB4P/Z"/>
          <p:cNvSpPr>
            <a:spLocks noChangeAspect="1" noChangeArrowheads="1"/>
          </p:cNvSpPr>
          <p:nvPr/>
        </p:nvSpPr>
        <p:spPr bwMode="auto">
          <a:xfrm>
            <a:off x="63500" y="-157163"/>
            <a:ext cx="139065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558" name="AutoShape 8" descr="data:image/jpg;base64,/9j/4AAQSkZJRgABAQAAAQABAAD/2wCEAAkGBggGBQkIBwgKCQkKDRYODQwMDSYdIBAhHycpLB8lJx4qJyokLSwvIyIkKzgpLywyLzg+KiU9NTIxOCouNywBCQoKDQsNGQ4OGTUkHiQ1MTU2NTU1NjQ1KzU1NTQwLjM1MzA1MzQ1LDMsKTQyNTUuMzU0NTQ0LDU1NDUsMDUqL//AABEIACAAkgMBIgACEQEDEQH/xAAbAAACAgMBAAAAAAAAAAAAAAAGBwQFAAECA//EADYQAAEDAgQFAgQEBQUAAAAAAAECAwQFEQAGEiETIjFBURRhBzJxkSNSgaIkYqGx8DNCQ3KC/8QAGQEBAQEBAQEAAAAAAAAAAAAAAAQDBQIB/8QAIBEAAgIBBAMBAAAAAAAAAAAAAAIBAxEEEyFREjJhMf/aAAwDAQACEQMRAD8AL5ucavmHNxoeWXWYjTalJcmLb1nk+cgHawOw8nwN8Sp0vNWW6pTWn57NVgTJKGnX1Q9K2t9wdJ02I6KtgX+GqxSc+vwpvI+pt2Nzd1pUDb9Qkn7ecNx9xptol9aEtnlJWbDftgAJh5wrcJuuTK1EY9JD3jaDp13VYAKubgix1W8jF/lrM7NeoTc97gxVqUoKa419NiR1sOtvGFGzTYbQzc0iIwhDDQU2lLYGgh3Yj6XODLJ2UaVWvh04l2FHEicHELkcPmulR0G/8p3GAD710UoK/Us6QbFWsbYxE6K6sJbksrUroErBvhI0ZKZVPeyc7BbRMnVNrUsNC7QR/rG/lIbNv++J1eZh5A+IbsliC0iOY5cioba+RS0lIA/9j92AHB66KG9Zks6NRTq1i1x1GOX6jDiqbTIlMNF3ZAW4Bq+mElQWTUm2cpVCJqkO1NMh1KkA8MIBL2/lRAHvfE/LcOLmRvNM2rR2X3kQlFouIB4NtVgkdraQNvGAHE5LYaUEuPtoUoXAUsC+BfPuY5dGo6ZVHmRg41ISy+2pvX83T/cLEdcKae4uZlCKXUhTsR95lh9YuUp0IWE3O9gpRt4vgpzTkVjKWVn5CJj0p2TIjoWpwAdFXUSe5Krm56XPk4AZFErCZdAp8mc+wiRIjodWNQTckeL4myKjEhrQiTKZZU4bIDjgGr6YT2VhBzHm2mMZogtI9NBbZhMqQLOEWKSo9TcbpHTqN8cZvhuR8z1eZIYjVWFIVwlughRjjayb76FAjxY4AdRWlKNRUAnre+OWpDT4JZcQ5brpVe2A3L9ZpbeX6U22XvRpjaW0yTdQKSQoHtcEW/tihlZhELOsR2mnZx1LbiEnZYJ3v+m+Ka9OzrLfMkV2rWp4X9zOPo1MVkqQuXNVEacLaUDnKTYk+L46bmGchWlzgpSN9J3JwGVyqPUSoGQ04VhR/ECj1xBZZClsWJXOXO81RHKYlT0SS6y6ncLQsg4mZRqzed6UUVIfxkI6VKRtqCuivY7du4wEZizYak0W2yTfqcWfwrQ607NmXKW3dLSP5tN7/wB7ffHyvOZ6O/rKYr0kbnvngZLVFjtNIbSXNKAEi6vH6Y3iYlSykEjtjWNzgCyzGml5jlCYqKuFNAH8QxKAJt0uLWuPPUY8GWkvPsuVuoTqymOoLaZkSkhCVDoSkJGojtfDVUhASToG2/TFOKnIVRlPrh+nk8TQlC27jc8pNu1jue2+AF9Ep0CO9NW89Lkic0pqQlySnnub3uE9QdxiTRas3kqBKdZVMqCAjkjuShpRdQuQkJ8qJJ9jhhF19Lsr8JtaGmQtuzZ5jb/NscImOFiGpTSE8cfiL0EhPtb38+2AF7Ra5EkZymZkagqbQ+0lDTbrgTzFI4iunsEg9+c98T67Np+YanAmy4pSuCq4SmSLOC4NlcvS4H9cG8WU49VJMdcTQw2BwnSjZf5vsemPES5SoyVIitlz1HBVym1j0UPIFxfp3wAHQptPgZpl1xuKVSJQ3QqULIJtcjl6mwxWT4kR+dMkU5+RS01BJRLZZkJKXQTc9U7Xuenk+cMd+Q+h2Y22wglprW0oIuCfB9/YY3x3Uz4rCmUaHWipatHfxgBaTqVSpkCLDa9RGjRkrAQ3KSdZV8yiSm5UcWlentZipEWBLdfShhSVKWiQm7xA2KuW3Xfbvgvg1GXKmuNPQEsoQhwhakmxII0/tIv73t0xMhyPUQQtxlKX9BUpGn6j7G23nACuk0qFJMNSpUxLkJlLLTgkouAkkpN9PUXsPpjTlLih6WYc2XFYnAeraS+g8Xe55im4ubnbzhjrqEpD9PT6AKbktpLygg/hEkf03P0xLjP8R59LzaW+G5pSnhm9uxv0N/bAAK/IpD1Cj0tNNDTEYWaWiWNSfJvbe/fFXTabS6fPEpSHpDifl1yk8v7cNrho/In7Yzho/In7Y0ix4XxzwZTTXL7krGexdzK8phK5MRBDH/IhKtXCPufB63+o7YEKjVHa9LTHYOorNirskd8PPhoseVO/tjzRCjNr1IjtJV5CBiXZWW8pM30/m2ZnjoXlK+F9MnWckKmFvwVWBwc0ygwaQyhuIyEhAsm/bFhjMbFjOz+05MxmMxmB4P/Z"/>
          <p:cNvSpPr>
            <a:spLocks noChangeAspect="1" noChangeArrowheads="1"/>
          </p:cNvSpPr>
          <p:nvPr/>
        </p:nvSpPr>
        <p:spPr bwMode="auto">
          <a:xfrm>
            <a:off x="63500" y="-157163"/>
            <a:ext cx="139065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 name="Rounded Rectangle 30"/>
          <p:cNvSpPr/>
          <p:nvPr/>
        </p:nvSpPr>
        <p:spPr>
          <a:xfrm>
            <a:off x="314325" y="2865438"/>
            <a:ext cx="1914525" cy="955675"/>
          </a:xfrm>
          <a:prstGeom prst="roundRect">
            <a:avLst/>
          </a:prstGeom>
          <a:solidFill>
            <a:srgbClr val="00B0F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bg1"/>
                </a:solidFill>
              </a:rPr>
              <a:t>LEYP</a:t>
            </a:r>
          </a:p>
          <a:p>
            <a:pPr algn="ctr">
              <a:defRPr/>
            </a:pPr>
            <a:r>
              <a:rPr lang="en-US" sz="1200" dirty="0">
                <a:solidFill>
                  <a:schemeClr val="bg1"/>
                </a:solidFill>
              </a:rPr>
              <a:t>(Factor Correlation &amp; Break Prediction)</a:t>
            </a:r>
          </a:p>
        </p:txBody>
      </p:sp>
      <p:sp>
        <p:nvSpPr>
          <p:cNvPr id="34" name="Rounded Rectangle 33"/>
          <p:cNvSpPr/>
          <p:nvPr/>
        </p:nvSpPr>
        <p:spPr>
          <a:xfrm>
            <a:off x="2562225" y="2857500"/>
            <a:ext cx="2355850" cy="954088"/>
          </a:xfrm>
          <a:prstGeom prst="roundRect">
            <a:avLst/>
          </a:prstGeom>
          <a:solidFill>
            <a:srgbClr val="00B0F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bg1"/>
                </a:solidFill>
              </a:rPr>
              <a:t>CapPlan - Water </a:t>
            </a:r>
          </a:p>
          <a:p>
            <a:pPr algn="ctr">
              <a:defRPr/>
            </a:pPr>
            <a:r>
              <a:rPr lang="en-US" sz="1200" dirty="0">
                <a:solidFill>
                  <a:schemeClr val="bg1"/>
                </a:solidFill>
              </a:rPr>
              <a:t>(Pipe Segment Prioritization)</a:t>
            </a:r>
          </a:p>
        </p:txBody>
      </p:sp>
      <p:sp>
        <p:nvSpPr>
          <p:cNvPr id="36" name="Rectangle 35"/>
          <p:cNvSpPr/>
          <p:nvPr/>
        </p:nvSpPr>
        <p:spPr>
          <a:xfrm>
            <a:off x="2149475" y="5076825"/>
            <a:ext cx="4930775" cy="860425"/>
          </a:xfrm>
          <a:prstGeom prst="rect">
            <a:avLst/>
          </a:prstGeom>
          <a:solidFill>
            <a:srgbClr val="00B0F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bg1"/>
                </a:solidFill>
              </a:rPr>
              <a:t>Pipe Information</a:t>
            </a:r>
          </a:p>
          <a:p>
            <a:pPr algn="ctr">
              <a:defRPr/>
            </a:pPr>
            <a:r>
              <a:rPr lang="en-US" sz="1600" dirty="0">
                <a:solidFill>
                  <a:schemeClr val="bg1"/>
                </a:solidFill>
              </a:rPr>
              <a:t>(Breaks, Leaks, O&amp;M Data, GIS Data, Pipe Samples, Hydraulic Model Outputs, Old Descriptive Statistics, etc.)</a:t>
            </a:r>
            <a:r>
              <a:rPr lang="en-US" sz="1400" dirty="0">
                <a:solidFill>
                  <a:schemeClr val="bg1"/>
                </a:solidFill>
              </a:rPr>
              <a:t> </a:t>
            </a:r>
          </a:p>
        </p:txBody>
      </p:sp>
      <p:sp>
        <p:nvSpPr>
          <p:cNvPr id="38" name="Oval 37"/>
          <p:cNvSpPr/>
          <p:nvPr/>
        </p:nvSpPr>
        <p:spPr>
          <a:xfrm>
            <a:off x="5258150" y="2511176"/>
            <a:ext cx="1691619" cy="1651379"/>
          </a:xfrm>
          <a:prstGeom prst="ellipse">
            <a:avLst/>
          </a:prstGeom>
          <a:solidFill>
            <a:srgbClr val="00B0F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bg1"/>
                </a:solidFill>
              </a:rPr>
              <a:t>Assemble &amp; Track Capital Projects </a:t>
            </a:r>
          </a:p>
        </p:txBody>
      </p:sp>
      <p:sp>
        <p:nvSpPr>
          <p:cNvPr id="40" name="Right Arrow 39"/>
          <p:cNvSpPr/>
          <p:nvPr/>
        </p:nvSpPr>
        <p:spPr>
          <a:xfrm>
            <a:off x="7015163" y="3043238"/>
            <a:ext cx="236537" cy="531812"/>
          </a:xfrm>
          <a:prstGeom prst="rightArrow">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bg1"/>
              </a:solidFill>
            </a:endParaRPr>
          </a:p>
        </p:txBody>
      </p:sp>
      <p:sp>
        <p:nvSpPr>
          <p:cNvPr id="42" name="Right Arrow 41"/>
          <p:cNvSpPr/>
          <p:nvPr/>
        </p:nvSpPr>
        <p:spPr>
          <a:xfrm>
            <a:off x="4972050" y="3059113"/>
            <a:ext cx="236538" cy="531812"/>
          </a:xfrm>
          <a:prstGeom prst="rightArrow">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bg1"/>
              </a:solidFill>
            </a:endParaRPr>
          </a:p>
        </p:txBody>
      </p:sp>
      <p:sp>
        <p:nvSpPr>
          <p:cNvPr id="44" name="Bent-Up Arrow 43"/>
          <p:cNvSpPr/>
          <p:nvPr/>
        </p:nvSpPr>
        <p:spPr>
          <a:xfrm rot="5400000" flipV="1">
            <a:off x="6755209" y="4381897"/>
            <a:ext cx="1767682" cy="1016000"/>
          </a:xfrm>
          <a:prstGeom prst="bentUpArrow">
            <a:avLst>
              <a:gd name="adj1" fmla="val 25527"/>
              <a:gd name="adj2" fmla="val 23772"/>
              <a:gd name="adj3" fmla="val 13908"/>
            </a:avLst>
          </a:prstGeom>
          <a:solidFill>
            <a:schemeClr val="bg1"/>
          </a:solidFill>
          <a:ln cap="sq">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bg1"/>
              </a:solidFill>
            </a:endParaRPr>
          </a:p>
        </p:txBody>
      </p:sp>
      <p:sp>
        <p:nvSpPr>
          <p:cNvPr id="45" name="Right Arrow 44"/>
          <p:cNvSpPr/>
          <p:nvPr/>
        </p:nvSpPr>
        <p:spPr>
          <a:xfrm>
            <a:off x="2286000" y="3058660"/>
            <a:ext cx="234950" cy="531812"/>
          </a:xfrm>
          <a:prstGeom prst="rightArrow">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bg1"/>
              </a:solidFill>
            </a:endParaRPr>
          </a:p>
        </p:txBody>
      </p:sp>
      <p:sp>
        <p:nvSpPr>
          <p:cNvPr id="46" name="Bent-Up Arrow 45"/>
          <p:cNvSpPr/>
          <p:nvPr/>
        </p:nvSpPr>
        <p:spPr>
          <a:xfrm flipH="1">
            <a:off x="996950" y="3916363"/>
            <a:ext cx="1090613" cy="1747837"/>
          </a:xfrm>
          <a:prstGeom prst="bentUpArrow">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bg1"/>
              </a:solidFill>
            </a:endParaRPr>
          </a:p>
        </p:txBody>
      </p:sp>
      <p:sp>
        <p:nvSpPr>
          <p:cNvPr id="49" name="Down Arrow 48"/>
          <p:cNvSpPr/>
          <p:nvPr/>
        </p:nvSpPr>
        <p:spPr bwMode="auto">
          <a:xfrm>
            <a:off x="2598313" y="2514230"/>
            <a:ext cx="600075" cy="286120"/>
          </a:xfrm>
          <a:prstGeom prst="downArrow">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0" name="TextBox 49"/>
          <p:cNvSpPr txBox="1"/>
          <p:nvPr/>
        </p:nvSpPr>
        <p:spPr>
          <a:xfrm>
            <a:off x="4884738" y="1639888"/>
            <a:ext cx="2373312" cy="523875"/>
          </a:xfrm>
          <a:prstGeom prst="rect">
            <a:avLst/>
          </a:prstGeom>
          <a:noFill/>
        </p:spPr>
        <p:txBody>
          <a:bodyPr>
            <a:spAutoFit/>
          </a:bodyPr>
          <a:lstStyle/>
          <a:p>
            <a:pPr algn="ctr">
              <a:defRPr/>
            </a:pPr>
            <a:r>
              <a:rPr lang="en-US" sz="1400" b="1" dirty="0">
                <a:solidFill>
                  <a:schemeClr val="bg1"/>
                </a:solidFill>
                <a:latin typeface="+mn-lt"/>
                <a:cs typeface="+mn-cs"/>
              </a:rPr>
              <a:t>Budget &amp; Planning Details</a:t>
            </a:r>
          </a:p>
          <a:p>
            <a:pPr algn="ctr">
              <a:defRPr/>
            </a:pPr>
            <a:r>
              <a:rPr lang="en-US" sz="1400" b="1" dirty="0">
                <a:solidFill>
                  <a:schemeClr val="bg1"/>
                </a:solidFill>
                <a:latin typeface="+mn-lt"/>
                <a:cs typeface="+mn-cs"/>
              </a:rPr>
              <a:t>Coordination Activities</a:t>
            </a:r>
          </a:p>
        </p:txBody>
      </p:sp>
      <p:sp>
        <p:nvSpPr>
          <p:cNvPr id="51" name="Down Arrow 50"/>
          <p:cNvSpPr/>
          <p:nvPr/>
        </p:nvSpPr>
        <p:spPr>
          <a:xfrm>
            <a:off x="5775325" y="2200275"/>
            <a:ext cx="600075" cy="258763"/>
          </a:xfrm>
          <a:prstGeom prst="downArrow">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2" name="Up Arrow 51"/>
          <p:cNvSpPr/>
          <p:nvPr/>
        </p:nvSpPr>
        <p:spPr>
          <a:xfrm>
            <a:off x="3398838" y="3876675"/>
            <a:ext cx="682625" cy="258763"/>
          </a:xfrm>
          <a:prstGeom prst="upArrow">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3" name="TextBox 52"/>
          <p:cNvSpPr txBox="1"/>
          <p:nvPr/>
        </p:nvSpPr>
        <p:spPr>
          <a:xfrm>
            <a:off x="2132934" y="4152900"/>
            <a:ext cx="3271828" cy="738664"/>
          </a:xfrm>
          <a:prstGeom prst="rect">
            <a:avLst/>
          </a:prstGeom>
          <a:noFill/>
        </p:spPr>
        <p:txBody>
          <a:bodyPr wrap="square">
            <a:spAutoFit/>
          </a:bodyPr>
          <a:lstStyle/>
          <a:p>
            <a:pPr algn="ctr">
              <a:defRPr/>
            </a:pPr>
            <a:r>
              <a:rPr lang="en-US" sz="1400" b="1" dirty="0">
                <a:solidFill>
                  <a:schemeClr val="bg1"/>
                </a:solidFill>
                <a:latin typeface="+mn-lt"/>
                <a:cs typeface="+mn-cs"/>
              </a:rPr>
              <a:t>Pipe Criticality</a:t>
            </a:r>
          </a:p>
          <a:p>
            <a:pPr algn="ctr">
              <a:defRPr/>
            </a:pPr>
            <a:r>
              <a:rPr lang="en-US" sz="1400" b="1" dirty="0">
                <a:solidFill>
                  <a:schemeClr val="bg1"/>
                </a:solidFill>
                <a:latin typeface="+mn-lt"/>
                <a:cs typeface="+mn-cs"/>
              </a:rPr>
              <a:t>Budget Information</a:t>
            </a:r>
          </a:p>
          <a:p>
            <a:pPr algn="ctr">
              <a:defRPr/>
            </a:pPr>
            <a:r>
              <a:rPr lang="en-US" sz="1400" b="1" dirty="0">
                <a:solidFill>
                  <a:schemeClr val="bg1"/>
                </a:solidFill>
                <a:latin typeface="+mn-lt"/>
                <a:cs typeface="+mn-cs"/>
              </a:rPr>
              <a:t>Other Infrastructure Project Interactions</a:t>
            </a:r>
          </a:p>
        </p:txBody>
      </p:sp>
      <p:grpSp>
        <p:nvGrpSpPr>
          <p:cNvPr id="54" name="Group 53"/>
          <p:cNvGrpSpPr>
            <a:grpSpLocks/>
          </p:cNvGrpSpPr>
          <p:nvPr/>
        </p:nvGrpSpPr>
        <p:grpSpPr bwMode="auto">
          <a:xfrm>
            <a:off x="5300664" y="5978525"/>
            <a:ext cx="1674811" cy="427038"/>
            <a:chOff x="5073116" y="5817704"/>
            <a:chExt cx="1675342" cy="425933"/>
          </a:xfrm>
        </p:grpSpPr>
        <p:sp>
          <p:nvSpPr>
            <p:cNvPr id="55" name="Rectangle 54"/>
            <p:cNvSpPr/>
            <p:nvPr/>
          </p:nvSpPr>
          <p:spPr>
            <a:xfrm>
              <a:off x="5085819" y="5817704"/>
              <a:ext cx="1646759" cy="42593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581" name="TextBox 55"/>
            <p:cNvSpPr txBox="1">
              <a:spLocks noChangeArrowheads="1"/>
            </p:cNvSpPr>
            <p:nvPr/>
          </p:nvSpPr>
          <p:spPr bwMode="auto">
            <a:xfrm>
              <a:off x="5073116" y="5857461"/>
              <a:ext cx="16324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dirty="0" err="1">
                  <a:solidFill>
                    <a:schemeClr val="tx2"/>
                  </a:solidFill>
                  <a:latin typeface="Times New Roman" pitchFamily="18" charset="0"/>
                  <a:cs typeface="Times New Roman" pitchFamily="18" charset="0"/>
                </a:rPr>
                <a:t>Cityworks</a:t>
              </a:r>
              <a:r>
                <a:rPr lang="en-US" u="sng" dirty="0">
                  <a:solidFill>
                    <a:schemeClr val="tx2"/>
                  </a:solidFill>
                  <a:latin typeface="Times New Roman" pitchFamily="18" charset="0"/>
                  <a:cs typeface="Times New Roman" pitchFamily="18" charset="0"/>
                </a:rPr>
                <a:t>  </a:t>
              </a:r>
            </a:p>
          </p:txBody>
        </p:sp>
        <p:sp>
          <p:nvSpPr>
            <p:cNvPr id="57" name="Flowchart: Connector 56"/>
            <p:cNvSpPr/>
            <p:nvPr/>
          </p:nvSpPr>
          <p:spPr>
            <a:xfrm>
              <a:off x="6351457" y="5968127"/>
              <a:ext cx="206440" cy="185256"/>
            </a:xfrm>
            <a:prstGeom prst="flowChartConnector">
              <a:avLst/>
            </a:prstGeom>
            <a:gradFill flip="none" rotWithShape="1">
              <a:gsLst>
                <a:gs pos="76000">
                  <a:srgbClr val="FFDDDD"/>
                </a:gs>
                <a:gs pos="9000">
                  <a:srgbClr val="C00000"/>
                </a:gs>
                <a:gs pos="100000">
                  <a:schemeClr val="accent1">
                    <a:tint val="23500"/>
                    <a:satMod val="160000"/>
                  </a:schemeClr>
                </a:gs>
              </a:gsLst>
              <a:lin ang="13500000" scaled="1"/>
              <a:tileRect/>
            </a:gradFill>
            <a:ln w="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8" name="Flowchart: Connector 57"/>
            <p:cNvSpPr/>
            <p:nvPr/>
          </p:nvSpPr>
          <p:spPr>
            <a:xfrm>
              <a:off x="6132313" y="6009295"/>
              <a:ext cx="115925" cy="115587"/>
            </a:xfrm>
            <a:prstGeom prst="flowChartConnector">
              <a:avLst/>
            </a:prstGeom>
            <a:gradFill flip="none" rotWithShape="1">
              <a:gsLst>
                <a:gs pos="76000">
                  <a:schemeClr val="tx1">
                    <a:lumMod val="20000"/>
                    <a:lumOff val="80000"/>
                  </a:schemeClr>
                </a:gs>
                <a:gs pos="19000">
                  <a:schemeClr val="tx1">
                    <a:lumMod val="50000"/>
                  </a:schemeClr>
                </a:gs>
                <a:gs pos="100000">
                  <a:schemeClr val="accent1">
                    <a:tint val="23500"/>
                    <a:satMod val="160000"/>
                  </a:schemeClr>
                </a:gs>
              </a:gsLst>
              <a:lin ang="13500000" scaled="1"/>
              <a:tileRect/>
            </a:gradFill>
            <a:ln w="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9" name="Flowchart: Connector 58"/>
            <p:cNvSpPr/>
            <p:nvPr/>
          </p:nvSpPr>
          <p:spPr>
            <a:xfrm>
              <a:off x="6279998" y="6055213"/>
              <a:ext cx="142920" cy="145672"/>
            </a:xfrm>
            <a:prstGeom prst="flowChartConnector">
              <a:avLst/>
            </a:prstGeom>
            <a:gradFill flip="none" rotWithShape="1">
              <a:gsLst>
                <a:gs pos="76000">
                  <a:srgbClr val="C7E6A4"/>
                </a:gs>
                <a:gs pos="1000">
                  <a:srgbClr val="1F3E00"/>
                </a:gs>
                <a:gs pos="100000">
                  <a:schemeClr val="accent1">
                    <a:tint val="23500"/>
                    <a:satMod val="160000"/>
                  </a:schemeClr>
                </a:gs>
              </a:gsLst>
              <a:lin ang="13500000" scaled="1"/>
              <a:tileRect/>
            </a:gradFill>
            <a:ln w="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60" name="Straight Connector 59"/>
            <p:cNvCxnSpPr/>
            <p:nvPr/>
          </p:nvCxnSpPr>
          <p:spPr>
            <a:xfrm>
              <a:off x="5106463" y="6153383"/>
              <a:ext cx="1165594" cy="7917"/>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3586" name="TextBox 60"/>
            <p:cNvSpPr txBox="1">
              <a:spLocks noChangeArrowheads="1"/>
            </p:cNvSpPr>
            <p:nvPr/>
          </p:nvSpPr>
          <p:spPr bwMode="auto">
            <a:xfrm>
              <a:off x="6462960" y="5867692"/>
              <a:ext cx="2854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800">
                  <a:solidFill>
                    <a:schemeClr val="tx2"/>
                  </a:solidFill>
                  <a:latin typeface="Times New Roman" pitchFamily="18" charset="0"/>
                  <a:cs typeface="Times New Roman" pitchFamily="18" charset="0"/>
                </a:rPr>
                <a:t>™</a:t>
              </a:r>
            </a:p>
          </p:txBody>
        </p:sp>
      </p:grpSp>
      <p:pic>
        <p:nvPicPr>
          <p:cNvPr id="62" name="Picture 61" descr="infowater_logo.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25688" y="5991225"/>
            <a:ext cx="170762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p:cNvGrpSpPr/>
          <p:nvPr/>
        </p:nvGrpSpPr>
        <p:grpSpPr>
          <a:xfrm>
            <a:off x="314325" y="1517650"/>
            <a:ext cx="4603750" cy="2303463"/>
            <a:chOff x="314325" y="1517650"/>
            <a:chExt cx="4603750" cy="2303463"/>
          </a:xfrm>
        </p:grpSpPr>
        <p:sp>
          <p:nvSpPr>
            <p:cNvPr id="33" name="Rounded Rectangle 32"/>
            <p:cNvSpPr/>
            <p:nvPr/>
          </p:nvSpPr>
          <p:spPr>
            <a:xfrm>
              <a:off x="314325" y="2865438"/>
              <a:ext cx="1914525" cy="955675"/>
            </a:xfrm>
            <a:prstGeom prst="roundRect">
              <a:avLst/>
            </a:prstGeom>
            <a:solidFill>
              <a:srgbClr val="00B0F0"/>
            </a:solid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bg1"/>
                  </a:solidFill>
                </a:rPr>
                <a:t>LEYP</a:t>
              </a:r>
            </a:p>
            <a:p>
              <a:pPr algn="ctr">
                <a:defRPr/>
              </a:pPr>
              <a:r>
                <a:rPr lang="en-US" sz="1400" dirty="0">
                  <a:solidFill>
                    <a:schemeClr val="bg1"/>
                  </a:solidFill>
                </a:rPr>
                <a:t>(Factor Correlation &amp; Break Prediction)</a:t>
              </a:r>
              <a:endParaRPr lang="en-US" sz="1200" dirty="0">
                <a:solidFill>
                  <a:schemeClr val="bg1"/>
                </a:solidFill>
              </a:endParaRPr>
            </a:p>
          </p:txBody>
        </p:sp>
        <p:sp>
          <p:nvSpPr>
            <p:cNvPr id="35" name="Rounded Rectangle 34"/>
            <p:cNvSpPr/>
            <p:nvPr/>
          </p:nvSpPr>
          <p:spPr>
            <a:xfrm>
              <a:off x="2562225" y="2857500"/>
              <a:ext cx="2355850" cy="954088"/>
            </a:xfrm>
            <a:prstGeom prst="roundRect">
              <a:avLst/>
            </a:prstGeom>
            <a:solidFill>
              <a:srgbClr val="00B0F0"/>
            </a:solid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bg1"/>
                  </a:solidFill>
                </a:rPr>
                <a:t>CapPlan - Water </a:t>
              </a:r>
            </a:p>
            <a:p>
              <a:pPr algn="ctr">
                <a:defRPr/>
              </a:pPr>
              <a:r>
                <a:rPr lang="en-US" sz="1400" dirty="0">
                  <a:solidFill>
                    <a:schemeClr val="bg1"/>
                  </a:solidFill>
                </a:rPr>
                <a:t>(Pipe Segment Prioritization)</a:t>
              </a:r>
            </a:p>
          </p:txBody>
        </p:sp>
        <p:sp>
          <p:nvSpPr>
            <p:cNvPr id="41" name="Rounded Rectangle 40"/>
            <p:cNvSpPr/>
            <p:nvPr/>
          </p:nvSpPr>
          <p:spPr bwMode="auto">
            <a:xfrm>
              <a:off x="1393645" y="1517650"/>
              <a:ext cx="1978025" cy="955675"/>
            </a:xfrm>
            <a:prstGeom prst="roundRect">
              <a:avLst/>
            </a:prstGeom>
            <a:solidFill>
              <a:srgbClr val="00B0F0"/>
            </a:solid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bg1"/>
                  </a:solidFill>
                </a:rPr>
                <a:t>KANEW </a:t>
              </a:r>
            </a:p>
            <a:p>
              <a:pPr algn="ctr">
                <a:defRPr/>
              </a:pPr>
              <a:r>
                <a:rPr lang="en-US" sz="1400" dirty="0">
                  <a:solidFill>
                    <a:schemeClr val="bg1"/>
                  </a:solidFill>
                </a:rPr>
                <a:t>(Annual Long-Term Renewal Quantity)</a:t>
              </a:r>
              <a:endParaRPr lang="en-US" sz="1200" dirty="0">
                <a:solidFill>
                  <a:schemeClr val="bg1"/>
                </a:solidFill>
              </a:endParaRPr>
            </a:p>
          </p:txBody>
        </p:sp>
      </p:grpSp>
      <p:sp>
        <p:nvSpPr>
          <p:cNvPr id="37" name="Down Arrow 36"/>
          <p:cNvSpPr/>
          <p:nvPr/>
        </p:nvSpPr>
        <p:spPr bwMode="auto">
          <a:xfrm rot="10800000">
            <a:off x="1509785" y="2519678"/>
            <a:ext cx="600075" cy="286120"/>
          </a:xfrm>
          <a:prstGeom prst="downArrow">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9" name="Flowchart: Merge 38"/>
          <p:cNvSpPr/>
          <p:nvPr/>
        </p:nvSpPr>
        <p:spPr>
          <a:xfrm>
            <a:off x="6961832" y="2734658"/>
            <a:ext cx="2100283" cy="1514901"/>
          </a:xfrm>
          <a:prstGeom prst="flowChartMerge">
            <a:avLst/>
          </a:prstGeom>
          <a:solidFill>
            <a:srgbClr val="00B0F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b="1" dirty="0">
              <a:solidFill>
                <a:schemeClr val="bg1"/>
              </a:solidFill>
            </a:endParaRPr>
          </a:p>
          <a:p>
            <a:pPr algn="ctr">
              <a:defRPr/>
            </a:pPr>
            <a:r>
              <a:rPr lang="en-US" b="1" dirty="0">
                <a:solidFill>
                  <a:schemeClr val="bg1"/>
                </a:solidFill>
              </a:rPr>
              <a:t>Outputs</a:t>
            </a:r>
            <a:r>
              <a:rPr lang="en-US" sz="2000" b="1" dirty="0">
                <a:solidFill>
                  <a:schemeClr val="bg1"/>
                </a:solidFill>
              </a:rPr>
              <a:t> </a:t>
            </a:r>
            <a:r>
              <a:rPr lang="en-US" sz="1200" b="1" dirty="0">
                <a:solidFill>
                  <a:schemeClr val="bg1"/>
                </a:solidFill>
              </a:rPr>
              <a:t>(New &amp; Rehabilitated Assets) </a:t>
            </a:r>
          </a:p>
        </p:txBody>
      </p:sp>
      <p:sp>
        <p:nvSpPr>
          <p:cNvPr id="43" name="TextBox 42"/>
          <p:cNvSpPr txBox="1"/>
          <p:nvPr/>
        </p:nvSpPr>
        <p:spPr>
          <a:xfrm>
            <a:off x="5037138" y="1676400"/>
            <a:ext cx="2373312" cy="523875"/>
          </a:xfrm>
          <a:prstGeom prst="rect">
            <a:avLst/>
          </a:prstGeom>
          <a:noFill/>
        </p:spPr>
        <p:txBody>
          <a:bodyPr>
            <a:spAutoFit/>
          </a:bodyPr>
          <a:lstStyle/>
          <a:p>
            <a:pPr algn="ctr">
              <a:defRPr/>
            </a:pPr>
            <a:r>
              <a:rPr lang="en-US" sz="1400" b="1" dirty="0">
                <a:latin typeface="+mn-lt"/>
                <a:cs typeface="+mn-cs"/>
              </a:rPr>
              <a:t>Budget &amp; Planning Details</a:t>
            </a:r>
          </a:p>
          <a:p>
            <a:pPr algn="ctr">
              <a:defRPr/>
            </a:pPr>
            <a:r>
              <a:rPr lang="en-US" sz="1400" b="1" dirty="0">
                <a:latin typeface="+mn-lt"/>
                <a:cs typeface="+mn-cs"/>
              </a:rPr>
              <a:t>Coordination Activities</a:t>
            </a:r>
          </a:p>
        </p:txBody>
      </p:sp>
      <p:sp>
        <p:nvSpPr>
          <p:cNvPr id="47" name="TextBox 46"/>
          <p:cNvSpPr txBox="1"/>
          <p:nvPr/>
        </p:nvSpPr>
        <p:spPr>
          <a:xfrm>
            <a:off x="2285334" y="4189412"/>
            <a:ext cx="3271828" cy="738664"/>
          </a:xfrm>
          <a:prstGeom prst="rect">
            <a:avLst/>
          </a:prstGeom>
          <a:noFill/>
        </p:spPr>
        <p:txBody>
          <a:bodyPr wrap="square">
            <a:spAutoFit/>
          </a:bodyPr>
          <a:lstStyle/>
          <a:p>
            <a:pPr algn="ctr">
              <a:defRPr/>
            </a:pPr>
            <a:r>
              <a:rPr lang="en-US" sz="1400" b="1" dirty="0">
                <a:latin typeface="+mn-lt"/>
                <a:cs typeface="+mn-cs"/>
              </a:rPr>
              <a:t>Pipe Criticality</a:t>
            </a:r>
          </a:p>
          <a:p>
            <a:pPr algn="ctr">
              <a:defRPr/>
            </a:pPr>
            <a:r>
              <a:rPr lang="en-US" sz="1400" b="1" dirty="0">
                <a:latin typeface="+mn-lt"/>
                <a:cs typeface="+mn-cs"/>
              </a:rPr>
              <a:t>Budget Information</a:t>
            </a:r>
          </a:p>
          <a:p>
            <a:pPr algn="ctr">
              <a:defRPr/>
            </a:pPr>
            <a:r>
              <a:rPr lang="en-US" sz="1400" b="1" dirty="0">
                <a:latin typeface="+mn-lt"/>
                <a:cs typeface="+mn-cs"/>
              </a:rPr>
              <a:t>Other Infrastructure Project Interactions</a:t>
            </a:r>
          </a:p>
        </p:txBody>
      </p:sp>
    </p:spTree>
    <p:extLst>
      <p:ext uri="{BB962C8B-B14F-4D97-AF65-F5344CB8AC3E}">
        <p14:creationId xmlns:p14="http://schemas.microsoft.com/office/powerpoint/2010/main" val="290004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500"/>
                                        <p:tgtEl>
                                          <p:spTgt spid="5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500"/>
                                        <p:tgtEl>
                                          <p:spTgt spid="5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nodeType="with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fade">
                                      <p:cBhvr>
                                        <p:cTn id="39" dur="500"/>
                                        <p:tgtEl>
                                          <p:spTgt spid="62"/>
                                        </p:tgtEl>
                                      </p:cBhvr>
                                    </p:animEffect>
                                  </p:childTnLst>
                                </p:cTn>
                              </p:par>
                              <p:par>
                                <p:cTn id="40" presetID="10" presetClass="entr" presetSubtype="0" fill="hold" nodeType="with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500"/>
                                        <p:tgtEl>
                                          <p:spTgt spid="5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animEffect transition="in" filter="fade">
                                      <p:cBhvr>
                                        <p:cTn id="45" dur="500"/>
                                        <p:tgtEl>
                                          <p:spTgt spid="4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6" grpId="0" animBg="1"/>
      <p:bldP spid="38" grpId="0" animBg="1"/>
      <p:bldP spid="50" grpId="0"/>
      <p:bldP spid="53" grpId="0"/>
      <p:bldP spid="39" grpId="0" animBg="1"/>
      <p:bldP spid="43" grpId="0"/>
      <p:bldP spid="4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US" sz="4000" dirty="0">
                <a:solidFill>
                  <a:srgbClr val="FFC000"/>
                </a:solidFill>
                <a:latin typeface="Arial" pitchFamily="34" charset="0"/>
                <a:cs typeface="Arial" pitchFamily="34" charset="0"/>
              </a:rPr>
              <a:t>Linear Asset Management Program</a:t>
            </a:r>
          </a:p>
        </p:txBody>
      </p:sp>
      <p:sp>
        <p:nvSpPr>
          <p:cNvPr id="3" name="Content Placeholder 2"/>
          <p:cNvSpPr>
            <a:spLocks noGrp="1"/>
          </p:cNvSpPr>
          <p:nvPr>
            <p:ph idx="1"/>
          </p:nvPr>
        </p:nvSpPr>
        <p:spPr>
          <a:xfrm>
            <a:off x="228600" y="838200"/>
            <a:ext cx="5867400" cy="5486400"/>
          </a:xfrm>
        </p:spPr>
        <p:txBody>
          <a:bodyPr>
            <a:normAutofit/>
          </a:bodyPr>
          <a:lstStyle/>
          <a:p>
            <a:pPr marL="0" indent="0">
              <a:buNone/>
            </a:pPr>
            <a:r>
              <a:rPr lang="en-US" b="1" dirty="0"/>
              <a:t>FY14/FY15 Accomplishments</a:t>
            </a:r>
          </a:p>
        </p:txBody>
      </p:sp>
      <p:pic>
        <p:nvPicPr>
          <p:cNvPr id="4" name="Content Placeholder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47125" y="1295400"/>
            <a:ext cx="4281635" cy="2770468"/>
          </a:xfrm>
          <a:prstGeom prst="rect">
            <a:avLst/>
          </a:prstGeom>
          <a:ln>
            <a:solidFill>
              <a:schemeClr val="tx1"/>
            </a:solidFill>
          </a:ln>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53510" y="2895600"/>
            <a:ext cx="2313176" cy="2993522"/>
          </a:xfrm>
          <a:prstGeom prst="rect">
            <a:avLst/>
          </a:prstGeom>
          <a:ln>
            <a:solidFill>
              <a:schemeClr val="tx1"/>
            </a:solidFill>
          </a:ln>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21024" y="3810000"/>
            <a:ext cx="2313176" cy="2993522"/>
          </a:xfrm>
          <a:prstGeom prst="rect">
            <a:avLst/>
          </a:prstGeom>
          <a:ln>
            <a:solidFill>
              <a:schemeClr val="tx1"/>
            </a:solidFill>
          </a:ln>
        </p:spPr>
      </p:pic>
      <p:sp>
        <p:nvSpPr>
          <p:cNvPr id="7" name="Content Placeholder 2"/>
          <p:cNvSpPr txBox="1">
            <a:spLocks/>
          </p:cNvSpPr>
          <p:nvPr/>
        </p:nvSpPr>
        <p:spPr bwMode="auto">
          <a:xfrm>
            <a:off x="27176" y="1295400"/>
            <a:ext cx="4849624" cy="5486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a:lstStyle>
          <a:p>
            <a:pPr indent="-114300">
              <a:spcBef>
                <a:spcPts val="0"/>
              </a:spcBef>
              <a:spcAft>
                <a:spcPts val="0"/>
              </a:spcAft>
            </a:pPr>
            <a:r>
              <a:rPr lang="en-US" sz="2100" dirty="0"/>
              <a:t>  LAMP working group established – Design, Operations, P&amp;R</a:t>
            </a:r>
          </a:p>
          <a:p>
            <a:pPr indent="-114300">
              <a:spcBef>
                <a:spcPts val="0"/>
              </a:spcBef>
              <a:spcAft>
                <a:spcPts val="0"/>
              </a:spcAft>
            </a:pPr>
            <a:r>
              <a:rPr lang="en-US" sz="2100" dirty="0"/>
              <a:t>  Identified study areas for targeted renewal:  </a:t>
            </a:r>
          </a:p>
          <a:p>
            <a:pPr lvl="1" indent="-114300">
              <a:spcBef>
                <a:spcPts val="0"/>
              </a:spcBef>
              <a:spcAft>
                <a:spcPts val="0"/>
              </a:spcAft>
            </a:pPr>
            <a:r>
              <a:rPr lang="en-US" sz="1500" dirty="0"/>
              <a:t> Center City,</a:t>
            </a:r>
          </a:p>
          <a:p>
            <a:pPr lvl="1" indent="-114300">
              <a:spcBef>
                <a:spcPts val="0"/>
              </a:spcBef>
              <a:spcAft>
                <a:spcPts val="0"/>
              </a:spcAft>
            </a:pPr>
            <a:r>
              <a:rPr lang="en-US" sz="1500" dirty="0"/>
              <a:t> </a:t>
            </a:r>
            <a:r>
              <a:rPr lang="en-US" sz="1500" dirty="0" err="1"/>
              <a:t>Leadite</a:t>
            </a:r>
            <a:r>
              <a:rPr lang="en-US" sz="1500" dirty="0"/>
              <a:t> Joints</a:t>
            </a:r>
          </a:p>
          <a:p>
            <a:pPr lvl="1" indent="-114300">
              <a:spcBef>
                <a:spcPts val="0"/>
              </a:spcBef>
              <a:spcAft>
                <a:spcPts val="0"/>
              </a:spcAft>
            </a:pPr>
            <a:r>
              <a:rPr lang="en-US" sz="1500" dirty="0"/>
              <a:t> Pre-1900 piping</a:t>
            </a:r>
          </a:p>
          <a:p>
            <a:pPr lvl="1" indent="-114300">
              <a:spcBef>
                <a:spcPts val="0"/>
              </a:spcBef>
              <a:spcAft>
                <a:spcPts val="0"/>
              </a:spcAft>
            </a:pPr>
            <a:r>
              <a:rPr lang="en-US" sz="1500" dirty="0"/>
              <a:t> Fire Flow availability</a:t>
            </a:r>
          </a:p>
          <a:p>
            <a:pPr lvl="1" indent="-114300">
              <a:spcBef>
                <a:spcPts val="0"/>
              </a:spcBef>
              <a:spcAft>
                <a:spcPts val="0"/>
              </a:spcAft>
            </a:pPr>
            <a:r>
              <a:rPr lang="en-US" sz="1500" dirty="0"/>
              <a:t>Transmission Piping</a:t>
            </a:r>
          </a:p>
          <a:p>
            <a:pPr indent="-114300">
              <a:spcBef>
                <a:spcPts val="200"/>
              </a:spcBef>
              <a:spcAft>
                <a:spcPts val="200"/>
              </a:spcAft>
            </a:pPr>
            <a:r>
              <a:rPr lang="en-US" sz="2100" dirty="0"/>
              <a:t> Completed “Failure Prone </a:t>
            </a:r>
            <a:r>
              <a:rPr lang="en-US" sz="2100" dirty="0" err="1"/>
              <a:t>Leadite</a:t>
            </a:r>
            <a:r>
              <a:rPr lang="en-US" sz="2100" dirty="0"/>
              <a:t>” study</a:t>
            </a:r>
          </a:p>
          <a:p>
            <a:pPr marL="228600" indent="0">
              <a:spcBef>
                <a:spcPts val="200"/>
              </a:spcBef>
              <a:spcAft>
                <a:spcPts val="200"/>
              </a:spcAft>
              <a:buNone/>
            </a:pPr>
            <a:r>
              <a:rPr lang="en-US" sz="2900" b="1" dirty="0"/>
              <a:t>FY15/FY16 Goals:</a:t>
            </a:r>
          </a:p>
          <a:p>
            <a:pPr indent="-114300">
              <a:spcBef>
                <a:spcPts val="200"/>
              </a:spcBef>
              <a:spcAft>
                <a:spcPts val="200"/>
              </a:spcAft>
            </a:pPr>
            <a:r>
              <a:rPr lang="en-US" sz="2100" dirty="0"/>
              <a:t>Develop </a:t>
            </a:r>
            <a:r>
              <a:rPr lang="en-US" sz="2100" dirty="0" err="1"/>
              <a:t>CapPlan</a:t>
            </a:r>
            <a:r>
              <a:rPr lang="en-US" sz="2100" dirty="0"/>
              <a:t> manual for PWD</a:t>
            </a:r>
          </a:p>
          <a:p>
            <a:pPr indent="-114300">
              <a:spcBef>
                <a:spcPts val="200"/>
              </a:spcBef>
              <a:spcAft>
                <a:spcPts val="200"/>
              </a:spcAft>
            </a:pPr>
            <a:r>
              <a:rPr lang="en-US" sz="2100" dirty="0"/>
              <a:t>FY15 </a:t>
            </a:r>
            <a:r>
              <a:rPr lang="en-US" sz="2100" dirty="0" err="1"/>
              <a:t>CapPlan</a:t>
            </a:r>
            <a:r>
              <a:rPr lang="en-US" sz="2100" dirty="0"/>
              <a:t> model run</a:t>
            </a:r>
          </a:p>
          <a:p>
            <a:pPr indent="-114300">
              <a:spcBef>
                <a:spcPts val="200"/>
              </a:spcBef>
              <a:spcAft>
                <a:spcPts val="200"/>
              </a:spcAft>
            </a:pPr>
            <a:r>
              <a:rPr lang="en-US" sz="2100" dirty="0"/>
              <a:t>Establish new renewal methodology</a:t>
            </a:r>
          </a:p>
        </p:txBody>
      </p:sp>
    </p:spTree>
    <p:extLst>
      <p:ext uri="{BB962C8B-B14F-4D97-AF65-F5344CB8AC3E}">
        <p14:creationId xmlns:p14="http://schemas.microsoft.com/office/powerpoint/2010/main" val="4077617919"/>
      </p:ext>
    </p:extLst>
  </p:cSld>
  <p:clrMapOvr>
    <a:masterClrMapping/>
  </p:clrMapOvr>
</p:sld>
</file>

<file path=ppt/theme/theme1.xml><?xml version="1.0" encoding="utf-8"?>
<a:theme xmlns:a="http://schemas.openxmlformats.org/drawingml/2006/main" name="Stream">
  <a:themeElements>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Stream">
      <a:majorFont>
        <a:latin typeface="Garamond"/>
        <a:ea typeface=""/>
        <a:cs typeface="Arial"/>
      </a:majorFont>
      <a:minorFont>
        <a:latin typeface="Garamond"/>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109d87c-8392-46b1-a20b-8a54909a82e7">
      <Terms xmlns="http://schemas.microsoft.com/office/infopath/2007/PartnerControls"/>
    </lcf76f155ced4ddcb4097134ff3c332f>
    <TaxCatchAll xmlns="c026bd4c-c6ee-4ce6-aaf7-e8ea7d0277f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1E8E884A327024A9768453C11783DED" ma:contentTypeVersion="17" ma:contentTypeDescription="Create a new document." ma:contentTypeScope="" ma:versionID="877d8d9413f1ba02f9912a779257c32c">
  <xsd:schema xmlns:xsd="http://www.w3.org/2001/XMLSchema" xmlns:xs="http://www.w3.org/2001/XMLSchema" xmlns:p="http://schemas.microsoft.com/office/2006/metadata/properties" xmlns:ns2="3109d87c-8392-46b1-a20b-8a54909a82e7" xmlns:ns3="c026bd4c-c6ee-4ce6-aaf7-e8ea7d0277fa" targetNamespace="http://schemas.microsoft.com/office/2006/metadata/properties" ma:root="true" ma:fieldsID="15aa045a32e8623351ce41633eba75de" ns2:_="" ns3:_="">
    <xsd:import namespace="3109d87c-8392-46b1-a20b-8a54909a82e7"/>
    <xsd:import namespace="c026bd4c-c6ee-4ce6-aaf7-e8ea7d0277f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09d87c-8392-46b1-a20b-8a54909a82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7" nillable="true" ma:displayName="Location" ma:description="" ma:indexed="true" ma:internalName="MediaServiceLocatio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9eb18d0-8512-43c1-978b-efa5dabb071a"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26bd4c-c6ee-4ce6-aaf7-e8ea7d0277fa"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78226c46-a525-4c65-8d0d-0174b5c29bc5}" ma:internalName="TaxCatchAll" ma:showField="CatchAllData" ma:web="c026bd4c-c6ee-4ce6-aaf7-e8ea7d0277f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4AE24CC-762D-4A7D-8A2B-B35B639A1EC2}">
  <ds:schemaRefs>
    <ds:schemaRef ds:uri="http://schemas.microsoft.com/sharepoint/v3/contenttype/forms"/>
  </ds:schemaRefs>
</ds:datastoreItem>
</file>

<file path=customXml/itemProps2.xml><?xml version="1.0" encoding="utf-8"?>
<ds:datastoreItem xmlns:ds="http://schemas.openxmlformats.org/officeDocument/2006/customXml" ds:itemID="{1876F18A-7B1D-48AA-BADA-4EFE442E345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39AF5C6-397D-4641-AA9B-C94DEF54BD74}"/>
</file>

<file path=docProps/app.xml><?xml version="1.0" encoding="utf-8"?>
<Properties xmlns="http://schemas.openxmlformats.org/officeDocument/2006/extended-properties" xmlns:vt="http://schemas.openxmlformats.org/officeDocument/2006/docPropsVTypes">
  <Template>Stream</Template>
  <TotalTime>1785</TotalTime>
  <Words>6547</Words>
  <Application>Microsoft Office PowerPoint</Application>
  <PresentationFormat>On-screen Show (4:3)</PresentationFormat>
  <Paragraphs>1003</Paragraphs>
  <Slides>63</Slides>
  <Notes>37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72" baseType="lpstr">
      <vt:lpstr>ＭＳ Ｐゴシック</vt:lpstr>
      <vt:lpstr>Arial</vt:lpstr>
      <vt:lpstr>Calibri</vt:lpstr>
      <vt:lpstr>Courier New</vt:lpstr>
      <vt:lpstr>Garamond</vt:lpstr>
      <vt:lpstr>Times New Roman</vt:lpstr>
      <vt:lpstr>Wingdings</vt:lpstr>
      <vt:lpstr>Stream</vt:lpstr>
      <vt:lpstr>Document</vt:lpstr>
      <vt:lpstr>Partnership for Safe Water Distribution System Optimization Program</vt:lpstr>
      <vt:lpstr>  Briefing Agenda  </vt:lpstr>
      <vt:lpstr> How the Partnership for Safe Water Began?  </vt:lpstr>
      <vt:lpstr>Partnership for Safe Water Mission</vt:lpstr>
      <vt:lpstr>Water Research Foundation Project #4109  (Criteria for Optimized Distributions Systems)</vt:lpstr>
      <vt:lpstr>PSW Optimization Programs</vt:lpstr>
      <vt:lpstr>Two Programs - One System</vt:lpstr>
      <vt:lpstr>Achievement Awards</vt:lpstr>
      <vt:lpstr>PWD DSOP Project Plan</vt:lpstr>
      <vt:lpstr>Distribution System Integrity</vt:lpstr>
      <vt:lpstr>19 Performance Improvement Variables  (65 questions for gauging optimization)</vt:lpstr>
      <vt:lpstr>Distribution System  Annual Report Data</vt:lpstr>
      <vt:lpstr>PWD’s Distribution System  Optimization Program   Approach</vt:lpstr>
      <vt:lpstr>PWD Project Structure</vt:lpstr>
      <vt:lpstr>PWD Steering Committee Members</vt:lpstr>
      <vt:lpstr>PWD Self-assessment  Team  Members</vt:lpstr>
      <vt:lpstr>PWD Subject Matter Experts</vt:lpstr>
      <vt:lpstr>Self-Assessment Process</vt:lpstr>
      <vt:lpstr>SA Process Resources</vt:lpstr>
      <vt:lpstr>PWD Findings – PLFs &amp; PI2</vt:lpstr>
      <vt:lpstr>Program Benefits</vt:lpstr>
      <vt:lpstr>PWD DSOP</vt:lpstr>
      <vt:lpstr>PWD DSOP</vt:lpstr>
      <vt:lpstr>PWD is a Distribution System Optimization Program FOUNDER</vt:lpstr>
      <vt:lpstr>  PSW Contacts</vt:lpstr>
      <vt:lpstr>Distribution System Integrity</vt:lpstr>
      <vt:lpstr>Pressure Data</vt:lpstr>
      <vt:lpstr>Pressure Data</vt:lpstr>
      <vt:lpstr>Pressure Data</vt:lpstr>
      <vt:lpstr>Pressure Data</vt:lpstr>
      <vt:lpstr>Distribution System Integrity</vt:lpstr>
      <vt:lpstr>Main Break Data</vt:lpstr>
      <vt:lpstr>Main Break Data</vt:lpstr>
      <vt:lpstr>Main Break Data</vt:lpstr>
      <vt:lpstr>Main Break Data</vt:lpstr>
      <vt:lpstr>Distribution System Integrity</vt:lpstr>
      <vt:lpstr>System Integrity Performance Indicators – Water Quality</vt:lpstr>
      <vt:lpstr>Water Quality – Disinfectant Residual</vt:lpstr>
      <vt:lpstr>PSW Water Quality Site Location Parameters</vt:lpstr>
      <vt:lpstr>PSW Water Quality Goals</vt:lpstr>
      <vt:lpstr>PSW Water Quality Software</vt:lpstr>
      <vt:lpstr>PWD Water Quality Performance</vt:lpstr>
      <vt:lpstr>PWD Water Quality Performance</vt:lpstr>
      <vt:lpstr>PWD Response to Declining Water Quality</vt:lpstr>
      <vt:lpstr>Under PSW DSOP …</vt:lpstr>
      <vt:lpstr>PSW &amp; PaDEP Reporting of Disinfectant Residual</vt:lpstr>
      <vt:lpstr>DSOP PLF Identification</vt:lpstr>
      <vt:lpstr>PLF Prioritization</vt:lpstr>
      <vt:lpstr>DSOP Findings - PLFs</vt:lpstr>
      <vt:lpstr>PLF – Nitrification Control</vt:lpstr>
      <vt:lpstr>PWD Findings – PI2</vt:lpstr>
      <vt:lpstr>PI2 – Nitrification</vt:lpstr>
      <vt:lpstr> Self-Assessment Process</vt:lpstr>
      <vt:lpstr>PWD Approach</vt:lpstr>
      <vt:lpstr>PWD Approach</vt:lpstr>
      <vt:lpstr>PWD Self-Assessment Process</vt:lpstr>
      <vt:lpstr>PWD Self-Assessment Process</vt:lpstr>
      <vt:lpstr>PWD Self-Assessment Process</vt:lpstr>
      <vt:lpstr>PWD Self-Assessment Process</vt:lpstr>
      <vt:lpstr>Main Break Goals</vt:lpstr>
      <vt:lpstr>Main Break Goals</vt:lpstr>
      <vt:lpstr>Linear Asset Management Program</vt:lpstr>
      <vt:lpstr>Linear Asset Management Program</vt:lpstr>
    </vt:vector>
  </TitlesOfParts>
  <Company>win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Partnership for Safe Water</dc:title>
  <dc:creator>win</dc:creator>
  <cp:lastModifiedBy>Dante Falcone</cp:lastModifiedBy>
  <cp:revision>135</cp:revision>
  <cp:lastPrinted>2014-12-01T19:44:20Z</cp:lastPrinted>
  <dcterms:created xsi:type="dcterms:W3CDTF">2012-01-25T15:47:41Z</dcterms:created>
  <dcterms:modified xsi:type="dcterms:W3CDTF">2026-06-08T13:17:47Z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0x01010091E8E884A327024A9768453C11783DED</vt:lpwstr>
  </property>
  <property fmtid="{D5CDD505-2E9C-101B-9397-08002B2CF9AE}" pid="3" name="Order">
    <vt:r8>100</vt:r8>
  </property>
</Properties>
</file>